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71127fa-9c33-e9d0-44b0-bc6e96cdf843}">
          <p14:sldIdLst>
            <p14:sldId id="256"/>
          </p14:sldIdLst>
        </p14:section>
        <p14:section name="Act I — The problem" id="{6a430e13-3ea1-4d80-ae6f-c794bdd7ff0a}">
          <p14:sldIdLst>
            <p14:sldId id="257"/>
            <p14:sldId id="258"/>
            <p14:sldId id="259"/>
            <p14:sldId id="260"/>
            <p14:sldId id="261"/>
            <p14:sldId id="262"/>
            <p14:sldId id="263"/>
          </p14:sldIdLst>
        </p14:section>
        <p14:section name="Act II — The intelligence" id="{d2830ea5-8b51-c472-c3a1-5b74d228d5c9}">
          <p14:sldIdLst>
            <p14:sldId id="264"/>
            <p14:sldId id="265"/>
            <p14:sldId id="266"/>
            <p14:sldId id="267"/>
            <p14:sldId id="268"/>
          </p14:sldIdLst>
        </p14:section>
        <p14:section name="Act III — The prototype" id="{3ff24502-f511-3904-56f6-02d35de4fdaf}">
          <p14:sldIdLst>
            <p14:sldId id="269"/>
            <p14:sldId id="270"/>
            <p14:sldId id="271"/>
            <p14:sldId id="272"/>
            <p14:sldId id="273"/>
            <p14:sldId id="274"/>
            <p14:sldId id="275"/>
          </p14:sldIdLst>
        </p14:section>
        <p14:section name="Act IV — The evidence" id="{32291499-a0c9-cf75-0772-3affcbedf00d}">
          <p14:sldIdLst>
            <p14:sldId id="276"/>
            <p14:sldId id="277"/>
            <p14:sldId id="278"/>
            <p14:sldId id="279"/>
            <p14:sldId id="280"/>
            <p14:sldId id="281"/>
          </p14:sldIdLst>
        </p14:section>
        <p14:section name="Act V — The impact" id="{54a19969-1ff3-f8c4-302a-6483156dc319}">
          <p14:sldIdLst>
            <p14:sldId id="282"/>
            <p14:sldId id="283"/>
            <p14:sldId id="284"/>
          </p14:sldIdLst>
        </p14:section>
        <p14:section name="Close" id="{d30ca0ac-6403-e754-3fb4-527a118f8689}">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B4E"/>
                </a:solidFill>
                <a:latin typeface="Calibri"/>
              </a:defRPr>
            </a:pPr>
            <a:r>
              <a:rPr sz="1300" b="0" i="0" u="none" strike="noStrike">
                <a:solidFill>
                  <a:srgbClr val="102B4E"/>
                </a:solidFill>
                <a:latin typeface="Calibri"/>
              </a:rPr>
              <a:t>51 cases processed</a:t>
            </a:r>
          </a:p>
        </c:rich>
      </c:tx>
      <c:layout/>
      <c:overlay val="0"/>
    </c:title>
    <c:autoTitleDeleted val="0"/>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2B7557"/>
              </a:solidFill>
              <a:effectLst/>
            </c:spPr>
          </c:dPt>
          <c:dPt>
            <c:idx val="1"/>
            <c:bubble3D val="0"/>
            <c:spPr>
              <a:solidFill>
                <a:srgbClr val="A23A3D"/>
              </a:solidFill>
              <a:effectLst/>
            </c:spPr>
          </c:dPt>
          <c:dPt>
            <c:idx val="2"/>
            <c:bubble3D val="0"/>
            <c:spPr>
              <a:solidFill>
                <a:srgbClr val="B7791F"/>
              </a:solidFill>
              <a:effectLst/>
            </c:spPr>
          </c:dPt>
          <c:dLbls>
            <c:dLbl>
              <c:idx val="0"/>
              <c:numFmt formatCode="General"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dLbl>
              <c:idx val="2"/>
              <c:numFmt formatCode="General"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Passed</c:v>
                </c:pt>
                <c:pt idx="1">
                  <c:v>Failed</c:v>
                </c:pt>
                <c:pt idx="2">
                  <c:v>Not run</c:v>
                </c:pt>
              </c:strCache>
            </c:strRef>
          </c:cat>
          <c:val>
            <c:numRef>
              <c:f>Sheet1!$B$2:$B$4</c:f>
              <c:numCache>
                <c:ptCount val="3"/>
                <c:pt idx="0">
                  <c:v>46</c:v>
                </c:pt>
                <c:pt idx="1">
                  <c:v>0</c:v>
                </c:pt>
                <c:pt idx="2">
                  <c:v>5</c:v>
                </c:pt>
              </c:numCache>
            </c:numRef>
          </c:val>
        </c:ser>
        <c:firstSliceAng val="0"/>
        <c:holeSize val="62"/>
      </c:doughnutChart>
      <c:spPr>
        <a:noFill/>
        <a:ln>
          <a:noFill/>
        </a:ln>
        <a:effectLst/>
      </c:spPr>
    </c:plotArea>
    <c:legend>
      <c:legendPos val="b"/>
      <c:overlay val="0"/>
      <c:txPr>
        <a:bodyPr/>
        <a:lstStyle/>
        <a:p>
          <a:pPr>
            <a:defRPr sz="1100">
              <a:solidFill>
                <a:srgbClr val="1B25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B4E"/>
                </a:solidFill>
                <a:latin typeface="Calibri"/>
              </a:defRPr>
            </a:pPr>
            <a:r>
              <a:rPr sz="1300" b="0" i="0" u="none" strike="noStrike">
                <a:solidFill>
                  <a:srgbClr val="102B4E"/>
                </a:solidFill>
                <a:latin typeface="Calibri"/>
              </a:rPr>
              <a:t>What the 46 passes cover</a:t>
            </a:r>
          </a:p>
        </c:rich>
      </c:tx>
      <c:layout/>
      <c:overlay val="0"/>
    </c:title>
    <c:autoTitleDeleted val="0"/>
    <c:plotArea>
      <c:layout/>
      <c:barChart>
        <c:barDir val="bar"/>
        <c:grouping val="clustered"/>
        <c:varyColors val="0"/>
        <c:ser>
          <c:idx val="0"/>
          <c:order val="0"/>
          <c:tx>
            <c:strRef>
              <c:f>Sheet1!$B$1</c:f>
              <c:strCache>
                <c:ptCount val="1"/>
                <c:pt idx="0">
                  <c:v>Passed</c:v>
                </c:pt>
              </c:strCache>
            </c:strRef>
          </c:tx>
          <c:spPr>
            <a:solidFill>
              <a:srgbClr val="255E99"/>
            </a:solidFill>
            <a:effectLst/>
          </c:spPr>
          <c:invertIfNegative val="0"/>
          <c:dLbls>
            <c:numFmt formatCode="#,##0" sourceLinked="0"/>
            <c:txPr>
              <a:bodyPr/>
              <a:lstStyle/>
              <a:p>
                <a:pPr>
                  <a:defRPr b="0" i="0" strike="noStrike" sz="1100" u="none">
                    <a:solidFill>
                      <a:srgbClr val="102B4E"/>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Distinct alternative</c:v>
                  </c:pt>
                  <c:pt idx="1">
                    <c:v>Stale scenario</c:v>
                  </c:pt>
                  <c:pt idx="2">
                    <c:v>Rejection re-solve</c:v>
                  </c:pt>
                  <c:pt idx="3">
                    <c:v>Reset</c:v>
                  </c:pt>
                  <c:pt idx="4">
                    <c:v>Input validation</c:v>
                  </c:pt>
                  <c:pt idx="5">
                    <c:v>Determinism</c:v>
                  </c:pt>
                  <c:pt idx="6">
                    <c:v>Invalid plans rejected</c:v>
                  </c:pt>
                  <c:pt idx="7">
                    <c:v>Baseline validation</c:v>
                  </c:pt>
                  <c:pt idx="8">
                    <c:v>Safety / AI / graph checks</c:v>
                  </c:pt>
                  <c:pt idx="9">
                    <c:v>Recovery scenarios</c:v>
                  </c:pt>
                </c:lvl>
              </c:multiLvlStrCache>
            </c:multiLvlStrRef>
          </c:cat>
          <c:val>
            <c:numRef>
              <c:f>Sheet1!$B$2:$B$11</c:f>
              <c:numCache>
                <c:formatCode>General</c:formatCode>
                <c:ptCount val="10"/>
                <c:pt idx="0">
                  <c:v>1</c:v>
                </c:pt>
                <c:pt idx="1">
                  <c:v>1</c:v>
                </c:pt>
                <c:pt idx="2">
                  <c:v>1</c:v>
                </c:pt>
                <c:pt idx="3">
                  <c:v>1</c:v>
                </c:pt>
                <c:pt idx="4">
                  <c:v>2</c:v>
                </c:pt>
                <c:pt idx="5">
                  <c:v>2</c:v>
                </c:pt>
                <c:pt idx="6">
                  <c:v>3</c:v>
                </c:pt>
                <c:pt idx="7">
                  <c:v>3</c:v>
                </c:pt>
                <c:pt idx="8">
                  <c:v>10</c:v>
                </c:pt>
                <c:pt idx="9">
                  <c:v>22</c:v>
                </c:pt>
              </c:numCache>
            </c:numRef>
          </c:val>
        </c:ser>
        <c:dLbls>
          <c:numFmt formatCode="#,##0" sourceLinked="0"/>
          <c:txPr>
            <a:bodyPr/>
            <a:lstStyle/>
            <a:p>
              <a:pPr>
                <a:defRPr b="0" i="0" strike="noStrike" sz="1100" u="none">
                  <a:solidFill>
                    <a:srgbClr val="102B4E"/>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533"/>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(20 seconds). DOMINO is a Family Resilience Intelligence System: it models a household as a connected system and calculates how a family can recover when a plan breaks. Our line is: when one thing changes, everything connects.
We are May Ahmed Mourad and Shamsa Faris Almazrouei from Grade 12, and Fatima Mohamed Almazrouei from Grade 11, from ADNOC Schools — Madinat Zayed. The project is built for the theme AI for Family in Cycle 3.
RECOMMENDED SHORTER ORAL PATH (no extra slides needed): 1 cover, 2 problem, 3 hidden system, 5 solution, 9 computational recovery, 11 architecture, 17 cascade, 18 recovery, 23 verification, 25 when recovery is impossible, 26 evidence, 28 impact, 30 close. That is thirteen slides and fits a five to seven minute pitch. The remaining slides are for judges reading the submission independently.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moment, not a technology. It is 2:30 in the afternoon. Amina, one of two adults in this fictional family, becomes unavailable until 6 PM.
Look at what the original plan asked of her: school pickup at 14:45, groceries at 15:55 and homework help at 16:45. Three responsibilities that looked independent in a calendar are suddenly all broken at once. Dinner belongs to Khalid, so it is not obviously affected.
The important point is that the three broken tasks are not equal. Collecting a nine-year-old from school is essential; groceries can wait. A calendar shows three red boxes. It does not tell the family which one matters most, who is legally and practically able to replace Amina, or what depends on what. That is the gap DOMINO addresses.
Data: every time, task and person on this slide comes from the Amina household fixture (data/households/amina.json). Transition: so what is the hidden structure behind those three boxes?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household drawn as a system. People at the top, responsibilities below the person who owns them, shared resources on the right, and one milestone: Yusuf arrived home.
The lines are not decoration. Each one has a type with a defined meaning in the software: assigned-to, uses-resource, enables, depends-on, serves-dependent. School pickup enables the milestone Yusuf arrived home; homework assistance depends on that milestone. So homework is linked to Amina twice: directly, because she is assigned, and indirectly, because it can only happen after pickup.
Also notice the shared things. One sedan and one child restraint are needed for pickup; groceries need the same sedan. Time is a resource too: nobody can do two things at once.
That is why a single unavailable caregiver can affect several dependent responsibilities. Transition: a normal calendar stores none of these relationships — let us compare.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careful here: we are not saying every product lacks these features. This compares common scheduling functions — a shared calendar or a to-do list — with what a disruption actually requires.
A calendar is excellent at recording that something is scheduled. What it typically does not do is know that the school pickup enables the homework session, detect that moving one task threatens another, calculate a legal alternative, check that alternative against permissions and resources, or let you ask what if Khalid is also unavailable.
The right-hand column is not a claim of perfection; each row points to the slide where we demonstrate it and to a test in our benchmark suite. Transition: so what is DOMINO, in one sentence?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product in under thirty seconds. DOMINO calculates how a family can recover when its original plan becomes impossible.
Five steps. One: understand — a sentence, a preset or a form becomes a structured event, and a human confirms it. Two: analyze — a dependency graph finds what is directly broken and what is threatened downstream. Three: optimize — Google OR-Tools CP-SAT searches for legal reassignments, protecting essential tasks first. Four: verify — a separate module that shares no code with the solver re-checks every rule. Five: review — a human approves, and anything that cannot be covered is shown as unresolved rather than hidden.
Two design decisions matter for responsible AI. Language AI only interprets text; it never produces a schedule. And DOMINO simulates hypothetical events; it does not predict how likely an emergency is. Transition: first, who are the families we tested on?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solver that works for one scripted family proves little, so we built three fictional households with deliberately different structures. All three are real files in the repository and are loaded through the same validated pipeline; the screenshots are their actual Family Network views.
The Amina family has two authorized adult drivers, a teenager who may help with homework but is explicitly not allowed to drive, and a nine-year-old dependent. The Al-Mansoori family has three generations: two working adults, a grandmother who can help with schoolwork and check-ins but holds no driving permission, and a twelve-year-old. We deliberately did not assume she is incapable because she is older — permissions are explicit data. The Salma family has exactly one licensed driver and one vehicle.
Why this matters: each household exercises a different behaviour of the solver — clean reassignment, real alternatives between several valid plans, and honest infeasibility when the only legal driver disappears. All data is fictional; no real family information is used.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baseline for the demonstration, exactly as stored in the fixture. Four people. Amina and Khalid are adults with explicit driving and pickup-authorization permissions. Noura is sixteen: she can help with homework, but her record lists driving and pickup as restrictions — so age never grants permission. Yusuf is nine and a dependent: he is never assigned responsibilities, he is the person they care for.
Four responsibilities with their priority tiers: school pickup is Tier 0, essential, and needs a licensed authorized driver, the sedan and the child restraint. Homework and dinner are Tier 1. Groceries are Tier 3, deferrable. Homework depends on the milestone Yusuf arrived home, which pickup enables.
The baseline itself passes our verifier with zero violations — that is a unit test, not an assumption.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output of the dependency analysis for the flagship event, redrawn natively from the real result. Red means directly disrupted; amber means at risk through a dependency; faded means unaffected.
The analysis starts from the disruption, reaches Amina, and from her to the three tasks whose baseline assignments actually overlap her unavailable window — pickup, groceries and homework. Then it follows only valid dependency edges: pickup enables the milestone Yusuf arrived home, so the milestone is at risk, and so is Yusuf, the dependent that the pickup serves. The cascade depth is three.
Two things we want you to notice. First, dinner, Khalid, Noura and every resource are untouched — DOMINO does not exaggerate the damage. Second, the causal path is kept, not just the colour: homework has two paths, one through Amina and one through the pickup milestone. The table on the right is the before-and-after state, with the actual path text from the engine.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 processing chain, with the boundary between language AI and deterministic computation made explicit.
Step one, a confirmed event: it may start as text interpreted by Gemini or our built-in parser, but nothing proceeds until the user confirms the structured fields. Step two, dependency analysis: pure graph code finds direct and indirect effects. Step three, candidate generation: for each task we generate every legal member, start time and resource combination, removing only static impossibilities such as missing permissions. For the flagship scenario that produces 56 candidates. Step four, CP-SAT chooses among them under hard constraints and lexicographic priorities; five passes, status OPTIMAL in tens of milliseconds. Step five, the independent validator re-checks the result from scratch: 56 individual checks across 18 rules, no violations. Step six, human review, where consent for the pickup assignee is still pending.
The design principle: the language model never sees the solver, and the solver never marks its own homework.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capabilities, and the value is in combining them.
One: a structured family digital twin — people, permissions, resources, time windows and dependencies stored as validated data. Two: graph-based cascade analysis — it tells you what a change actually touches. Three: mathematical optimization — instead of suggestions, a solver searches the space of legal arrangements and proves optimality for its formulation. Four: independently verified decisions — a second implementation checks the result.
Why together? A chatbot can suggest a plan but cannot guarantee it respects a permission. A solver without a model of dependencies would not know what to re-plan. And an optimizer that checks itself can repeat its own mistakes. We are not claiming to be the first system of its kind — we are claiming this particular combination, implemented and tested end to end.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architecture, color coded by trust. The browser side is React and TypeScript built with Vite. The graph is React Flow with custom nodes, Motion handles the layout transitions, and a small Zustand store keeps household and scenario versions so that a late response can never overwrite a newer scenario. It is hosted as a static site on GitHub Pages.
It talks over HTTPS and JSON to a FastAPI backend, which validates every request with Pydantic. Inside the backend, soft-blue marks the only language-AI layer: the interpreter, which calls Gemini for structured JSON and falls back to a built-in rule parser. Cobalt marks deterministic computation: household validation, the NetworkX dependency graph, candidate generation and the OR-Tools CP-SAT optimizer. Green marks the independent verifier, which imports nothing from the optimizer. Benchmarks and baselines run the same engine for evaluation.
The deployed backend runs in Docker on Render; Gemini credentials exist only on the server, never in browser code.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is just data, but carefully typed. A FamilyMember has skills, explicit permissions, restrictions, availability windows and which dependents they are authorized to care for. A HouseholdTask has a tier from zero to three, a priority weight, a duration, an allowed time window, required skills, permissions and resource types, prerequisites, and whether it needs the assignee's consent. Resources have a capacity and may be exclusive, like the sedan. A Milestone records which tasks satisfy it. An Assignment links a task, a member, a time and resources. A Disruption is one of five supported types — member unavailable, resource unavailable, task rescheduled, availability changed, capacity changed — and it only counts once confirmed.
Example at the bottom is real: Amina is forty-one, can drive, is authorized for pickup and for Yusuf, and is available from 14:30 to 18:30. Times are integer minutes on one simulated day, in the Asia/Dubai time zone, and intervals are half-open.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Families do not think in forms, so DOMINO accepts a sentence like Amina cannot help until 6 PM. The important thing is what the language model is allowed to do.
The workflow: text goes in; Gemini, called through the official Google SDK with a JSON schema, returns only mentions and clock times. Then deterministic code resolves those mentions against the current household — an unknown name is flagged and never invented, a duplicate name becomes an ambiguity. Times are validated, and a phrase like until 6 PM with no start time and no scenario clock is sent back for clarification instead of guessed. Finally the structured event is shown for editing and a human must confirm it. The event is created unconfirmed and cannot reach the solver otherwise.
Gemini does not authorize assignments and does not produce schedules. We also built a deterministic rule parser that needs no key: in auto mode Gemini is tried first and any failure falls back to the parser, and the screen says which engine answered.
Observed evidence on 28 Oct 2026: the hosted backend called Gemini (model gemini-3.5-flash-lite) and returned member_unavailable for Amina, 14:30 to 18:00, unconfirmed. On our 12 annotated sentences Gemini matched all 12; on 12 held-out sentences it matched 11, missing a case that needs the task's baseline time. The rule parser scored 12 of 12 on both sets, but its held-out score was 11 of 12 on its first run and was fixed afterwards, so that number is not an independent measurement. These are small sanity checks, not general accuracy claims.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published launch screen. The headline is our proposition. The constellation on the right is not an illustration: every node is a real member, responsibility, resource or milestone of the selected household, projected into a restrained 3D space; it rotates with the pointer, and reduced-motion users get a static frame.
Below the hero are the three fictional households and a Configure Household workflow with live validation. The top bar shows the connection state to the backend — in this capture the API was online and reporting OR-Tools CP-SAT, and the language layer was Gemini plus the built-in parser. That indicator tells you the state at capture time; it does not promise permanent uptime.
The app has seven screens connected by the left rail, which we go through next. Everything is public at the URL on the final slide.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Family Network is the digital twin made visible and editable. Custom nodes show people, tasks with their tier badges, resources and the milestone; edges are typed and styled differently — solid, dashed, dotted. Here I have selected the school pickup task and the inspector on the right shows its editable fields: tier, duration, time window, required skills and permissions, resource types, prerequisites and whether consent is needed.
Edits change the canonical household in the browser. The household version is incremented, any earlier simulation or plan is invalidated and aborted, and the backend re-validates the household — for example it rejects an unknown reference or a dependency cycle. You can add and remove members, resources and tasks, undo, or reset to the validated baseline. The graph has pan, zoom, fit, and a text alternative for screen readers.
This is also where the baseline schedule is displayed as a timeline strip, so you can see the plan before breaking it.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 disruption is created, three ways. Presets are derived from the household itself — Amina unavailable, vehicle unavailable, caregiver conflict, critical task delayed, two simultaneous disruptions. The manual form lets you choose an event type, entities and times. And the natural-language panel interprets a sentence.
In the screenshot the Amina preset has been staged and confirmed. Look at the status trail at the top — draft, interpreting, needs review, confirmed, calculating — and at the confirmed badge on the event card. The Run button is disabled until every event is confirmed; an unconfirmed event can never reach the solver, even by accident. That is the human-in-the-loop principle applied at the very beginning of the pipeline.
The small panel on the right is the natural-language review: the structured fields are editable, assumptions are listed, unknown names are flagged, and the engine that produced the proposal is shown.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impact graph after the flagship event, computed by the backend and played back as an animation. The timeline at the bottom is scrubbable: at step zero only the event is visible, at step one Amina, at step two the three directly disrupted tasks, at step three the milestone and Yusuf. Because the playback is driven by the engine's own depth ordering, nothing unaffected ever lights up — dinner, Khalid and Noura stay dim.
The inspector on the right answers why is this affected. Homework assistance is directly disrupted because it is assigned to Amina, who is unavailable 14:30 to 18:00, and the engine lists both causal paths with their edge types. A banner can also show whether recovery is possible; here the solver probe says yes for each affected task.
Counters at the top of the real screen report the direct and indirect numbers; toggles let you show direct effects only or indirect only, and playback speed is adjustable. If a scenario affects nothing, the screen says so honestly instead of animating something.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of the optimizer. On the left, the same schedule before and after, drawn natively from the result. Above is the original plan. Below is the recovery: Amina's row is hatched because she is unavailable; school pickup and groceries moved to Khalid, homework moved to Noura, and dinner did not change at all. On the right is the real Recovery Studio graph, where the three affected task nodes slide from Amina's lane to their new assignees — we call it the magnetic transition — and each reassigned node carries a badge.
How it was produced: for the flagship run on 28 Oct 2026 all three strategies — priority first, minimum change and balanced workload — gave the same single arrangement, so the app shows one plan labelled with all three, and says so, instead of fabricating three different-looking plans. The solver status was OPTIMAL and it took 51.26 milliseconds on the hosted server in this run; across ten repeated hosted runs it ranged from 42.97 to 166.63 milliseconds. The plan then passed independent verification.
The user can reject or pin any assignment, which triggers a fresh solve, ask for another distinct arrangement, compare plans, and approve only a verified plan.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Counterfactual intelligence: what if? The Futures Laboratory clones the current scenario, applies your change, and then runs the entire pipeline again — graph analysis, CP-SAT, independent verification — so the right-hand result is computed, not predetermined. The original reference scenario stays untouched on the left until you choose Apply scenario.
You can change caregiver availability, vehicle availability, resource capacity, task priority tier, time-window flexibility, remove a permission, or add one of the preset secondary disruptions. In this capture we added the caregiver-conflict preset: Khalid is unavailable during school pickup while Amina stays unavailable.
The result is shown side by side: coverage fell from 100 to 33 percent, two critical responsibilities are now uncovered, reassignments dropped from three to one, and the table at the bottom of the real screen lists exactly which tasks differ. The solver status was still OPTIMAL — it found the best possible arrangement for what is actually possible — and verification reported zero violations, in about 14 milliseconds of solving and under a second round trip. We will come back to what this result means two slides from now.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seventh screen is about evidence rather than features. Before anything is run it says benchmark not yet executed — it never ships invented statistics. After pressing Run benchmark suite, the backend loads each case from data files, executes the real engine, checks declared invariants with the independent verifier, and returns measured results.
What you see is the run we executed on 28 Oct 2026 against the hosted API: fifty-one cases are defined, fifty-one were processed, forty-six passed, zero failed, and five were not run — four are executed by the browser test suite or the build instead of the backend runner, and one is skipped because a Gemini key is configured. Failures would be shown in red; there were none to show, and we say that plainly.
The tabs cover verification, optimization, dependency analysis, AI interpretation and the full scenario list, where every case can be inspected for expected versus observed behaviour and replayed. Results can be exported as JSON or CSV, and the methodology is one click away. The wall clock for this run was about twenty-two seconds.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simplified. Constraint programming with Google's CP-SAT solver. For every task t, every member p who is statically eligible, every start time s on a five-minute grid, and every compatible resource arrangement r, we create one binary variable x of t, p, s, r. It equals one if that exact assignment is chosen.
The constraints are: each task is covered at most once — the sum of its x variables equals its covered flag, and we never force coverage, which is what allows honest infeasibility. A member cannot do two things at once, modeled with optional fixed-size intervals and a no-overlap constraint. An exclusive resource such as the sedan is also a no-overlap; a shared resource is a cumulative constraint with its capacity. Precedence: if a task is covered, its prerequisite must be covered and must end before it starts. And optimization is lexicographic: maximize weighted coverage of Tier 0, fix that optimum, then Tier 1, then Tier 2, then Tier 3, and only then minimize displacement and changes. That prevents several small tasks from ever outweighing an essential one.
The flagship numbers: after static filtering only 56 candidates remain — school pickup has six legal start times for Khalid, groceries twenty-four, homework thirteen for Noura, dinner thirteen. Five passes, status OPTIMAL, objective values Tier 0 ten, Tier 1 twelve, Tier 3 two, displacement zero, three changes. The solver uses one worker and a fixed seed so results are reproducible.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DOMINO choose safe and useful plans? It separates what is forbidden from what is merely preferred.
Hard constraints can never be violated. Assignments must be authorized — skills and explicit permissions, and for dependents the carer must be specifically authorized. The member must be available for the whole interval. A member never does two things at once. Resources must be available and within capacity. Dependent safety: the dependent is never assigned tasks and care is only given by an authorized person. And prerequisites must complete first.
Soft objectives only matter after the essential coverage is secured: keep original assignments, minimize schedule displacement, balance workload, and reduce unnecessary changes. The lexicographic ladder means Tier 0 coverage is optimized first and fixed; a pile of Tier 3 tasks can never outweigh a school pickup.
The red card is a real rejected candidate. Noura is sixteen and present, but the model says she lacks the driving skill and the drive and pickup-authorized permissions and carries restrictions on both. Yusuf is a dependent and cannot be assigned. So DOMINO rejects them with explicit reason codes, and these come from computed records.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credibility slide. The optimizer proposes a plan; a different module decides whether the plan is acceptable. The verifier is a standalone Python module that imports nothing from the optimizer or the candidate generator. It re-computes every rule straight from the household data, the confirmed disruptions and the proposed assignments with plain interval arithmetic.
It checks eligibility and skills, explicit permissions, task windows, member availability, overlaps including travel gaps, resource availability and capacity, resource types, dependent authorization, prerequisite completion, that the plan matches the current scenario hash, that critical-task coverage is reported accurately, that consent-dependent actions are still pending, and that user rejections are honored. That is eighteen rules.
Observed on 28 Oct 2026 for the flagship plan: 56 individual checks across those 18 rules, all passed, zero hard violations — I re-ran it fresh before finalizing this slide. We also test the verifier against deliberately wrong plans — an unauthorized driver, a double-booked vehicle, a stale hash, a missing prerequisite — and it rejects every one. Verification status, recovery completeness and human approval are three separate fields, so a valid plan can still be partial.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states of the same household, with measured numbers. The original schedule: all four responsibilities are assigned and valid, weighted coverage 100 percent. Right after Amina's disruption, before any recovery, only dinner is still valid: one of four tasks, and weighted coverage drops to 25 percent because the pickup, homework and groceries carry most of the weight. Three tasks are directly affected, and two more entities, the milestone and Yusuf, are at risk.
After optimization all four responsibilities are covered, weighted coverage is back to 100 percent with three assignments changed and zero minutes of displacement. That result came from the solver and passed independent verification with no violations.
Coverage is not approval. A person still has to approve. The school pickup requires its new assignee's consent, which stays pending, and approval only records an internal simulation receipt — DOMINO never notifies anyone.
Timings from a documented fresh execution: ten consecutive hosted solves of this scenario took between 42.97 and 166.63 milliseconds of solver time, median about 133. The variation reflects the free-tier server's CPU, not the model. One end-to-end request, simulation plus recovery, took about 0.5 and 0.9 seconds including network.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principle we are proudest of. Add a second disruption: Khalid is unavailable during school pickup, 14:40 to 15:45, while Amina remains unavailable. The Amina household has exactly two authorized adult pickup drivers, so no one who is allowed to drive is left.
The tempting wrong answer is to give the pickup to Noura. DOMINO refuses, and the screenshot shows why in the engine's own words: Noura lacks the driving skill, lacks the drive and pickup-authorized permissions and has restrictions on both; Yusuf is a dependent. Assigning anyone else would violate the model's declared permissions.
So the solver does the honest thing: it covers what it can — groceries and dinner with Khalid after his unavailable window — and leaves school pickup and homework uncovered. Homework is also uncovered because its prerequisite, Yusuf arriving home, cannot be satisfied, even though Noura is free. The status is valid partial plan, human intervention required. All thirty checks passed — the plan is valid; it is just not complete. Weighted coverage fell to 33 percent and two critical tasks remain unresolved. The solver status is still OPTIMAL: it found the best possible answer to a problem that has no complete one.
DOMINO never labels an incomplete recovery as a complete one, and approval of this plan requires explicit acknowledgement of the unresolved critical tasks.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here come from the run we executed on 28 Oct 2026 on the hosted API (Linux, Python 3.12, OR-Tools 9.15.6755, single solver worker, fixed seed) and are saved in the repository.
Fifty-one cases are defined. Fifty-one were processed: forty-six passed, none failed, five were not run — four are checked by the browser test suite and the build, and one is the missing-credentials test, skipped because a Gemini key is configured. The chart shows what the forty-six passes cover: twenty-two recovery scenarios across the three households, safety and AI-logic checks, baseline validation, rejection of deliberately invalid plans such as unauthorized drivers and double-booked vehicles, determinism, input validation, reset, rejection re-solve, stale-scenario handling and distinct-alternative search.
Dependency detection was scored against hand-written expected sets: eleven cases, precision, recall and F1 all 1.0. That is a small, hand-authored set, so it supports correctness on these cases, not generality.
We also compared with two baselines. Greedy first-fit tied DOMINO on critical coverage in all twenty-one disruption cases — we report that plainly — while DOMINO made fewer changes on average, 2.5 against 3.1, and carries the lexicographic guarantee. Doing nothing left a critical task uncovered in twenty of the twenty-one cases. Timing: per recovery case, solver time had a median of 187 milliseconds; the whole case including three strategies, analysis, verification and baselines had a median of 801.7 milliseconds and a 95th percentile of 1699.8. Engineering targets are separate from these measurements: for example two seconds per strategy is a configured limit, not a result.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design is built into the product. All household data is synthetic. Gemini credentials live only on the server as environment variables, never in browser code — we scanned the published JavaScript for key patterns and found none. Every request is validated by Pydantic, with request-size limits, rate limits on the AI and benchmark endpoints, a CORS allow-list that accepts only our published site, bounded solver concurrency and structured errors without stack traces.
On the AI side: assignments are permission-aware by construction, language AI only proposes a structured event that a human confirms, the plan is verified independently, a human approves, and the limitations are documented.
Deployment: the React frontend is a static site on GitHub Pages; the FastAPI backend runs in a Docker container on Render and calls Google OR-Tools locally and the Gemini API for language interpretation. At capture time on 28 Oct 2026 the health endpoint reported status ok with OR-Tools CP-SAT. A status check is a snapshot, not a promise of uptime: the free tier sleeps when idle and the first request can be slow, and if the backend is unreachable the interface says so and disables computation rather than showing canned results. We never show keys, project numbers or dashboard links.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UAE has designated 2026 as the Year of Family, which puts family stability, shared responsibility and cohesion at the centre of national attention. DOMINO connects to that theme; it is not sponsored or endorsed by any government body.
What DOMINO could contribute is practical: clearer coordination when plans change, a visible picture of who is responsible for what, a better understanding of interdependencies, less uncertainty in the moment a plan fails, and transparent decision support in which a human stays in charge. Notice the word could. Everything on the right-hand side is potential benefit that follows from the design; it has not been measured with real families. We have not run user studies, so we make no claims about stress, wellbeing or population-level outcomes, and DOMINO makes no clinical or psychological claims.
What we can show is that the computation works on three fictional households, that it is verifiable, and that it refuses to hide what it cannot solve. Reference: u.ae Year of Family 2026. The graphic on the left is a conceptual illustration of a household network, not a measurement.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separate what exists from what we hope to build. On the left, everything is implemented and tested in the published prototype: interactive household modeling with validation, working disruption analysis with causal paths, optimization-based recovery with CP-SAT, independent validation, counterfactual simulation and evaluation infrastructure with fifty-one defined cases of which forty-six passed in our run. Natural-language input works two ways — Gemini and a built-in parser — with human confirmation.
On the right is future potential, clearly labelled as not built: larger and more complex households, more constraint types such as real travel times and multi-day planning, broader accessibility work beyond what we tested, full bilingual Arabic and English support, real-world usability studies with families, and stronger privacy-preserving data management.
Before this could be used by real families we would need much more: user studies and consent, a privacy and data-protection design for real personal data, a security review, accessibility audits, validation of the model's assumptions against real routines, and professional review of any safety-related assumptions. Today it is a research-grade prototype on fictional data.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idea, then the invitation. When one thing changes, everything connects. DOMINO helps families understand disruption and calculate a verified way forward — and when no valid way forward exists, it says so honestly and hands the decision back to a person.
The prototype is public: scan the QR code or open maymourad.github.io/DOMINO, choose the Amina family, inject Amina's unavailability, and then add Khalid's. You will see the full journey: cascade, optimized recovery, independent verification, and an honest unresolved result. The code, tests and the saved benchmark results are in the public repository.
Thank you from May Ahmed Mourad, Shamsa Faris Almazrouei and Fatima Mohamed Almazrouei, ADNOC Schools — Madinat Zayed. We are happy to take questions on any slide: the solver formulation, how dependents are protected, how we tested, or the limitations.
Likely questions and where to answer them: how is it different from a shared calendar — slide 4; what makes it AI — slides 13 and 21 (language AI plus constraint optimization); why CP-SAT — slide 21; how eligibility works — slides 12 and 22; can the solver return an impossible assignment — slide 23; what if no recovery exists — slide 25; how dependents are protected — slide 22; how it was tested — slide 26; limitations and real-family use — slide 29.
Evidence basis: see EVIDENCE_LEDGER.md in the presentation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92240"/>
            <a:ext cx="6400800" cy="237744"/>
          </a:xfrm>
          <a:prstGeom prst="rect">
            <a:avLst/>
          </a:prstGeom>
          <a:noFill/>
          <a:ln/>
        </p:spPr>
        <p:txBody>
          <a:bodyPr wrap="square" lIns="0" tIns="0" rIns="0" bIns="0" rtlCol="0" anchor="ctr"/>
          <a:lstStyle/>
          <a:p>
            <a:pPr indent="0" marL="0">
              <a:buNone/>
            </a:pPr>
            <a:r>
              <a:rPr lang="en-US" sz="1000" dirty="0">
                <a:solidFill>
                  <a:srgbClr val="47789F"/>
                </a:solidFill>
                <a:latin typeface="Calibri" pitchFamily="34" charset="0"/>
                <a:ea typeface="Calibri" pitchFamily="34" charset="-122"/>
                <a:cs typeface="Calibri" pitchFamily="34" charset="-120"/>
              </a:rPr>
              <a:t>DOMINO  ·  Family Resilience Intelligence System</a:t>
            </a:r>
            <a:endParaRPr lang="en-US" sz="1000" dirty="0"/>
          </a:p>
        </p:txBody>
      </p:sp>
      <p:sp>
        <p:nvSpPr>
          <p:cNvPr id="3" name="Text 1"/>
          <p:cNvSpPr/>
          <p:nvPr>
            <p:ph idx="101" type="title" hasCustomPrompt="1"/>
          </p:nvPr>
        </p:nvSpPr>
        <p:spPr>
          <a:xfrm>
            <a:off x="548640" y="566928"/>
            <a:ext cx="11064240" cy="731520"/>
          </a:xfrm>
          <a:prstGeom prst="rect">
            <a:avLst/>
          </a:prstGeom>
          <a:noFill/>
          <a:ln/>
        </p:spPr>
        <p:txBody>
          <a:bodyPr wrap="square" rtlCol="0"/>
          <a:lstStyle>
            <a:lvl1pPr algn="l" indent="0" marL="0">
              <a:buNone/>
              <a:defRPr lang="en-US" sz="3200" b="1" dirty="0">
                <a:solidFill>
                  <a:srgbClr val="102B4E"/>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
    <p:bg>
      <p:bgPr>
        <a:solidFill>
          <a:srgbClr val="EAF3FA"/>
        </a:solidFill>
      </p:bgPr>
    </p:bg>
    <p:spTree>
      <p:nvGrpSpPr>
        <p:cNvPr id="1" name=""/>
        <p:cNvGrpSpPr/>
        <p:nvPr/>
      </p:nvGrpSpPr>
      <p:grpSpPr>
        <a:xfrm>
          <a:off x="0" y="0"/>
          <a:ext cx="0" cy="0"/>
          <a:chOff x="0" y="0"/>
          <a:chExt cx="0" cy="0"/>
        </a:xfrm>
      </p:grpSpPr>
      <p:sp>
        <p:nvSpPr>
          <p:cNvPr id="2" name="Text 0"/>
          <p:cNvSpPr/>
          <p:nvPr/>
        </p:nvSpPr>
        <p:spPr>
          <a:xfrm>
            <a:off x="548640" y="6492240"/>
            <a:ext cx="6400800" cy="237744"/>
          </a:xfrm>
          <a:prstGeom prst="rect">
            <a:avLst/>
          </a:prstGeom>
          <a:noFill/>
          <a:ln/>
        </p:spPr>
        <p:txBody>
          <a:bodyPr wrap="square" lIns="0" tIns="0" rIns="0" bIns="0" rtlCol="0" anchor="ctr"/>
          <a:lstStyle/>
          <a:p>
            <a:pPr indent="0" marL="0">
              <a:buNone/>
            </a:pPr>
            <a:r>
              <a:rPr lang="en-US" sz="1000" dirty="0">
                <a:solidFill>
                  <a:srgbClr val="47789F"/>
                </a:solidFill>
                <a:latin typeface="Calibri" pitchFamily="34" charset="0"/>
                <a:ea typeface="Calibri" pitchFamily="34" charset="-122"/>
                <a:cs typeface="Calibri" pitchFamily="34" charset="-120"/>
              </a:rPr>
              <a:t>DOMINO  ·  Family Resilience Intelligence System</a:t>
            </a:r>
            <a:endParaRPr lang="en-US" sz="1000" dirty="0"/>
          </a:p>
        </p:txBody>
      </p:sp>
      <p:sp>
        <p:nvSpPr>
          <p:cNvPr id="3" name="Text 1"/>
          <p:cNvSpPr/>
          <p:nvPr>
            <p:ph idx="101" type="title" hasCustomPrompt="1"/>
          </p:nvPr>
        </p:nvSpPr>
        <p:spPr>
          <a:xfrm>
            <a:off x="548640" y="566928"/>
            <a:ext cx="11064240" cy="731520"/>
          </a:xfrm>
          <a:prstGeom prst="rect">
            <a:avLst/>
          </a:prstGeom>
          <a:noFill/>
          <a:ln/>
        </p:spPr>
        <p:txBody>
          <a:bodyPr wrap="square" rtlCol="0"/>
          <a:lstStyle>
            <a:lvl1pPr algn="l" indent="0" marL="0">
              <a:buNone/>
              <a:defRPr lang="en-US" sz="3200" b="1" dirty="0">
                <a:solidFill>
                  <a:srgbClr val="102B4E"/>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02B4E"/>
        </a:solidFill>
      </p:bgPr>
    </p:bg>
    <p:spTree>
      <p:nvGrpSpPr>
        <p:cNvPr id="1" name=""/>
        <p:cNvGrpSpPr/>
        <p:nvPr/>
      </p:nvGrpSpPr>
      <p:grpSpPr>
        <a:xfrm>
          <a:off x="0" y="0"/>
          <a:ext cx="0" cy="0"/>
          <a:chOff x="0" y="0"/>
          <a:chExt cx="0" cy="0"/>
        </a:xfrm>
      </p:grpSpPr>
      <p:sp>
        <p:nvSpPr>
          <p:cNvPr id="2" name="Text 0"/>
          <p:cNvSpPr/>
          <p:nvPr/>
        </p:nvSpPr>
        <p:spPr>
          <a:xfrm>
            <a:off x="548640" y="6492240"/>
            <a:ext cx="6400800" cy="237744"/>
          </a:xfrm>
          <a:prstGeom prst="rect">
            <a:avLst/>
          </a:prstGeom>
          <a:noFill/>
          <a:ln/>
        </p:spPr>
        <p:txBody>
          <a:bodyPr wrap="square" lIns="0" tIns="0" rIns="0" bIns="0" rtlCol="0" anchor="ctr"/>
          <a:lstStyle/>
          <a:p>
            <a:pPr indent="0" marL="0">
              <a:buNone/>
            </a:pPr>
            <a:r>
              <a:rPr lang="en-US" sz="1000" dirty="0">
                <a:solidFill>
                  <a:srgbClr val="82B2D6"/>
                </a:solidFill>
                <a:latin typeface="Calibri" pitchFamily="34" charset="0"/>
                <a:ea typeface="Calibri" pitchFamily="34" charset="-122"/>
                <a:cs typeface="Calibri" pitchFamily="34" charset="-120"/>
              </a:rPr>
              <a:t>DOMINO  ·  Family Resilience Intelligence System</a:t>
            </a:r>
            <a:endParaRPr lang="en-US" sz="1000" dirty="0"/>
          </a:p>
        </p:txBody>
      </p:sp>
      <p:sp>
        <p:nvSpPr>
          <p:cNvPr id="3" name="Text 1"/>
          <p:cNvSpPr/>
          <p:nvPr>
            <p:ph idx="101" type="title" hasCustomPrompt="1"/>
          </p:nvPr>
        </p:nvSpPr>
        <p:spPr>
          <a:xfrm>
            <a:off x="548640" y="566928"/>
            <a:ext cx="11064240" cy="731520"/>
          </a:xfrm>
          <a:prstGeom prst="rect">
            <a:avLst/>
          </a:prstGeom>
          <a:noFill/>
          <a:ln/>
        </p:spPr>
        <p:txBody>
          <a:bodyPr wrap="square" rtlCol="0"/>
          <a:lstStyle>
            <a:lvl1pPr algn="l" indent="0" marL="0">
              <a:buNone/>
              <a:defRPr lang="en-US" sz="32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2B2D6"/>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02B4E"/>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2B2D6"/>
                </a:solidFill>
                <a:latin typeface="Consolas"/>
                <a:ea typeface="Consolas"/>
                <a:cs typeface="Consolas"/>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image" Target="../media/image-25-3.jp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hyperlink" Target="https://maymourad.github.io/DOMINO/#/launch" TargetMode="External"/><Relationship Id="rId3" Type="http://schemas.openxmlformats.org/officeDocument/2006/relationships/hyperlink" Target="https://maymourad.github.io/DOMINO/#/launch" TargetMode="External"/><Relationship Id="rId1" Type="http://schemas.openxmlformats.org/officeDocument/2006/relationships/image" Target="../media/image-30-1.png"/><Relationship Id="rId4" Type="http://schemas.openxmlformats.org/officeDocument/2006/relationships/slideLayout" Target="../slideLayouts/slideLayout5.xml"/><Relationship Id="rId5"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flipH="1">
            <a:off x="7059168" y="2000250"/>
            <a:ext cx="1810512" cy="125730"/>
          </a:xfrm>
          <a:prstGeom prst="line">
            <a:avLst/>
          </a:prstGeom>
          <a:noFill/>
          <a:ln w="11430">
            <a:solidFill>
              <a:srgbClr val="47789F"/>
            </a:solidFill>
            <a:prstDash val="solid"/>
          </a:ln>
        </p:spPr>
      </p:sp>
      <p:sp>
        <p:nvSpPr>
          <p:cNvPr id="4" name="Shape 1"/>
          <p:cNvSpPr/>
          <p:nvPr/>
        </p:nvSpPr>
        <p:spPr>
          <a:xfrm flipV="1">
            <a:off x="8869680" y="918972"/>
            <a:ext cx="754380" cy="1081278"/>
          </a:xfrm>
          <a:prstGeom prst="line">
            <a:avLst/>
          </a:prstGeom>
          <a:noFill/>
          <a:ln w="11430">
            <a:solidFill>
              <a:srgbClr val="47789F"/>
            </a:solidFill>
            <a:prstDash val="solid"/>
          </a:ln>
        </p:spPr>
      </p:sp>
      <p:sp>
        <p:nvSpPr>
          <p:cNvPr id="5" name="Shape 2"/>
          <p:cNvSpPr/>
          <p:nvPr/>
        </p:nvSpPr>
        <p:spPr>
          <a:xfrm flipH="1">
            <a:off x="8492490" y="2000250"/>
            <a:ext cx="377190" cy="1634490"/>
          </a:xfrm>
          <a:prstGeom prst="line">
            <a:avLst/>
          </a:prstGeom>
          <a:noFill/>
          <a:ln w="11430">
            <a:solidFill>
              <a:srgbClr val="47789F"/>
            </a:solidFill>
            <a:prstDash val="solid"/>
          </a:ln>
        </p:spPr>
      </p:sp>
      <p:sp>
        <p:nvSpPr>
          <p:cNvPr id="6" name="Shape 3"/>
          <p:cNvSpPr/>
          <p:nvPr/>
        </p:nvSpPr>
        <p:spPr>
          <a:xfrm flipV="1">
            <a:off x="10428732" y="1824228"/>
            <a:ext cx="829818" cy="1181862"/>
          </a:xfrm>
          <a:prstGeom prst="line">
            <a:avLst/>
          </a:prstGeom>
          <a:noFill/>
          <a:ln w="11430">
            <a:solidFill>
              <a:srgbClr val="47789F"/>
            </a:solidFill>
            <a:prstDash val="solid"/>
          </a:ln>
        </p:spPr>
      </p:sp>
      <p:sp>
        <p:nvSpPr>
          <p:cNvPr id="7" name="Shape 4"/>
          <p:cNvSpPr/>
          <p:nvPr/>
        </p:nvSpPr>
        <p:spPr>
          <a:xfrm>
            <a:off x="10428732" y="3006090"/>
            <a:ext cx="905256" cy="1508760"/>
          </a:xfrm>
          <a:prstGeom prst="line">
            <a:avLst/>
          </a:prstGeom>
          <a:noFill/>
          <a:ln w="11430">
            <a:solidFill>
              <a:srgbClr val="47789F"/>
            </a:solidFill>
            <a:prstDash val="solid"/>
          </a:ln>
        </p:spPr>
      </p:sp>
      <p:sp>
        <p:nvSpPr>
          <p:cNvPr id="8" name="Shape 5"/>
          <p:cNvSpPr/>
          <p:nvPr/>
        </p:nvSpPr>
        <p:spPr>
          <a:xfrm flipH="1">
            <a:off x="8366760" y="4841748"/>
            <a:ext cx="1207008" cy="930402"/>
          </a:xfrm>
          <a:prstGeom prst="line">
            <a:avLst/>
          </a:prstGeom>
          <a:noFill/>
          <a:ln w="11430">
            <a:solidFill>
              <a:srgbClr val="47789F"/>
            </a:solidFill>
            <a:prstDash val="solid"/>
          </a:ln>
        </p:spPr>
      </p:sp>
      <p:sp>
        <p:nvSpPr>
          <p:cNvPr id="9" name="Shape 6"/>
          <p:cNvSpPr/>
          <p:nvPr/>
        </p:nvSpPr>
        <p:spPr>
          <a:xfrm>
            <a:off x="9573768" y="4841748"/>
            <a:ext cx="678942" cy="1005840"/>
          </a:xfrm>
          <a:prstGeom prst="line">
            <a:avLst/>
          </a:prstGeom>
          <a:noFill/>
          <a:ln w="11430">
            <a:solidFill>
              <a:srgbClr val="47789F"/>
            </a:solidFill>
            <a:prstDash val="solid"/>
          </a:ln>
        </p:spPr>
      </p:sp>
      <p:sp>
        <p:nvSpPr>
          <p:cNvPr id="10" name="Shape 7"/>
          <p:cNvSpPr/>
          <p:nvPr/>
        </p:nvSpPr>
        <p:spPr>
          <a:xfrm flipH="1" flipV="1">
            <a:off x="6405372" y="3383280"/>
            <a:ext cx="1207008" cy="955548"/>
          </a:xfrm>
          <a:prstGeom prst="line">
            <a:avLst/>
          </a:prstGeom>
          <a:noFill/>
          <a:ln w="11430">
            <a:solidFill>
              <a:srgbClr val="47789F"/>
            </a:solidFill>
            <a:prstDash val="solid"/>
          </a:ln>
        </p:spPr>
      </p:sp>
      <p:sp>
        <p:nvSpPr>
          <p:cNvPr id="11" name="Shape 8"/>
          <p:cNvSpPr/>
          <p:nvPr/>
        </p:nvSpPr>
        <p:spPr>
          <a:xfrm flipV="1">
            <a:off x="7612380" y="3634740"/>
            <a:ext cx="880110" cy="704088"/>
          </a:xfrm>
          <a:prstGeom prst="line">
            <a:avLst/>
          </a:prstGeom>
          <a:noFill/>
          <a:ln w="11430">
            <a:solidFill>
              <a:srgbClr val="47789F"/>
            </a:solidFill>
            <a:prstDash val="solid"/>
          </a:ln>
        </p:spPr>
      </p:sp>
      <p:sp>
        <p:nvSpPr>
          <p:cNvPr id="12" name="Shape 9"/>
          <p:cNvSpPr/>
          <p:nvPr/>
        </p:nvSpPr>
        <p:spPr>
          <a:xfrm flipV="1">
            <a:off x="8492490" y="3006090"/>
            <a:ext cx="1936242" cy="628650"/>
          </a:xfrm>
          <a:prstGeom prst="line">
            <a:avLst/>
          </a:prstGeom>
          <a:noFill/>
          <a:ln w="11430">
            <a:solidFill>
              <a:srgbClr val="47789F"/>
            </a:solidFill>
            <a:prstDash val="solid"/>
          </a:ln>
        </p:spPr>
      </p:sp>
      <p:sp>
        <p:nvSpPr>
          <p:cNvPr id="13" name="Shape 10"/>
          <p:cNvSpPr/>
          <p:nvPr/>
        </p:nvSpPr>
        <p:spPr>
          <a:xfrm flipH="1">
            <a:off x="6405372" y="2125980"/>
            <a:ext cx="653796" cy="1257300"/>
          </a:xfrm>
          <a:prstGeom prst="line">
            <a:avLst/>
          </a:prstGeom>
          <a:noFill/>
          <a:ln w="11430">
            <a:solidFill>
              <a:srgbClr val="47789F"/>
            </a:solidFill>
            <a:prstDash val="solid"/>
          </a:ln>
        </p:spPr>
      </p:sp>
      <p:sp>
        <p:nvSpPr>
          <p:cNvPr id="14" name="Shape 11"/>
          <p:cNvSpPr/>
          <p:nvPr/>
        </p:nvSpPr>
        <p:spPr>
          <a:xfrm>
            <a:off x="9624060" y="918972"/>
            <a:ext cx="1634490" cy="905256"/>
          </a:xfrm>
          <a:prstGeom prst="line">
            <a:avLst/>
          </a:prstGeom>
          <a:noFill/>
          <a:ln w="11430">
            <a:solidFill>
              <a:srgbClr val="47789F"/>
            </a:solidFill>
            <a:prstDash val="solid"/>
          </a:ln>
        </p:spPr>
      </p:sp>
      <p:sp>
        <p:nvSpPr>
          <p:cNvPr id="15" name="Shape 12"/>
          <p:cNvSpPr/>
          <p:nvPr/>
        </p:nvSpPr>
        <p:spPr>
          <a:xfrm>
            <a:off x="8366760" y="5772150"/>
            <a:ext cx="1885950" cy="75438"/>
          </a:xfrm>
          <a:prstGeom prst="line">
            <a:avLst/>
          </a:prstGeom>
          <a:noFill/>
          <a:ln w="11430">
            <a:solidFill>
              <a:srgbClr val="47789F"/>
            </a:solidFill>
            <a:prstDash val="solid"/>
          </a:ln>
        </p:spPr>
      </p:sp>
      <p:sp>
        <p:nvSpPr>
          <p:cNvPr id="16" name="Text 13"/>
          <p:cNvSpPr/>
          <p:nvPr/>
        </p:nvSpPr>
        <p:spPr>
          <a:xfrm>
            <a:off x="8631936" y="1762506"/>
            <a:ext cx="475488" cy="475488"/>
          </a:xfrm>
          <a:prstGeom prst="ellipse">
            <a:avLst/>
          </a:prstGeom>
          <a:solidFill>
            <a:srgbClr val="255E99"/>
          </a:solidFill>
          <a:ln w="12700">
            <a:solidFill>
              <a:srgbClr val="EAF3F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7" name="Text 14"/>
          <p:cNvSpPr/>
          <p:nvPr/>
        </p:nvSpPr>
        <p:spPr>
          <a:xfrm>
            <a:off x="10190988" y="2768346"/>
            <a:ext cx="475488" cy="475488"/>
          </a:xfrm>
          <a:prstGeom prst="ellipse">
            <a:avLst/>
          </a:prstGeom>
          <a:solidFill>
            <a:srgbClr val="255E99"/>
          </a:solidFill>
          <a:ln w="12700">
            <a:solidFill>
              <a:srgbClr val="EAF3F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a:t>
            </a:r>
            <a:endParaRPr lang="en-US" sz="1200" dirty="0"/>
          </a:p>
        </p:txBody>
      </p:sp>
      <p:sp>
        <p:nvSpPr>
          <p:cNvPr id="18" name="Text 15"/>
          <p:cNvSpPr/>
          <p:nvPr/>
        </p:nvSpPr>
        <p:spPr>
          <a:xfrm>
            <a:off x="9336024" y="4604004"/>
            <a:ext cx="475488" cy="475488"/>
          </a:xfrm>
          <a:prstGeom prst="ellipse">
            <a:avLst/>
          </a:prstGeom>
          <a:solidFill>
            <a:srgbClr val="255E99"/>
          </a:solidFill>
          <a:ln w="12700">
            <a:solidFill>
              <a:srgbClr val="EAF3F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p>
        </p:txBody>
      </p:sp>
      <p:sp>
        <p:nvSpPr>
          <p:cNvPr id="19" name="Text 16"/>
          <p:cNvSpPr/>
          <p:nvPr/>
        </p:nvSpPr>
        <p:spPr>
          <a:xfrm>
            <a:off x="7429500" y="4155948"/>
            <a:ext cx="365760" cy="365760"/>
          </a:xfrm>
          <a:prstGeom prst="ellipse">
            <a:avLst/>
          </a:prstGeom>
          <a:solidFill>
            <a:srgbClr val="47789F"/>
          </a:solidFill>
          <a:ln w="12700">
            <a:solidFill>
              <a:srgbClr val="EAF3F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a:t>
            </a:r>
            <a:endParaRPr lang="en-US" sz="1200" dirty="0"/>
          </a:p>
        </p:txBody>
      </p:sp>
      <p:sp>
        <p:nvSpPr>
          <p:cNvPr id="20" name="Text 17"/>
          <p:cNvSpPr/>
          <p:nvPr/>
        </p:nvSpPr>
        <p:spPr>
          <a:xfrm>
            <a:off x="6922008" y="1988820"/>
            <a:ext cx="274320" cy="274320"/>
          </a:xfrm>
          <a:prstGeom prst="diamond">
            <a:avLst/>
          </a:prstGeom>
          <a:solidFill>
            <a:srgbClr val="82B2D6"/>
          </a:solidFill>
          <a:ln/>
        </p:spPr>
        <p:txBody>
          <a:bodyPr wrap="square" lIns="0" tIns="0" rIns="0" bIns="0" rtlCol="0" anchor="ctr"/>
          <a:lstStyle/>
          <a:p>
            <a:pPr algn="ctr" indent="0" marL="0">
              <a:buNone/>
            </a:pPr>
            <a:endParaRPr lang="en-US" sz="1200" dirty="0"/>
          </a:p>
        </p:txBody>
      </p:sp>
      <p:sp>
        <p:nvSpPr>
          <p:cNvPr id="21" name="Text 18"/>
          <p:cNvSpPr/>
          <p:nvPr/>
        </p:nvSpPr>
        <p:spPr>
          <a:xfrm>
            <a:off x="11121390" y="1687068"/>
            <a:ext cx="274320" cy="274320"/>
          </a:xfrm>
          <a:prstGeom prst="diamond">
            <a:avLst/>
          </a:prstGeom>
          <a:solidFill>
            <a:srgbClr val="82B2D6"/>
          </a:solidFill>
          <a:ln/>
        </p:spPr>
        <p:txBody>
          <a:bodyPr wrap="square" lIns="0" tIns="0" rIns="0" bIns="0" rtlCol="0" anchor="ctr"/>
          <a:lstStyle/>
          <a:p>
            <a:pPr algn="ctr" indent="0" marL="0">
              <a:buNone/>
            </a:pPr>
            <a:endParaRPr lang="en-US" sz="1200" dirty="0"/>
          </a:p>
        </p:txBody>
      </p:sp>
      <p:sp>
        <p:nvSpPr>
          <p:cNvPr id="22" name="Text 19"/>
          <p:cNvSpPr/>
          <p:nvPr/>
        </p:nvSpPr>
        <p:spPr>
          <a:xfrm>
            <a:off x="9486900" y="781812"/>
            <a:ext cx="274320" cy="274320"/>
          </a:xfrm>
          <a:prstGeom prst="diamond">
            <a:avLst/>
          </a:prstGeom>
          <a:solidFill>
            <a:srgbClr val="82B2D6"/>
          </a:solidFill>
          <a:ln/>
        </p:spPr>
        <p:txBody>
          <a:bodyPr wrap="square" lIns="0" tIns="0" rIns="0" bIns="0" rtlCol="0" anchor="ctr"/>
          <a:lstStyle/>
          <a:p>
            <a:pPr algn="ctr" indent="0" marL="0">
              <a:buNone/>
            </a:pPr>
            <a:endParaRPr lang="en-US" sz="1200" dirty="0"/>
          </a:p>
        </p:txBody>
      </p:sp>
      <p:sp>
        <p:nvSpPr>
          <p:cNvPr id="23" name="Text 20"/>
          <p:cNvSpPr/>
          <p:nvPr/>
        </p:nvSpPr>
        <p:spPr>
          <a:xfrm>
            <a:off x="8229600" y="5634990"/>
            <a:ext cx="274320" cy="274320"/>
          </a:xfrm>
          <a:prstGeom prst="diamond">
            <a:avLst/>
          </a:prstGeom>
          <a:solidFill>
            <a:srgbClr val="82B2D6"/>
          </a:solidFill>
          <a:ln/>
        </p:spPr>
        <p:txBody>
          <a:bodyPr wrap="square" lIns="0" tIns="0" rIns="0" bIns="0" rtlCol="0" anchor="ctr"/>
          <a:lstStyle/>
          <a:p>
            <a:pPr algn="ctr" indent="0" marL="0">
              <a:buNone/>
            </a:pPr>
            <a:endParaRPr lang="en-US" sz="1200" dirty="0"/>
          </a:p>
        </p:txBody>
      </p:sp>
      <p:sp>
        <p:nvSpPr>
          <p:cNvPr id="24" name="Text 21"/>
          <p:cNvSpPr/>
          <p:nvPr/>
        </p:nvSpPr>
        <p:spPr>
          <a:xfrm>
            <a:off x="11196828" y="4377690"/>
            <a:ext cx="274320" cy="274320"/>
          </a:xfrm>
          <a:prstGeom prst="hexagon">
            <a:avLst/>
          </a:prstGeom>
          <a:solidFill>
            <a:srgbClr val="102B4E"/>
          </a:solidFill>
          <a:ln w="12700">
            <a:solidFill>
              <a:srgbClr val="82B2D6"/>
            </a:solidFill>
          </a:ln>
        </p:spPr>
        <p:txBody>
          <a:bodyPr wrap="square" lIns="0" tIns="0" rIns="0" bIns="0" rtlCol="0" anchor="ctr"/>
          <a:lstStyle/>
          <a:p>
            <a:pPr algn="ctr" indent="0" marL="0">
              <a:buNone/>
            </a:pPr>
            <a:endParaRPr lang="en-US" sz="1200" dirty="0"/>
          </a:p>
        </p:txBody>
      </p:sp>
      <p:sp>
        <p:nvSpPr>
          <p:cNvPr id="25" name="Text 22"/>
          <p:cNvSpPr/>
          <p:nvPr/>
        </p:nvSpPr>
        <p:spPr>
          <a:xfrm>
            <a:off x="6268212" y="3246120"/>
            <a:ext cx="274320" cy="274320"/>
          </a:xfrm>
          <a:prstGeom prst="hexagon">
            <a:avLst/>
          </a:prstGeom>
          <a:solidFill>
            <a:srgbClr val="102B4E"/>
          </a:solidFill>
          <a:ln w="12700">
            <a:solidFill>
              <a:srgbClr val="82B2D6"/>
            </a:solidFill>
          </a:ln>
        </p:spPr>
        <p:txBody>
          <a:bodyPr wrap="square" lIns="0" tIns="0" rIns="0" bIns="0" rtlCol="0" anchor="ctr"/>
          <a:lstStyle/>
          <a:p>
            <a:pPr algn="ctr" indent="0" marL="0">
              <a:buNone/>
            </a:pPr>
            <a:endParaRPr lang="en-US" sz="1200" dirty="0"/>
          </a:p>
        </p:txBody>
      </p:sp>
      <p:sp>
        <p:nvSpPr>
          <p:cNvPr id="26" name="Text 23"/>
          <p:cNvSpPr/>
          <p:nvPr/>
        </p:nvSpPr>
        <p:spPr>
          <a:xfrm>
            <a:off x="10115550" y="5710428"/>
            <a:ext cx="274320" cy="274320"/>
          </a:xfrm>
          <a:prstGeom prst="hexagon">
            <a:avLst/>
          </a:prstGeom>
          <a:solidFill>
            <a:srgbClr val="102B4E"/>
          </a:solidFill>
          <a:ln w="12700">
            <a:solidFill>
              <a:srgbClr val="82B2D6"/>
            </a:solidFill>
          </a:ln>
        </p:spPr>
        <p:txBody>
          <a:bodyPr wrap="square" lIns="0" tIns="0" rIns="0" bIns="0" rtlCol="0" anchor="ctr"/>
          <a:lstStyle/>
          <a:p>
            <a:pPr algn="ctr" indent="0" marL="0">
              <a:buNone/>
            </a:pPr>
            <a:endParaRPr lang="en-US" sz="1200" dirty="0"/>
          </a:p>
        </p:txBody>
      </p:sp>
      <p:sp>
        <p:nvSpPr>
          <p:cNvPr id="27" name="Text 24"/>
          <p:cNvSpPr/>
          <p:nvPr/>
        </p:nvSpPr>
        <p:spPr>
          <a:xfrm>
            <a:off x="8401050" y="3543300"/>
            <a:ext cx="182880" cy="182880"/>
          </a:xfrm>
          <a:prstGeom prst="ellipse">
            <a:avLst/>
          </a:prstGeom>
          <a:solidFill>
            <a:srgbClr val="EAF3FA"/>
          </a:solidFill>
          <a:ln/>
        </p:spPr>
        <p:txBody>
          <a:bodyPr wrap="square" lIns="0" tIns="0" rIns="0" bIns="0" rtlCol="0" anchor="ctr"/>
          <a:lstStyle/>
          <a:p>
            <a:pPr algn="ctr" indent="0" marL="0">
              <a:buNone/>
            </a:pPr>
            <a:endParaRPr lang="en-US" sz="1200" dirty="0"/>
          </a:p>
        </p:txBody>
      </p:sp>
      <p:sp>
        <p:nvSpPr>
          <p:cNvPr id="28" name="Text 25"/>
          <p:cNvSpPr txBox="1"/>
          <p:nvPr/>
        </p:nvSpPr>
        <p:spPr>
          <a:xfrm>
            <a:off x="731520" y="1234440"/>
            <a:ext cx="6858000" cy="1371600"/>
          </a:xfrm>
          <a:prstGeom prst="rect">
            <a:avLst/>
          </a:prstGeom>
          <a:noFill/>
          <a:ln/>
        </p:spPr>
        <p:txBody>
          <a:bodyPr wrap="square" lIns="0" tIns="0" rIns="0" bIns="0" rtlCol="0" anchor="t"/>
          <a:lstStyle/>
          <a:p>
            <a:pPr indent="0" marL="0">
              <a:buNone/>
            </a:pPr>
            <a:r>
              <a:rPr lang="en-US" sz="9600" b="1" dirty="0">
                <a:solidFill>
                  <a:srgbClr val="FFFFFF"/>
                </a:solidFill>
                <a:latin typeface="Calibri" pitchFamily="34" charset="0"/>
                <a:ea typeface="Calibri" pitchFamily="34" charset="-122"/>
                <a:cs typeface="Calibri" pitchFamily="34" charset="-120"/>
              </a:rPr>
              <a:t>DOMINO</a:t>
            </a:r>
            <a:endParaRPr lang="en-US" sz="9600" dirty="0"/>
          </a:p>
        </p:txBody>
      </p:sp>
      <p:sp>
        <p:nvSpPr>
          <p:cNvPr id="29" name="Text 26"/>
          <p:cNvSpPr txBox="1"/>
          <p:nvPr/>
        </p:nvSpPr>
        <p:spPr>
          <a:xfrm>
            <a:off x="731520" y="2697480"/>
            <a:ext cx="6858000" cy="548640"/>
          </a:xfrm>
          <a:prstGeom prst="rect">
            <a:avLst/>
          </a:prstGeom>
          <a:noFill/>
          <a:ln/>
        </p:spPr>
        <p:txBody>
          <a:bodyPr wrap="square" lIns="0" tIns="0" rIns="0" bIns="0" rtlCol="0" anchor="t"/>
          <a:lstStyle/>
          <a:p>
            <a:pPr indent="0" marL="0">
              <a:buNone/>
            </a:pPr>
            <a:r>
              <a:rPr lang="en-US" sz="2800" dirty="0">
                <a:solidFill>
                  <a:srgbClr val="82B2D6"/>
                </a:solidFill>
                <a:latin typeface="Calibri" pitchFamily="34" charset="0"/>
                <a:ea typeface="Calibri" pitchFamily="34" charset="-122"/>
                <a:cs typeface="Calibri" pitchFamily="34" charset="-120"/>
              </a:rPr>
              <a:t>Family Resilience Intelligence System</a:t>
            </a:r>
            <a:endParaRPr lang="en-US" sz="2800" dirty="0"/>
          </a:p>
        </p:txBody>
      </p:sp>
      <p:sp>
        <p:nvSpPr>
          <p:cNvPr id="30" name="Text 27"/>
          <p:cNvSpPr txBox="1"/>
          <p:nvPr/>
        </p:nvSpPr>
        <p:spPr>
          <a:xfrm>
            <a:off x="731520" y="3520440"/>
            <a:ext cx="6217920" cy="822960"/>
          </a:xfrm>
          <a:prstGeom prst="rect">
            <a:avLst/>
          </a:prstGeom>
          <a:noFill/>
          <a:ln/>
        </p:spPr>
        <p:txBody>
          <a:bodyPr wrap="square" lIns="0" tIns="0" rIns="0" bIns="0" rtlCol="0" anchor="t"/>
          <a:lstStyle/>
          <a:p>
            <a:pPr indent="0" marL="0">
              <a:buNone/>
            </a:pPr>
            <a:r>
              <a:rPr lang="en-US" sz="2400" i="1" dirty="0">
                <a:solidFill>
                  <a:srgbClr val="FFFFFF"/>
                </a:solidFill>
                <a:latin typeface="Calibri" pitchFamily="34" charset="0"/>
                <a:ea typeface="Calibri" pitchFamily="34" charset="-122"/>
                <a:cs typeface="Calibri" pitchFamily="34" charset="-120"/>
              </a:rPr>
              <a:t>“When one thing changes, everything connects.”</a:t>
            </a:r>
            <a:endParaRPr lang="en-US" sz="2400" dirty="0"/>
          </a:p>
        </p:txBody>
      </p:sp>
      <p:sp>
        <p:nvSpPr>
          <p:cNvPr id="31" name="Text 28"/>
          <p:cNvSpPr txBox="1"/>
          <p:nvPr/>
        </p:nvSpPr>
        <p:spPr>
          <a:xfrm>
            <a:off x="731520" y="4572000"/>
            <a:ext cx="6583680" cy="274320"/>
          </a:xfrm>
          <a:prstGeom prst="rect">
            <a:avLst/>
          </a:prstGeom>
          <a:noFill/>
          <a:ln/>
        </p:spPr>
        <p:txBody>
          <a:bodyPr wrap="square" lIns="0" tIns="0" rIns="0" bIns="0" rtlCol="0" anchor="t"/>
          <a:lstStyle/>
          <a:p>
            <a:pPr indent="0" marL="0">
              <a:buNone/>
            </a:pPr>
            <a:r>
              <a:rPr lang="en-US" sz="1400" dirty="0">
                <a:solidFill>
                  <a:srgbClr val="82B2D6"/>
                </a:solidFill>
                <a:latin typeface="Calibri" pitchFamily="34" charset="0"/>
                <a:ea typeface="Calibri" pitchFamily="34" charset="-122"/>
                <a:cs typeface="Calibri" pitchFamily="34" charset="-120"/>
              </a:rPr>
              <a:t>6th Annual COE STEM Programming with AI Competition  ·  AI for Family</a:t>
            </a:r>
            <a:endParaRPr lang="en-US" sz="1400" dirty="0"/>
          </a:p>
        </p:txBody>
      </p:sp>
      <p:sp>
        <p:nvSpPr>
          <p:cNvPr id="32" name="Text 29"/>
          <p:cNvSpPr txBox="1"/>
          <p:nvPr/>
        </p:nvSpPr>
        <p:spPr>
          <a:xfrm>
            <a:off x="731520" y="5074920"/>
            <a:ext cx="5943600" cy="256032"/>
          </a:xfrm>
          <a:prstGeom prst="rect">
            <a:avLst/>
          </a:prstGeom>
          <a:noFill/>
          <a:ln/>
        </p:spPr>
        <p:txBody>
          <a:bodyPr wrap="square" lIns="0" tIns="0" rIns="0" bIns="0" rtlCol="0" anchor="t"/>
          <a:lstStyle/>
          <a:p>
            <a:pPr indent="0" marL="0">
              <a:buNone/>
            </a:pPr>
            <a:r>
              <a:rPr lang="en-US" sz="1400" dirty="0">
                <a:solidFill>
                  <a:srgbClr val="FFFFFF"/>
                </a:solidFill>
                <a:latin typeface="Consolas" pitchFamily="34" charset="0"/>
                <a:ea typeface="Consolas" pitchFamily="34" charset="-122"/>
                <a:cs typeface="Consolas" pitchFamily="34" charset="-120"/>
              </a:rPr>
              <a:t>May Ahmed Mourad  ·  Grade 12</a:t>
            </a:r>
            <a:endParaRPr lang="en-US" sz="1400" dirty="0"/>
          </a:p>
        </p:txBody>
      </p:sp>
      <p:sp>
        <p:nvSpPr>
          <p:cNvPr id="33" name="Text 30"/>
          <p:cNvSpPr txBox="1"/>
          <p:nvPr/>
        </p:nvSpPr>
        <p:spPr>
          <a:xfrm>
            <a:off x="731520" y="5376672"/>
            <a:ext cx="5943600" cy="256032"/>
          </a:xfrm>
          <a:prstGeom prst="rect">
            <a:avLst/>
          </a:prstGeom>
          <a:noFill/>
          <a:ln/>
        </p:spPr>
        <p:txBody>
          <a:bodyPr wrap="square" lIns="0" tIns="0" rIns="0" bIns="0" rtlCol="0" anchor="t"/>
          <a:lstStyle/>
          <a:p>
            <a:pPr indent="0" marL="0">
              <a:buNone/>
            </a:pPr>
            <a:r>
              <a:rPr lang="en-US" sz="1400" dirty="0">
                <a:solidFill>
                  <a:srgbClr val="FFFFFF"/>
                </a:solidFill>
                <a:latin typeface="Consolas" pitchFamily="34" charset="0"/>
                <a:ea typeface="Consolas" pitchFamily="34" charset="-122"/>
                <a:cs typeface="Consolas" pitchFamily="34" charset="-120"/>
              </a:rPr>
              <a:t>Shamsa Faris Almazrouei  ·  Grade 12</a:t>
            </a:r>
            <a:endParaRPr lang="en-US" sz="1400" dirty="0"/>
          </a:p>
        </p:txBody>
      </p:sp>
      <p:sp>
        <p:nvSpPr>
          <p:cNvPr id="34" name="Text 31"/>
          <p:cNvSpPr txBox="1"/>
          <p:nvPr/>
        </p:nvSpPr>
        <p:spPr>
          <a:xfrm>
            <a:off x="731520" y="5678424"/>
            <a:ext cx="5943600" cy="256032"/>
          </a:xfrm>
          <a:prstGeom prst="rect">
            <a:avLst/>
          </a:prstGeom>
          <a:noFill/>
          <a:ln/>
        </p:spPr>
        <p:txBody>
          <a:bodyPr wrap="square" lIns="0" tIns="0" rIns="0" bIns="0" rtlCol="0" anchor="t"/>
          <a:lstStyle/>
          <a:p>
            <a:pPr indent="0" marL="0">
              <a:buNone/>
            </a:pPr>
            <a:r>
              <a:rPr lang="en-US" sz="1400" dirty="0">
                <a:solidFill>
                  <a:srgbClr val="FFFFFF"/>
                </a:solidFill>
                <a:latin typeface="Consolas" pitchFamily="34" charset="0"/>
                <a:ea typeface="Consolas" pitchFamily="34" charset="-122"/>
                <a:cs typeface="Consolas" pitchFamily="34" charset="-120"/>
              </a:rPr>
              <a:t>Fatima Mohamed Almazrouei  ·  Grade 11</a:t>
            </a:r>
            <a:endParaRPr lang="en-US" sz="1400" dirty="0"/>
          </a:p>
        </p:txBody>
      </p:sp>
      <p:sp>
        <p:nvSpPr>
          <p:cNvPr id="35" name="Text 32"/>
          <p:cNvSpPr txBox="1"/>
          <p:nvPr/>
        </p:nvSpPr>
        <p:spPr>
          <a:xfrm>
            <a:off x="731520" y="6053328"/>
            <a:ext cx="5943600" cy="274320"/>
          </a:xfrm>
          <a:prstGeom prst="rect">
            <a:avLst/>
          </a:prstGeom>
          <a:noFill/>
          <a:ln/>
        </p:spPr>
        <p:txBody>
          <a:bodyPr wrap="square" lIns="0" tIns="0" rIns="0" bIns="0" rtlCol="0" anchor="t"/>
          <a:lstStyle/>
          <a:p>
            <a:pPr indent="0" marL="0">
              <a:buNone/>
            </a:pPr>
            <a:r>
              <a:rPr lang="en-US" sz="1200" dirty="0">
                <a:solidFill>
                  <a:srgbClr val="82B2D6"/>
                </a:solidFill>
                <a:latin typeface="Calibri" pitchFamily="34" charset="0"/>
                <a:ea typeface="Calibri" pitchFamily="34" charset="-122"/>
                <a:cs typeface="Calibri" pitchFamily="34" charset="-120"/>
              </a:rPr>
              <a:t>ADNOC Schools — Madinat Zayed</a:t>
            </a:r>
            <a:endParaRPr lang="en-US" sz="1200" dirty="0"/>
          </a:p>
        </p:txBody>
      </p:sp>
      <p:sp>
        <p:nvSpPr>
          <p:cNvPr id="36" name="Text 33"/>
          <p:cNvSpPr txBox="1"/>
          <p:nvPr/>
        </p:nvSpPr>
        <p:spPr>
          <a:xfrm>
            <a:off x="7680960" y="6053328"/>
            <a:ext cx="4023360" cy="274320"/>
          </a:xfrm>
          <a:prstGeom prst="rect">
            <a:avLst/>
          </a:prstGeom>
          <a:noFill/>
          <a:ln/>
        </p:spPr>
        <p:txBody>
          <a:bodyPr wrap="square" lIns="0" tIns="0" rIns="0" bIns="0" rtlCol="0" anchor="t"/>
          <a:lstStyle/>
          <a:p>
            <a:pPr algn="r" indent="0" marL="0">
              <a:buNone/>
            </a:pPr>
            <a:r>
              <a:rPr lang="en-US" sz="1000" i="1" dirty="0">
                <a:solidFill>
                  <a:srgbClr val="82B2D6"/>
                </a:solidFill>
                <a:latin typeface="Calibri" pitchFamily="34" charset="0"/>
                <a:ea typeface="Calibri" pitchFamily="34" charset="-122"/>
                <a:cs typeface="Calibri" pitchFamily="34" charset="-120"/>
              </a:rPr>
              <a:t>Concept rendering: entities of the fictional Amina household</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2B2D6"/>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82B2D6"/>
                </a:solidFill>
                <a:latin typeface="Consolas" pitchFamily="34" charset="0"/>
                <a:ea typeface="Consolas" pitchFamily="34" charset="-122"/>
                <a:cs typeface="Consolas" pitchFamily="34" charset="-120"/>
              </a:rPr>
              <a:t>ACT I · THE PROBLEM</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One disruption, multiple consequences</a:t>
            </a:r>
            <a:endParaRPr lang="en-US" sz="3200" dirty="0"/>
          </a:p>
        </p:txBody>
      </p:sp>
      <p:sp>
        <p:nvSpPr>
          <p:cNvPr id="5" name="Text 2"/>
          <p:cNvSpPr txBox="1"/>
          <p:nvPr/>
        </p:nvSpPr>
        <p:spPr>
          <a:xfrm>
            <a:off x="548640" y="1371600"/>
            <a:ext cx="6949440" cy="109728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At 2:30 PM, Amina becomes</a:t>
            </a:r>
            <a:endParaRPr lang="en-US" sz="3000" dirty="0"/>
          </a:p>
          <a:p>
            <a:pPr indent="0" marL="0">
              <a:buNone/>
            </a:pPr>
            <a:r>
              <a:rPr lang="en-US" sz="3000" b="1" dirty="0">
                <a:solidFill>
                  <a:srgbClr val="FFFFFF"/>
                </a:solidFill>
                <a:latin typeface="Calibri" pitchFamily="34" charset="0"/>
                <a:ea typeface="Calibri" pitchFamily="34" charset="-122"/>
                <a:cs typeface="Calibri" pitchFamily="34" charset="-120"/>
              </a:rPr>
              <a:t>unavailable until 6:00 PM.</a:t>
            </a:r>
            <a:endParaRPr lang="en-US" sz="3000" dirty="0"/>
          </a:p>
        </p:txBody>
      </p:sp>
      <p:sp>
        <p:nvSpPr>
          <p:cNvPr id="6" name="Text 3"/>
          <p:cNvSpPr/>
          <p:nvPr/>
        </p:nvSpPr>
        <p:spPr>
          <a:xfrm>
            <a:off x="7863840" y="1481328"/>
            <a:ext cx="1920240" cy="329184"/>
          </a:xfrm>
          <a:prstGeom prst="roundRect">
            <a:avLst/>
          </a:prstGeom>
          <a:solidFill>
            <a:srgbClr val="3A1B22"/>
          </a:solidFill>
          <a:ln w="12700">
            <a:solidFill>
              <a:srgbClr val="D98186"/>
            </a:solidFill>
          </a:ln>
        </p:spPr>
        <p:txBody>
          <a:bodyPr wrap="square" lIns="0" tIns="76200" rIns="76200" bIns="0" rtlCol="0" anchor="ctr"/>
          <a:lstStyle/>
          <a:p>
            <a:pPr algn="ctr" indent="0" marL="0">
              <a:buNone/>
            </a:pPr>
            <a:r>
              <a:rPr lang="en-US" sz="1100" b="1" dirty="0">
                <a:solidFill>
                  <a:srgbClr val="FFE6E6"/>
                </a:solidFill>
                <a:latin typeface="Calibri" pitchFamily="34" charset="0"/>
                <a:ea typeface="Calibri" pitchFamily="34" charset="-122"/>
                <a:cs typeface="Calibri" pitchFamily="34" charset="-120"/>
              </a:rPr>
              <a:t>DISRUPTION · 14:30</a:t>
            </a:r>
            <a:endParaRPr lang="en-US" sz="1100" dirty="0"/>
          </a:p>
        </p:txBody>
      </p:sp>
      <p:sp>
        <p:nvSpPr>
          <p:cNvPr id="7" name="Text 4"/>
          <p:cNvSpPr txBox="1"/>
          <p:nvPr/>
        </p:nvSpPr>
        <p:spPr>
          <a:xfrm>
            <a:off x="548640" y="2606040"/>
            <a:ext cx="8229600" cy="237744"/>
          </a:xfrm>
          <a:prstGeom prst="rect">
            <a:avLst/>
          </a:prstGeom>
          <a:noFill/>
          <a:ln/>
        </p:spPr>
        <p:txBody>
          <a:bodyPr wrap="square" lIns="0" tIns="0" rIns="0" bIns="0" rtlCol="0" anchor="t"/>
          <a:lstStyle/>
          <a:p>
            <a:pPr indent="0" marL="0">
              <a:buNone/>
            </a:pPr>
            <a:r>
              <a:rPr lang="en-US" sz="1200" dirty="0">
                <a:solidFill>
                  <a:srgbClr val="82B2D6"/>
                </a:solidFill>
                <a:latin typeface="Calibri" pitchFamily="34" charset="0"/>
                <a:ea typeface="Calibri" pitchFamily="34" charset="-122"/>
                <a:cs typeface="Calibri" pitchFamily="34" charset="-120"/>
              </a:rPr>
              <a:t>Original plan (fixture)  ·  shaded = available  ·  hatched = unavailable</a:t>
            </a:r>
            <a:endParaRPr lang="en-US" sz="1200" dirty="0"/>
          </a:p>
        </p:txBody>
      </p:sp>
      <p:sp>
        <p:nvSpPr>
          <p:cNvPr id="8" name="Text 5"/>
          <p:cNvSpPr txBox="1"/>
          <p:nvPr/>
        </p:nvSpPr>
        <p:spPr>
          <a:xfrm>
            <a:off x="1508760" y="2926080"/>
            <a:ext cx="548640" cy="201168"/>
          </a:xfrm>
          <a:prstGeom prst="rect">
            <a:avLst/>
          </a:prstGeom>
          <a:noFill/>
          <a:ln/>
        </p:spPr>
        <p:txBody>
          <a:bodyPr wrap="square" lIns="0" tIns="0" rIns="0" bIns="0" rtlCol="0" anchor="t"/>
          <a:lstStyle/>
          <a:p>
            <a:pPr algn="ctr" indent="0" marL="0">
              <a:buNone/>
            </a:pPr>
            <a:r>
              <a:rPr lang="en-US" sz="1000" dirty="0">
                <a:solidFill>
                  <a:srgbClr val="82B2D6"/>
                </a:solidFill>
                <a:latin typeface="Consolas" pitchFamily="34" charset="0"/>
                <a:ea typeface="Consolas" pitchFamily="34" charset="-122"/>
                <a:cs typeface="Consolas" pitchFamily="34" charset="-120"/>
              </a:rPr>
              <a:t>14:30</a:t>
            </a:r>
            <a:endParaRPr lang="en-US" sz="1000" dirty="0"/>
          </a:p>
        </p:txBody>
      </p:sp>
      <p:sp>
        <p:nvSpPr>
          <p:cNvPr id="9" name="Shape 6"/>
          <p:cNvSpPr/>
          <p:nvPr/>
        </p:nvSpPr>
        <p:spPr>
          <a:xfrm>
            <a:off x="1783080" y="3163824"/>
            <a:ext cx="0" cy="1956816"/>
          </a:xfrm>
          <a:prstGeom prst="line">
            <a:avLst/>
          </a:prstGeom>
          <a:noFill/>
          <a:ln w="6350">
            <a:solidFill>
              <a:srgbClr val="1F4672"/>
            </a:solidFill>
            <a:prstDash val="solid"/>
          </a:ln>
        </p:spPr>
      </p:sp>
      <p:sp>
        <p:nvSpPr>
          <p:cNvPr id="10" name="Text 7"/>
          <p:cNvSpPr txBox="1"/>
          <p:nvPr/>
        </p:nvSpPr>
        <p:spPr>
          <a:xfrm>
            <a:off x="2600960" y="2926080"/>
            <a:ext cx="548640" cy="201168"/>
          </a:xfrm>
          <a:prstGeom prst="rect">
            <a:avLst/>
          </a:prstGeom>
          <a:noFill/>
          <a:ln/>
        </p:spPr>
        <p:txBody>
          <a:bodyPr wrap="square" lIns="0" tIns="0" rIns="0" bIns="0" rtlCol="0" anchor="t"/>
          <a:lstStyle/>
          <a:p>
            <a:pPr algn="ctr" indent="0" marL="0">
              <a:buNone/>
            </a:pPr>
            <a:r>
              <a:rPr lang="en-US" sz="1000" dirty="0">
                <a:solidFill>
                  <a:srgbClr val="82B2D6"/>
                </a:solidFill>
                <a:latin typeface="Consolas" pitchFamily="34" charset="0"/>
                <a:ea typeface="Consolas" pitchFamily="34" charset="-122"/>
                <a:cs typeface="Consolas" pitchFamily="34" charset="-120"/>
              </a:rPr>
              <a:t>15:00</a:t>
            </a:r>
            <a:endParaRPr lang="en-US" sz="1000" dirty="0"/>
          </a:p>
        </p:txBody>
      </p:sp>
      <p:sp>
        <p:nvSpPr>
          <p:cNvPr id="11" name="Shape 8"/>
          <p:cNvSpPr/>
          <p:nvPr/>
        </p:nvSpPr>
        <p:spPr>
          <a:xfrm>
            <a:off x="2875280" y="3163824"/>
            <a:ext cx="0" cy="1956816"/>
          </a:xfrm>
          <a:prstGeom prst="line">
            <a:avLst/>
          </a:prstGeom>
          <a:noFill/>
          <a:ln w="6350">
            <a:solidFill>
              <a:srgbClr val="1F4672"/>
            </a:solidFill>
            <a:prstDash val="solid"/>
          </a:ln>
        </p:spPr>
      </p:sp>
      <p:sp>
        <p:nvSpPr>
          <p:cNvPr id="12" name="Text 9"/>
          <p:cNvSpPr txBox="1"/>
          <p:nvPr/>
        </p:nvSpPr>
        <p:spPr>
          <a:xfrm>
            <a:off x="3693160" y="2926080"/>
            <a:ext cx="548640" cy="201168"/>
          </a:xfrm>
          <a:prstGeom prst="rect">
            <a:avLst/>
          </a:prstGeom>
          <a:noFill/>
          <a:ln/>
        </p:spPr>
        <p:txBody>
          <a:bodyPr wrap="square" lIns="0" tIns="0" rIns="0" bIns="0" rtlCol="0" anchor="t"/>
          <a:lstStyle/>
          <a:p>
            <a:pPr algn="ctr" indent="0" marL="0">
              <a:buNone/>
            </a:pPr>
            <a:r>
              <a:rPr lang="en-US" sz="1000" dirty="0">
                <a:solidFill>
                  <a:srgbClr val="82B2D6"/>
                </a:solidFill>
                <a:latin typeface="Consolas" pitchFamily="34" charset="0"/>
                <a:ea typeface="Consolas" pitchFamily="34" charset="-122"/>
                <a:cs typeface="Consolas" pitchFamily="34" charset="-120"/>
              </a:rPr>
              <a:t>15:30</a:t>
            </a:r>
            <a:endParaRPr lang="en-US" sz="1000" dirty="0"/>
          </a:p>
        </p:txBody>
      </p:sp>
      <p:sp>
        <p:nvSpPr>
          <p:cNvPr id="13" name="Shape 10"/>
          <p:cNvSpPr/>
          <p:nvPr/>
        </p:nvSpPr>
        <p:spPr>
          <a:xfrm>
            <a:off x="3967480" y="3163824"/>
            <a:ext cx="0" cy="1956816"/>
          </a:xfrm>
          <a:prstGeom prst="line">
            <a:avLst/>
          </a:prstGeom>
          <a:noFill/>
          <a:ln w="6350">
            <a:solidFill>
              <a:srgbClr val="1F4672"/>
            </a:solidFill>
            <a:prstDash val="solid"/>
          </a:ln>
        </p:spPr>
      </p:sp>
      <p:sp>
        <p:nvSpPr>
          <p:cNvPr id="14" name="Text 11"/>
          <p:cNvSpPr txBox="1"/>
          <p:nvPr/>
        </p:nvSpPr>
        <p:spPr>
          <a:xfrm>
            <a:off x="4785360" y="2926080"/>
            <a:ext cx="548640" cy="201168"/>
          </a:xfrm>
          <a:prstGeom prst="rect">
            <a:avLst/>
          </a:prstGeom>
          <a:noFill/>
          <a:ln/>
        </p:spPr>
        <p:txBody>
          <a:bodyPr wrap="square" lIns="0" tIns="0" rIns="0" bIns="0" rtlCol="0" anchor="t"/>
          <a:lstStyle/>
          <a:p>
            <a:pPr algn="ctr" indent="0" marL="0">
              <a:buNone/>
            </a:pPr>
            <a:r>
              <a:rPr lang="en-US" sz="1000" dirty="0">
                <a:solidFill>
                  <a:srgbClr val="82B2D6"/>
                </a:solidFill>
                <a:latin typeface="Consolas" pitchFamily="34" charset="0"/>
                <a:ea typeface="Consolas" pitchFamily="34" charset="-122"/>
                <a:cs typeface="Consolas" pitchFamily="34" charset="-120"/>
              </a:rPr>
              <a:t>16:00</a:t>
            </a:r>
            <a:endParaRPr lang="en-US" sz="1000" dirty="0"/>
          </a:p>
        </p:txBody>
      </p:sp>
      <p:sp>
        <p:nvSpPr>
          <p:cNvPr id="15" name="Shape 12"/>
          <p:cNvSpPr/>
          <p:nvPr/>
        </p:nvSpPr>
        <p:spPr>
          <a:xfrm>
            <a:off x="5059680" y="3163824"/>
            <a:ext cx="0" cy="1956816"/>
          </a:xfrm>
          <a:prstGeom prst="line">
            <a:avLst/>
          </a:prstGeom>
          <a:noFill/>
          <a:ln w="6350">
            <a:solidFill>
              <a:srgbClr val="1F4672"/>
            </a:solidFill>
            <a:prstDash val="solid"/>
          </a:ln>
        </p:spPr>
      </p:sp>
      <p:sp>
        <p:nvSpPr>
          <p:cNvPr id="16" name="Text 13"/>
          <p:cNvSpPr txBox="1"/>
          <p:nvPr/>
        </p:nvSpPr>
        <p:spPr>
          <a:xfrm>
            <a:off x="5877560" y="2926080"/>
            <a:ext cx="548640" cy="201168"/>
          </a:xfrm>
          <a:prstGeom prst="rect">
            <a:avLst/>
          </a:prstGeom>
          <a:noFill/>
          <a:ln/>
        </p:spPr>
        <p:txBody>
          <a:bodyPr wrap="square" lIns="0" tIns="0" rIns="0" bIns="0" rtlCol="0" anchor="t"/>
          <a:lstStyle/>
          <a:p>
            <a:pPr algn="ctr" indent="0" marL="0">
              <a:buNone/>
            </a:pPr>
            <a:r>
              <a:rPr lang="en-US" sz="1000" dirty="0">
                <a:solidFill>
                  <a:srgbClr val="82B2D6"/>
                </a:solidFill>
                <a:latin typeface="Consolas" pitchFamily="34" charset="0"/>
                <a:ea typeface="Consolas" pitchFamily="34" charset="-122"/>
                <a:cs typeface="Consolas" pitchFamily="34" charset="-120"/>
              </a:rPr>
              <a:t>16:30</a:t>
            </a:r>
            <a:endParaRPr lang="en-US" sz="1000" dirty="0"/>
          </a:p>
        </p:txBody>
      </p:sp>
      <p:sp>
        <p:nvSpPr>
          <p:cNvPr id="17" name="Shape 14"/>
          <p:cNvSpPr/>
          <p:nvPr/>
        </p:nvSpPr>
        <p:spPr>
          <a:xfrm>
            <a:off x="6151880" y="3163824"/>
            <a:ext cx="0" cy="1956816"/>
          </a:xfrm>
          <a:prstGeom prst="line">
            <a:avLst/>
          </a:prstGeom>
          <a:noFill/>
          <a:ln w="6350">
            <a:solidFill>
              <a:srgbClr val="1F4672"/>
            </a:solidFill>
            <a:prstDash val="solid"/>
          </a:ln>
        </p:spPr>
      </p:sp>
      <p:sp>
        <p:nvSpPr>
          <p:cNvPr id="18" name="Text 15"/>
          <p:cNvSpPr txBox="1"/>
          <p:nvPr/>
        </p:nvSpPr>
        <p:spPr>
          <a:xfrm>
            <a:off x="6969760" y="2926080"/>
            <a:ext cx="548640" cy="201168"/>
          </a:xfrm>
          <a:prstGeom prst="rect">
            <a:avLst/>
          </a:prstGeom>
          <a:noFill/>
          <a:ln/>
        </p:spPr>
        <p:txBody>
          <a:bodyPr wrap="square" lIns="0" tIns="0" rIns="0" bIns="0" rtlCol="0" anchor="t"/>
          <a:lstStyle/>
          <a:p>
            <a:pPr algn="ctr" indent="0" marL="0">
              <a:buNone/>
            </a:pPr>
            <a:r>
              <a:rPr lang="en-US" sz="1000" dirty="0">
                <a:solidFill>
                  <a:srgbClr val="82B2D6"/>
                </a:solidFill>
                <a:latin typeface="Consolas" pitchFamily="34" charset="0"/>
                <a:ea typeface="Consolas" pitchFamily="34" charset="-122"/>
                <a:cs typeface="Consolas" pitchFamily="34" charset="-120"/>
              </a:rPr>
              <a:t>17:00</a:t>
            </a:r>
            <a:endParaRPr lang="en-US" sz="1000" dirty="0"/>
          </a:p>
        </p:txBody>
      </p:sp>
      <p:sp>
        <p:nvSpPr>
          <p:cNvPr id="19" name="Shape 16"/>
          <p:cNvSpPr/>
          <p:nvPr/>
        </p:nvSpPr>
        <p:spPr>
          <a:xfrm>
            <a:off x="7244080" y="3163824"/>
            <a:ext cx="0" cy="1956816"/>
          </a:xfrm>
          <a:prstGeom prst="line">
            <a:avLst/>
          </a:prstGeom>
          <a:noFill/>
          <a:ln w="6350">
            <a:solidFill>
              <a:srgbClr val="1F4672"/>
            </a:solidFill>
            <a:prstDash val="solid"/>
          </a:ln>
        </p:spPr>
      </p:sp>
      <p:sp>
        <p:nvSpPr>
          <p:cNvPr id="20" name="Text 17"/>
          <p:cNvSpPr txBox="1"/>
          <p:nvPr/>
        </p:nvSpPr>
        <p:spPr>
          <a:xfrm>
            <a:off x="8061960" y="2926080"/>
            <a:ext cx="548640" cy="201168"/>
          </a:xfrm>
          <a:prstGeom prst="rect">
            <a:avLst/>
          </a:prstGeom>
          <a:noFill/>
          <a:ln/>
        </p:spPr>
        <p:txBody>
          <a:bodyPr wrap="square" lIns="0" tIns="0" rIns="0" bIns="0" rtlCol="0" anchor="t"/>
          <a:lstStyle/>
          <a:p>
            <a:pPr algn="ctr" indent="0" marL="0">
              <a:buNone/>
            </a:pPr>
            <a:r>
              <a:rPr lang="en-US" sz="1000" dirty="0">
                <a:solidFill>
                  <a:srgbClr val="82B2D6"/>
                </a:solidFill>
                <a:latin typeface="Consolas" pitchFamily="34" charset="0"/>
                <a:ea typeface="Consolas" pitchFamily="34" charset="-122"/>
                <a:cs typeface="Consolas" pitchFamily="34" charset="-120"/>
              </a:rPr>
              <a:t>17:30</a:t>
            </a:r>
            <a:endParaRPr lang="en-US" sz="1000" dirty="0"/>
          </a:p>
        </p:txBody>
      </p:sp>
      <p:sp>
        <p:nvSpPr>
          <p:cNvPr id="21" name="Shape 18"/>
          <p:cNvSpPr/>
          <p:nvPr/>
        </p:nvSpPr>
        <p:spPr>
          <a:xfrm>
            <a:off x="8336280" y="3163824"/>
            <a:ext cx="0" cy="1956816"/>
          </a:xfrm>
          <a:prstGeom prst="line">
            <a:avLst/>
          </a:prstGeom>
          <a:noFill/>
          <a:ln w="6350">
            <a:solidFill>
              <a:srgbClr val="1F4672"/>
            </a:solidFill>
            <a:prstDash val="solid"/>
          </a:ln>
        </p:spPr>
      </p:sp>
      <p:sp>
        <p:nvSpPr>
          <p:cNvPr id="22" name="Text 19"/>
          <p:cNvSpPr txBox="1"/>
          <p:nvPr/>
        </p:nvSpPr>
        <p:spPr>
          <a:xfrm>
            <a:off x="9154160" y="2926080"/>
            <a:ext cx="548640" cy="201168"/>
          </a:xfrm>
          <a:prstGeom prst="rect">
            <a:avLst/>
          </a:prstGeom>
          <a:noFill/>
          <a:ln/>
        </p:spPr>
        <p:txBody>
          <a:bodyPr wrap="square" lIns="0" tIns="0" rIns="0" bIns="0" rtlCol="0" anchor="t"/>
          <a:lstStyle/>
          <a:p>
            <a:pPr algn="ctr" indent="0" marL="0">
              <a:buNone/>
            </a:pPr>
            <a:r>
              <a:rPr lang="en-US" sz="1000" dirty="0">
                <a:solidFill>
                  <a:srgbClr val="82B2D6"/>
                </a:solidFill>
                <a:latin typeface="Consolas" pitchFamily="34" charset="0"/>
                <a:ea typeface="Consolas" pitchFamily="34" charset="-122"/>
                <a:cs typeface="Consolas" pitchFamily="34" charset="-120"/>
              </a:rPr>
              <a:t>18:00</a:t>
            </a:r>
            <a:endParaRPr lang="en-US" sz="1000" dirty="0"/>
          </a:p>
        </p:txBody>
      </p:sp>
      <p:sp>
        <p:nvSpPr>
          <p:cNvPr id="23" name="Shape 20"/>
          <p:cNvSpPr/>
          <p:nvPr/>
        </p:nvSpPr>
        <p:spPr>
          <a:xfrm>
            <a:off x="9428480" y="3163824"/>
            <a:ext cx="0" cy="1956816"/>
          </a:xfrm>
          <a:prstGeom prst="line">
            <a:avLst/>
          </a:prstGeom>
          <a:noFill/>
          <a:ln w="6350">
            <a:solidFill>
              <a:srgbClr val="1F4672"/>
            </a:solidFill>
            <a:prstDash val="solid"/>
          </a:ln>
        </p:spPr>
      </p:sp>
      <p:sp>
        <p:nvSpPr>
          <p:cNvPr id="24" name="Text 21"/>
          <p:cNvSpPr txBox="1"/>
          <p:nvPr/>
        </p:nvSpPr>
        <p:spPr>
          <a:xfrm>
            <a:off x="10246360" y="2926080"/>
            <a:ext cx="548640" cy="201168"/>
          </a:xfrm>
          <a:prstGeom prst="rect">
            <a:avLst/>
          </a:prstGeom>
          <a:noFill/>
          <a:ln/>
        </p:spPr>
        <p:txBody>
          <a:bodyPr wrap="square" lIns="0" tIns="0" rIns="0" bIns="0" rtlCol="0" anchor="t"/>
          <a:lstStyle/>
          <a:p>
            <a:pPr algn="ctr" indent="0" marL="0">
              <a:buNone/>
            </a:pPr>
            <a:r>
              <a:rPr lang="en-US" sz="1000" dirty="0">
                <a:solidFill>
                  <a:srgbClr val="82B2D6"/>
                </a:solidFill>
                <a:latin typeface="Consolas" pitchFamily="34" charset="0"/>
                <a:ea typeface="Consolas" pitchFamily="34" charset="-122"/>
                <a:cs typeface="Consolas" pitchFamily="34" charset="-120"/>
              </a:rPr>
              <a:t>18:30</a:t>
            </a:r>
            <a:endParaRPr lang="en-US" sz="1000" dirty="0"/>
          </a:p>
        </p:txBody>
      </p:sp>
      <p:sp>
        <p:nvSpPr>
          <p:cNvPr id="25" name="Shape 22"/>
          <p:cNvSpPr/>
          <p:nvPr/>
        </p:nvSpPr>
        <p:spPr>
          <a:xfrm>
            <a:off x="10520680" y="3163824"/>
            <a:ext cx="0" cy="1956816"/>
          </a:xfrm>
          <a:prstGeom prst="line">
            <a:avLst/>
          </a:prstGeom>
          <a:noFill/>
          <a:ln w="6350">
            <a:solidFill>
              <a:srgbClr val="1F4672"/>
            </a:solidFill>
            <a:prstDash val="solid"/>
          </a:ln>
        </p:spPr>
      </p:sp>
      <p:sp>
        <p:nvSpPr>
          <p:cNvPr id="26" name="Text 23"/>
          <p:cNvSpPr txBox="1"/>
          <p:nvPr/>
        </p:nvSpPr>
        <p:spPr>
          <a:xfrm>
            <a:off x="11338560" y="2926080"/>
            <a:ext cx="548640" cy="201168"/>
          </a:xfrm>
          <a:prstGeom prst="rect">
            <a:avLst/>
          </a:prstGeom>
          <a:noFill/>
          <a:ln/>
        </p:spPr>
        <p:txBody>
          <a:bodyPr wrap="square" lIns="0" tIns="0" rIns="0" bIns="0" rtlCol="0" anchor="t"/>
          <a:lstStyle/>
          <a:p>
            <a:pPr algn="ctr" indent="0" marL="0">
              <a:buNone/>
            </a:pPr>
            <a:r>
              <a:rPr lang="en-US" sz="1000" dirty="0">
                <a:solidFill>
                  <a:srgbClr val="82B2D6"/>
                </a:solidFill>
                <a:latin typeface="Consolas" pitchFamily="34" charset="0"/>
                <a:ea typeface="Consolas" pitchFamily="34" charset="-122"/>
                <a:cs typeface="Consolas" pitchFamily="34" charset="-120"/>
              </a:rPr>
              <a:t>19:00</a:t>
            </a:r>
            <a:endParaRPr lang="en-US" sz="1000" dirty="0"/>
          </a:p>
        </p:txBody>
      </p:sp>
      <p:sp>
        <p:nvSpPr>
          <p:cNvPr id="27" name="Shape 24"/>
          <p:cNvSpPr/>
          <p:nvPr/>
        </p:nvSpPr>
        <p:spPr>
          <a:xfrm>
            <a:off x="11612880" y="3163824"/>
            <a:ext cx="0" cy="1956816"/>
          </a:xfrm>
          <a:prstGeom prst="line">
            <a:avLst/>
          </a:prstGeom>
          <a:noFill/>
          <a:ln w="6350">
            <a:solidFill>
              <a:srgbClr val="1F4672"/>
            </a:solidFill>
            <a:prstDash val="solid"/>
          </a:ln>
        </p:spPr>
      </p:sp>
      <p:sp>
        <p:nvSpPr>
          <p:cNvPr id="28" name="Text 25"/>
          <p:cNvSpPr txBox="1"/>
          <p:nvPr/>
        </p:nvSpPr>
        <p:spPr>
          <a:xfrm>
            <a:off x="548640" y="3255264"/>
            <a:ext cx="1143000" cy="2560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Amina</a:t>
            </a:r>
            <a:endParaRPr lang="en-US" sz="1400" dirty="0"/>
          </a:p>
        </p:txBody>
      </p:sp>
      <p:sp>
        <p:nvSpPr>
          <p:cNvPr id="29" name="Text 26"/>
          <p:cNvSpPr txBox="1"/>
          <p:nvPr/>
        </p:nvSpPr>
        <p:spPr>
          <a:xfrm>
            <a:off x="548640" y="3511296"/>
            <a:ext cx="1143000" cy="201168"/>
          </a:xfrm>
          <a:prstGeom prst="rect">
            <a:avLst/>
          </a:prstGeom>
          <a:noFill/>
          <a:ln/>
        </p:spPr>
        <p:txBody>
          <a:bodyPr wrap="square" lIns="0" tIns="0" rIns="0" bIns="0" rtlCol="0" anchor="t"/>
          <a:lstStyle/>
          <a:p>
            <a:pPr indent="0" marL="0">
              <a:buNone/>
            </a:pPr>
            <a:r>
              <a:rPr lang="en-US" sz="1000" dirty="0">
                <a:solidFill>
                  <a:srgbClr val="82B2D6"/>
                </a:solidFill>
                <a:latin typeface="Calibri" pitchFamily="34" charset="0"/>
                <a:ea typeface="Calibri" pitchFamily="34" charset="-122"/>
                <a:cs typeface="Calibri" pitchFamily="34" charset="-120"/>
              </a:rPr>
              <a:t>adult</a:t>
            </a:r>
            <a:endParaRPr lang="en-US" sz="1000" dirty="0"/>
          </a:p>
        </p:txBody>
      </p:sp>
      <p:sp>
        <p:nvSpPr>
          <p:cNvPr id="30" name="Shape 27"/>
          <p:cNvSpPr/>
          <p:nvPr/>
        </p:nvSpPr>
        <p:spPr>
          <a:xfrm>
            <a:off x="1783080" y="3236976"/>
            <a:ext cx="8737600" cy="566928"/>
          </a:xfrm>
          <a:prstGeom prst="rect">
            <a:avLst/>
          </a:prstGeom>
          <a:solidFill>
            <a:srgbClr val="17375F"/>
          </a:solidFill>
          <a:ln/>
        </p:spPr>
      </p:sp>
      <p:sp>
        <p:nvSpPr>
          <p:cNvPr id="31" name="Shape 28"/>
          <p:cNvSpPr/>
          <p:nvPr/>
        </p:nvSpPr>
        <p:spPr>
          <a:xfrm>
            <a:off x="1783080" y="3236976"/>
            <a:ext cx="7645400" cy="566928"/>
          </a:xfrm>
          <a:prstGeom prst="rect">
            <a:avLst/>
          </a:prstGeom>
          <a:solidFill>
            <a:srgbClr val="3A1B22"/>
          </a:solidFill>
          <a:ln w="9525">
            <a:solidFill>
              <a:srgbClr val="E08A8E"/>
            </a:solidFill>
            <a:prstDash val="dash"/>
          </a:ln>
        </p:spPr>
      </p:sp>
      <p:sp>
        <p:nvSpPr>
          <p:cNvPr id="32" name="Text 29"/>
          <p:cNvSpPr/>
          <p:nvPr/>
        </p:nvSpPr>
        <p:spPr>
          <a:xfrm>
            <a:off x="2329180" y="3273552"/>
            <a:ext cx="1456267" cy="493776"/>
          </a:xfrm>
          <a:prstGeom prst="roundRect">
            <a:avLst>
              <a:gd name="adj" fmla="val 11111"/>
            </a:avLst>
          </a:prstGeom>
          <a:solidFill>
            <a:srgbClr val="4A2430"/>
          </a:solidFill>
          <a:ln w="12700">
            <a:solidFill>
              <a:srgbClr val="E08A8E"/>
            </a:solidFill>
          </a:ln>
        </p:spPr>
        <p:txBody>
          <a:bodyPr wrap="square" lIns="0" tIns="50800" rIns="5080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School pickup</a:t>
            </a:r>
            <a:endParaRPr lang="en-US" sz="1100" dirty="0"/>
          </a:p>
        </p:txBody>
      </p:sp>
      <p:sp>
        <p:nvSpPr>
          <p:cNvPr id="33" name="Text 30"/>
          <p:cNvSpPr/>
          <p:nvPr/>
        </p:nvSpPr>
        <p:spPr>
          <a:xfrm>
            <a:off x="4877647" y="3273552"/>
            <a:ext cx="1274233" cy="493776"/>
          </a:xfrm>
          <a:prstGeom prst="roundRect">
            <a:avLst>
              <a:gd name="adj" fmla="val 11111"/>
            </a:avLst>
          </a:prstGeom>
          <a:solidFill>
            <a:srgbClr val="4A2430"/>
          </a:solidFill>
          <a:ln w="12700">
            <a:solidFill>
              <a:srgbClr val="E08A8E"/>
            </a:solidFill>
          </a:ln>
        </p:spPr>
        <p:txBody>
          <a:bodyPr wrap="square" lIns="0" tIns="50800" rIns="5080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Grocery</a:t>
            </a:r>
            <a:endParaRPr lang="en-US" sz="1100" dirty="0"/>
          </a:p>
        </p:txBody>
      </p:sp>
      <p:sp>
        <p:nvSpPr>
          <p:cNvPr id="34" name="Text 31"/>
          <p:cNvSpPr/>
          <p:nvPr/>
        </p:nvSpPr>
        <p:spPr>
          <a:xfrm>
            <a:off x="6697980" y="3273552"/>
            <a:ext cx="1092200" cy="493776"/>
          </a:xfrm>
          <a:prstGeom prst="roundRect">
            <a:avLst>
              <a:gd name="adj" fmla="val 11111"/>
            </a:avLst>
          </a:prstGeom>
          <a:solidFill>
            <a:srgbClr val="4A2430"/>
          </a:solidFill>
          <a:ln w="12700">
            <a:solidFill>
              <a:srgbClr val="E08A8E"/>
            </a:solidFill>
          </a:ln>
        </p:spPr>
        <p:txBody>
          <a:bodyPr wrap="square" lIns="0" tIns="50800" rIns="5080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Homework</a:t>
            </a:r>
            <a:endParaRPr lang="en-US" sz="1100" dirty="0"/>
          </a:p>
        </p:txBody>
      </p:sp>
      <p:sp>
        <p:nvSpPr>
          <p:cNvPr id="35" name="Text 32"/>
          <p:cNvSpPr txBox="1"/>
          <p:nvPr/>
        </p:nvSpPr>
        <p:spPr>
          <a:xfrm>
            <a:off x="548640" y="3895344"/>
            <a:ext cx="1143000" cy="2560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Khalid</a:t>
            </a:r>
            <a:endParaRPr lang="en-US" sz="1400" dirty="0"/>
          </a:p>
        </p:txBody>
      </p:sp>
      <p:sp>
        <p:nvSpPr>
          <p:cNvPr id="36" name="Text 33"/>
          <p:cNvSpPr txBox="1"/>
          <p:nvPr/>
        </p:nvSpPr>
        <p:spPr>
          <a:xfrm>
            <a:off x="548640" y="4151376"/>
            <a:ext cx="1143000" cy="201168"/>
          </a:xfrm>
          <a:prstGeom prst="rect">
            <a:avLst/>
          </a:prstGeom>
          <a:noFill/>
          <a:ln/>
        </p:spPr>
        <p:txBody>
          <a:bodyPr wrap="square" lIns="0" tIns="0" rIns="0" bIns="0" rtlCol="0" anchor="t"/>
          <a:lstStyle/>
          <a:p>
            <a:pPr indent="0" marL="0">
              <a:buNone/>
            </a:pPr>
            <a:r>
              <a:rPr lang="en-US" sz="1000" dirty="0">
                <a:solidFill>
                  <a:srgbClr val="82B2D6"/>
                </a:solidFill>
                <a:latin typeface="Calibri" pitchFamily="34" charset="0"/>
                <a:ea typeface="Calibri" pitchFamily="34" charset="-122"/>
                <a:cs typeface="Calibri" pitchFamily="34" charset="-120"/>
              </a:rPr>
              <a:t>adult</a:t>
            </a:r>
            <a:endParaRPr lang="en-US" sz="1000" dirty="0"/>
          </a:p>
        </p:txBody>
      </p:sp>
      <p:sp>
        <p:nvSpPr>
          <p:cNvPr id="37" name="Shape 34"/>
          <p:cNvSpPr/>
          <p:nvPr/>
        </p:nvSpPr>
        <p:spPr>
          <a:xfrm>
            <a:off x="1783080" y="3877056"/>
            <a:ext cx="8737600" cy="566928"/>
          </a:xfrm>
          <a:prstGeom prst="rect">
            <a:avLst/>
          </a:prstGeom>
          <a:solidFill>
            <a:srgbClr val="17375F"/>
          </a:solidFill>
          <a:ln/>
        </p:spPr>
      </p:sp>
      <p:sp>
        <p:nvSpPr>
          <p:cNvPr id="38" name="Text 35"/>
          <p:cNvSpPr/>
          <p:nvPr/>
        </p:nvSpPr>
        <p:spPr>
          <a:xfrm>
            <a:off x="8336280" y="3913632"/>
            <a:ext cx="1092200" cy="493776"/>
          </a:xfrm>
          <a:prstGeom prst="roundRect">
            <a:avLst>
              <a:gd name="adj" fmla="val 11111"/>
            </a:avLst>
          </a:prstGeom>
          <a:solidFill>
            <a:srgbClr val="255E99"/>
          </a:solidFill>
          <a:ln/>
        </p:spPr>
        <p:txBody>
          <a:bodyPr wrap="square" lIns="0" tIns="50800" rIns="5080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Dinner</a:t>
            </a:r>
            <a:endParaRPr lang="en-US" sz="1100" dirty="0"/>
          </a:p>
        </p:txBody>
      </p:sp>
      <p:sp>
        <p:nvSpPr>
          <p:cNvPr id="39" name="Text 36"/>
          <p:cNvSpPr txBox="1"/>
          <p:nvPr/>
        </p:nvSpPr>
        <p:spPr>
          <a:xfrm>
            <a:off x="548640" y="4535424"/>
            <a:ext cx="1143000" cy="2560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Noura</a:t>
            </a:r>
            <a:endParaRPr lang="en-US" sz="1400" dirty="0"/>
          </a:p>
        </p:txBody>
      </p:sp>
      <p:sp>
        <p:nvSpPr>
          <p:cNvPr id="40" name="Text 37"/>
          <p:cNvSpPr txBox="1"/>
          <p:nvPr/>
        </p:nvSpPr>
        <p:spPr>
          <a:xfrm>
            <a:off x="548640" y="4791456"/>
            <a:ext cx="1143000" cy="201168"/>
          </a:xfrm>
          <a:prstGeom prst="rect">
            <a:avLst/>
          </a:prstGeom>
          <a:noFill/>
          <a:ln/>
        </p:spPr>
        <p:txBody>
          <a:bodyPr wrap="square" lIns="0" tIns="0" rIns="0" bIns="0" rtlCol="0" anchor="t"/>
          <a:lstStyle/>
          <a:p>
            <a:pPr indent="0" marL="0">
              <a:buNone/>
            </a:pPr>
            <a:r>
              <a:rPr lang="en-US" sz="1000" dirty="0">
                <a:solidFill>
                  <a:srgbClr val="82B2D6"/>
                </a:solidFill>
                <a:latin typeface="Calibri" pitchFamily="34" charset="0"/>
                <a:ea typeface="Calibri" pitchFamily="34" charset="-122"/>
                <a:cs typeface="Calibri" pitchFamily="34" charset="-120"/>
              </a:rPr>
              <a:t>teen</a:t>
            </a:r>
            <a:endParaRPr lang="en-US" sz="1000" dirty="0"/>
          </a:p>
        </p:txBody>
      </p:sp>
      <p:sp>
        <p:nvSpPr>
          <p:cNvPr id="41" name="Shape 38"/>
          <p:cNvSpPr/>
          <p:nvPr/>
        </p:nvSpPr>
        <p:spPr>
          <a:xfrm>
            <a:off x="6151880" y="4517136"/>
            <a:ext cx="3276600" cy="566928"/>
          </a:xfrm>
          <a:prstGeom prst="rect">
            <a:avLst/>
          </a:prstGeom>
          <a:solidFill>
            <a:srgbClr val="17375F"/>
          </a:solidFill>
          <a:ln/>
        </p:spPr>
      </p:sp>
      <p:sp>
        <p:nvSpPr>
          <p:cNvPr id="42" name="Text 39"/>
          <p:cNvSpPr/>
          <p:nvPr/>
        </p:nvSpPr>
        <p:spPr>
          <a:xfrm>
            <a:off x="548640" y="5349240"/>
            <a:ext cx="3154680" cy="384048"/>
          </a:xfrm>
          <a:prstGeom prst="roundRect">
            <a:avLst/>
          </a:prstGeom>
          <a:solidFill>
            <a:srgbClr val="4A2430"/>
          </a:solidFill>
          <a:ln w="12700">
            <a:solidFill>
              <a:srgbClr val="E08A8E"/>
            </a:solidFill>
          </a:ln>
        </p:spPr>
        <p:txBody>
          <a:bodyPr wrap="square" lIns="0" tIns="76200" rIns="7620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School pickup · Tier 0 · essential</a:t>
            </a:r>
            <a:endParaRPr lang="en-US" sz="1200" dirty="0"/>
          </a:p>
        </p:txBody>
      </p:sp>
      <p:sp>
        <p:nvSpPr>
          <p:cNvPr id="43" name="Text 40"/>
          <p:cNvSpPr/>
          <p:nvPr/>
        </p:nvSpPr>
        <p:spPr>
          <a:xfrm>
            <a:off x="3886200" y="5349240"/>
            <a:ext cx="2743200" cy="384048"/>
          </a:xfrm>
          <a:prstGeom prst="roundRect">
            <a:avLst/>
          </a:prstGeom>
          <a:solidFill>
            <a:srgbClr val="4A2430"/>
          </a:solidFill>
          <a:ln w="12700">
            <a:solidFill>
              <a:srgbClr val="E08A8E"/>
            </a:solidFill>
          </a:ln>
        </p:spPr>
        <p:txBody>
          <a:bodyPr wrap="square" lIns="0" tIns="76200" rIns="7620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Homework assistance · Tier 1</a:t>
            </a:r>
            <a:endParaRPr lang="en-US" sz="1200" dirty="0"/>
          </a:p>
        </p:txBody>
      </p:sp>
      <p:sp>
        <p:nvSpPr>
          <p:cNvPr id="44" name="Text 41"/>
          <p:cNvSpPr/>
          <p:nvPr/>
        </p:nvSpPr>
        <p:spPr>
          <a:xfrm>
            <a:off x="6812280" y="5349240"/>
            <a:ext cx="2560320" cy="384048"/>
          </a:xfrm>
          <a:prstGeom prst="roundRect">
            <a:avLst/>
          </a:prstGeom>
          <a:solidFill>
            <a:srgbClr val="4A2430"/>
          </a:solidFill>
          <a:ln w="12700">
            <a:solidFill>
              <a:srgbClr val="E08A8E"/>
            </a:solidFill>
          </a:ln>
        </p:spPr>
        <p:txBody>
          <a:bodyPr wrap="square" lIns="0" tIns="76200" rIns="7620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Grocery collection · Tier 3</a:t>
            </a:r>
            <a:endParaRPr lang="en-US" sz="1200" dirty="0"/>
          </a:p>
        </p:txBody>
      </p:sp>
      <p:sp>
        <p:nvSpPr>
          <p:cNvPr id="45" name="Text 42"/>
          <p:cNvSpPr txBox="1"/>
          <p:nvPr/>
        </p:nvSpPr>
        <p:spPr>
          <a:xfrm>
            <a:off x="9555480" y="5394960"/>
            <a:ext cx="2194560" cy="365760"/>
          </a:xfrm>
          <a:prstGeom prst="rect">
            <a:avLst/>
          </a:prstGeom>
          <a:noFill/>
          <a:ln/>
        </p:spPr>
        <p:txBody>
          <a:bodyPr wrap="square" lIns="0" tIns="0" rIns="0" bIns="0" rtlCol="0" anchor="t"/>
          <a:lstStyle/>
          <a:p>
            <a:pPr indent="0" marL="0">
              <a:buNone/>
            </a:pPr>
            <a:r>
              <a:rPr lang="en-US" sz="1200" dirty="0">
                <a:solidFill>
                  <a:srgbClr val="82B2D6"/>
                </a:solidFill>
                <a:latin typeface="Calibri" pitchFamily="34" charset="0"/>
                <a:ea typeface="Calibri" pitchFamily="34" charset="-122"/>
                <a:cs typeface="Calibri" pitchFamily="34" charset="-120"/>
              </a:rPr>
              <a:t>Dinner (Khalid) is not obviously affected.</a:t>
            </a:r>
            <a:endParaRPr lang="en-US" sz="1200" dirty="0"/>
          </a:p>
        </p:txBody>
      </p:sp>
      <p:sp>
        <p:nvSpPr>
          <p:cNvPr id="46"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82B2D6"/>
                </a:solidFill>
                <a:latin typeface="Calibri" pitchFamily="34" charset="0"/>
                <a:ea typeface="Calibri" pitchFamily="34" charset="-122"/>
                <a:cs typeface="Calibri" pitchFamily="34" charset="-120"/>
              </a:rPr>
              <a:t>Source: data/households/amina.json (fictional household). Times are Asia/Dubai, simulated date 29 Oct 2026.</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2B2D6"/>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 · THE PROBLEM</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The hidden system behind family life</a:t>
            </a:r>
            <a:endParaRPr lang="en-US" sz="3200" dirty="0"/>
          </a:p>
        </p:txBody>
      </p:sp>
      <p:sp>
        <p:nvSpPr>
          <p:cNvPr id="5" name="Shape 2"/>
          <p:cNvSpPr/>
          <p:nvPr/>
        </p:nvSpPr>
        <p:spPr>
          <a:xfrm>
            <a:off x="548640" y="1417320"/>
            <a:ext cx="8549640" cy="4526280"/>
          </a:xfrm>
          <a:prstGeom prst="roundRect">
            <a:avLst>
              <a:gd name="adj" fmla="val 1616"/>
            </a:avLst>
          </a:prstGeom>
          <a:solidFill>
            <a:srgbClr val="102B4E"/>
          </a:solidFill>
          <a:ln/>
        </p:spPr>
      </p:sp>
      <p:sp>
        <p:nvSpPr>
          <p:cNvPr id="6" name="Shape 3"/>
          <p:cNvSpPr/>
          <p:nvPr/>
        </p:nvSpPr>
        <p:spPr>
          <a:xfrm flipV="1">
            <a:off x="1468526" y="2080443"/>
            <a:ext cx="0" cy="790042"/>
          </a:xfrm>
          <a:prstGeom prst="line">
            <a:avLst/>
          </a:prstGeom>
          <a:noFill/>
          <a:ln w="15875">
            <a:solidFill>
              <a:srgbClr val="47789F"/>
            </a:solidFill>
            <a:prstDash val="solid"/>
          </a:ln>
        </p:spPr>
      </p:sp>
      <p:sp>
        <p:nvSpPr>
          <p:cNvPr id="7" name="Shape 4"/>
          <p:cNvSpPr/>
          <p:nvPr/>
        </p:nvSpPr>
        <p:spPr>
          <a:xfrm flipV="1">
            <a:off x="1468526" y="2080443"/>
            <a:ext cx="0" cy="1501079"/>
          </a:xfrm>
          <a:prstGeom prst="line">
            <a:avLst/>
          </a:prstGeom>
          <a:noFill/>
          <a:ln w="15875">
            <a:solidFill>
              <a:srgbClr val="47789F"/>
            </a:solidFill>
            <a:prstDash val="solid"/>
          </a:ln>
        </p:spPr>
      </p:sp>
      <p:sp>
        <p:nvSpPr>
          <p:cNvPr id="8" name="Shape 5"/>
          <p:cNvSpPr/>
          <p:nvPr/>
        </p:nvSpPr>
        <p:spPr>
          <a:xfrm flipV="1">
            <a:off x="1468526" y="2080443"/>
            <a:ext cx="0" cy="2212116"/>
          </a:xfrm>
          <a:prstGeom prst="line">
            <a:avLst/>
          </a:prstGeom>
          <a:noFill/>
          <a:ln w="15875">
            <a:solidFill>
              <a:srgbClr val="47789F"/>
            </a:solidFill>
            <a:prstDash val="solid"/>
          </a:ln>
        </p:spPr>
      </p:sp>
      <p:sp>
        <p:nvSpPr>
          <p:cNvPr id="9" name="Shape 6"/>
          <p:cNvSpPr/>
          <p:nvPr/>
        </p:nvSpPr>
        <p:spPr>
          <a:xfrm flipV="1">
            <a:off x="3114446" y="2080443"/>
            <a:ext cx="0" cy="2923154"/>
          </a:xfrm>
          <a:prstGeom prst="line">
            <a:avLst/>
          </a:prstGeom>
          <a:noFill/>
          <a:ln w="15875">
            <a:solidFill>
              <a:srgbClr val="47789F"/>
            </a:solidFill>
            <a:prstDash val="solid"/>
          </a:ln>
        </p:spPr>
      </p:sp>
      <p:sp>
        <p:nvSpPr>
          <p:cNvPr id="10" name="Shape 7"/>
          <p:cNvSpPr/>
          <p:nvPr/>
        </p:nvSpPr>
        <p:spPr>
          <a:xfrm flipV="1">
            <a:off x="2159813" y="2969240"/>
            <a:ext cx="5398618" cy="118506"/>
          </a:xfrm>
          <a:prstGeom prst="line">
            <a:avLst/>
          </a:prstGeom>
          <a:noFill/>
          <a:ln w="12700">
            <a:solidFill>
              <a:srgbClr val="47789F"/>
            </a:solidFill>
            <a:prstDash val="dash"/>
          </a:ln>
        </p:spPr>
      </p:sp>
      <p:sp>
        <p:nvSpPr>
          <p:cNvPr id="11" name="Shape 8"/>
          <p:cNvSpPr/>
          <p:nvPr/>
        </p:nvSpPr>
        <p:spPr>
          <a:xfrm>
            <a:off x="2159813" y="3087746"/>
            <a:ext cx="5398618" cy="513527"/>
          </a:xfrm>
          <a:prstGeom prst="line">
            <a:avLst/>
          </a:prstGeom>
          <a:noFill/>
          <a:ln w="12700">
            <a:solidFill>
              <a:srgbClr val="47789F"/>
            </a:solidFill>
            <a:prstDash val="dash"/>
          </a:ln>
        </p:spPr>
      </p:sp>
      <p:sp>
        <p:nvSpPr>
          <p:cNvPr id="12" name="Shape 9"/>
          <p:cNvSpPr/>
          <p:nvPr/>
        </p:nvSpPr>
        <p:spPr>
          <a:xfrm flipV="1">
            <a:off x="2159813" y="2969240"/>
            <a:ext cx="5398618" cy="829544"/>
          </a:xfrm>
          <a:prstGeom prst="line">
            <a:avLst/>
          </a:prstGeom>
          <a:noFill/>
          <a:ln w="12700">
            <a:solidFill>
              <a:srgbClr val="47789F"/>
            </a:solidFill>
            <a:prstDash val="dash"/>
          </a:ln>
        </p:spPr>
      </p:sp>
      <p:sp>
        <p:nvSpPr>
          <p:cNvPr id="13" name="Shape 10"/>
          <p:cNvSpPr/>
          <p:nvPr/>
        </p:nvSpPr>
        <p:spPr>
          <a:xfrm flipV="1">
            <a:off x="2159813" y="4233306"/>
            <a:ext cx="5398618" cy="276515"/>
          </a:xfrm>
          <a:prstGeom prst="line">
            <a:avLst/>
          </a:prstGeom>
          <a:noFill/>
          <a:ln w="12700">
            <a:solidFill>
              <a:srgbClr val="47789F"/>
            </a:solidFill>
            <a:prstDash val="dash"/>
          </a:ln>
        </p:spPr>
      </p:sp>
      <p:sp>
        <p:nvSpPr>
          <p:cNvPr id="14" name="Shape 11"/>
          <p:cNvSpPr/>
          <p:nvPr/>
        </p:nvSpPr>
        <p:spPr>
          <a:xfrm flipV="1">
            <a:off x="3805733" y="4865340"/>
            <a:ext cx="3752698" cy="355519"/>
          </a:xfrm>
          <a:prstGeom prst="line">
            <a:avLst/>
          </a:prstGeom>
          <a:noFill/>
          <a:ln w="12700">
            <a:solidFill>
              <a:srgbClr val="47789F"/>
            </a:solidFill>
            <a:prstDash val="dash"/>
          </a:ln>
        </p:spPr>
      </p:sp>
      <p:sp>
        <p:nvSpPr>
          <p:cNvPr id="15" name="Shape 12"/>
          <p:cNvSpPr/>
          <p:nvPr/>
        </p:nvSpPr>
        <p:spPr>
          <a:xfrm>
            <a:off x="2159813" y="3022567"/>
            <a:ext cx="3818534" cy="632033"/>
          </a:xfrm>
          <a:prstGeom prst="line">
            <a:avLst/>
          </a:prstGeom>
          <a:noFill/>
          <a:ln w="25400">
            <a:solidFill>
              <a:srgbClr val="47789F"/>
            </a:solidFill>
            <a:prstDash val="solid"/>
            <a:tailEnd type="triangle"/>
          </a:ln>
        </p:spPr>
      </p:sp>
      <p:sp>
        <p:nvSpPr>
          <p:cNvPr id="16" name="Shape 13"/>
          <p:cNvSpPr/>
          <p:nvPr/>
        </p:nvSpPr>
        <p:spPr>
          <a:xfrm flipV="1">
            <a:off x="2159813" y="3937041"/>
            <a:ext cx="4213555" cy="485876"/>
          </a:xfrm>
          <a:prstGeom prst="line">
            <a:avLst/>
          </a:prstGeom>
          <a:noFill/>
          <a:ln w="19050">
            <a:solidFill>
              <a:srgbClr val="47789F"/>
            </a:solidFill>
            <a:prstDash val="sysDot"/>
            <a:tailEnd type="triangle"/>
          </a:ln>
        </p:spPr>
      </p:sp>
      <p:sp>
        <p:nvSpPr>
          <p:cNvPr id="17" name="Shape 14"/>
          <p:cNvSpPr/>
          <p:nvPr/>
        </p:nvSpPr>
        <p:spPr>
          <a:xfrm flipV="1">
            <a:off x="2159813" y="2080443"/>
            <a:ext cx="3909974" cy="881482"/>
          </a:xfrm>
          <a:prstGeom prst="line">
            <a:avLst/>
          </a:prstGeom>
          <a:noFill/>
          <a:ln w="12700">
            <a:solidFill>
              <a:srgbClr val="47789F"/>
            </a:solidFill>
            <a:prstDash val="sysDot"/>
            <a:tailEnd type="triangle"/>
          </a:ln>
        </p:spPr>
      </p:sp>
      <p:sp>
        <p:nvSpPr>
          <p:cNvPr id="18" name="node-P01"/>
          <p:cNvSpPr/>
          <p:nvPr/>
        </p:nvSpPr>
        <p:spPr>
          <a:xfrm>
            <a:off x="777240" y="1645920"/>
            <a:ext cx="1382573" cy="434523"/>
          </a:xfrm>
          <a:prstGeom prst="roundRect">
            <a:avLst>
              <a:gd name="adj" fmla="val 16835"/>
            </a:avLst>
          </a:prstGeom>
          <a:solidFill>
            <a:srgbClr val="255E99"/>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Amina</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adult · 41</a:t>
            </a:r>
            <a:endParaRPr lang="en-US" sz="1000" dirty="0"/>
          </a:p>
        </p:txBody>
      </p:sp>
      <p:sp>
        <p:nvSpPr>
          <p:cNvPr id="19" name="node-P02"/>
          <p:cNvSpPr/>
          <p:nvPr/>
        </p:nvSpPr>
        <p:spPr>
          <a:xfrm>
            <a:off x="2423160" y="1645920"/>
            <a:ext cx="1382573" cy="434523"/>
          </a:xfrm>
          <a:prstGeom prst="roundRect">
            <a:avLst>
              <a:gd name="adj" fmla="val 16835"/>
            </a:avLst>
          </a:prstGeom>
          <a:solidFill>
            <a:srgbClr val="255E99"/>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Khalid</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adult · 43</a:t>
            </a:r>
            <a:endParaRPr lang="en-US" sz="1000" dirty="0"/>
          </a:p>
        </p:txBody>
      </p:sp>
      <p:sp>
        <p:nvSpPr>
          <p:cNvPr id="20" name="node-P03"/>
          <p:cNvSpPr/>
          <p:nvPr/>
        </p:nvSpPr>
        <p:spPr>
          <a:xfrm>
            <a:off x="4069080" y="1645920"/>
            <a:ext cx="1382573" cy="434523"/>
          </a:xfrm>
          <a:prstGeom prst="roundRect">
            <a:avLst>
              <a:gd name="adj" fmla="val 16835"/>
            </a:avLst>
          </a:prstGeom>
          <a:solidFill>
            <a:srgbClr val="255E99"/>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Noura</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teen · 16</a:t>
            </a:r>
            <a:endParaRPr lang="en-US" sz="1000" dirty="0"/>
          </a:p>
        </p:txBody>
      </p:sp>
      <p:sp>
        <p:nvSpPr>
          <p:cNvPr id="21" name="node-P04"/>
          <p:cNvSpPr/>
          <p:nvPr/>
        </p:nvSpPr>
        <p:spPr>
          <a:xfrm>
            <a:off x="5978347" y="1645920"/>
            <a:ext cx="1382573" cy="434523"/>
          </a:xfrm>
          <a:prstGeom prst="roundRect">
            <a:avLst>
              <a:gd name="adj" fmla="val 16835"/>
            </a:avLst>
          </a:prstGeom>
          <a:solidFill>
            <a:srgbClr val="47789F"/>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Yusuf</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dependent</a:t>
            </a:r>
            <a:endParaRPr lang="en-US" sz="1000" dirty="0"/>
          </a:p>
        </p:txBody>
      </p:sp>
      <p:sp>
        <p:nvSpPr>
          <p:cNvPr id="22" name="node-T01"/>
          <p:cNvSpPr/>
          <p:nvPr/>
        </p:nvSpPr>
        <p:spPr>
          <a:xfrm>
            <a:off x="777240" y="2870484"/>
            <a:ext cx="1382573" cy="434523"/>
          </a:xfrm>
          <a:prstGeom prst="roundRect">
            <a:avLst>
              <a:gd name="adj" fmla="val 16835"/>
            </a:avLst>
          </a:prstGeom>
          <a:solidFill>
            <a:srgbClr val="17375F"/>
          </a:solidFill>
          <a:ln w="12700">
            <a:solidFill>
              <a:srgbClr val="82B2D6"/>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School pickup</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14:45–15:25</a:t>
            </a:r>
            <a:endParaRPr lang="en-US" sz="1000" dirty="0"/>
          </a:p>
        </p:txBody>
      </p:sp>
      <p:sp>
        <p:nvSpPr>
          <p:cNvPr id="23" name="node-T02"/>
          <p:cNvSpPr/>
          <p:nvPr/>
        </p:nvSpPr>
        <p:spPr>
          <a:xfrm>
            <a:off x="777240" y="3581522"/>
            <a:ext cx="1382573" cy="434523"/>
          </a:xfrm>
          <a:prstGeom prst="roundRect">
            <a:avLst>
              <a:gd name="adj" fmla="val 16835"/>
            </a:avLst>
          </a:prstGeom>
          <a:solidFill>
            <a:srgbClr val="17375F"/>
          </a:solidFill>
          <a:ln w="12700">
            <a:solidFill>
              <a:srgbClr val="82B2D6"/>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Grocery</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15:55–16:30</a:t>
            </a:r>
            <a:endParaRPr lang="en-US" sz="1000" dirty="0"/>
          </a:p>
        </p:txBody>
      </p:sp>
      <p:sp>
        <p:nvSpPr>
          <p:cNvPr id="24" name="node-T03"/>
          <p:cNvSpPr/>
          <p:nvPr/>
        </p:nvSpPr>
        <p:spPr>
          <a:xfrm>
            <a:off x="777240" y="4292559"/>
            <a:ext cx="1382573" cy="434523"/>
          </a:xfrm>
          <a:prstGeom prst="roundRect">
            <a:avLst>
              <a:gd name="adj" fmla="val 16835"/>
            </a:avLst>
          </a:prstGeom>
          <a:solidFill>
            <a:srgbClr val="17375F"/>
          </a:solidFill>
          <a:ln w="12700">
            <a:solidFill>
              <a:srgbClr val="82B2D6"/>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Homework</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16:45–17:15</a:t>
            </a:r>
            <a:endParaRPr lang="en-US" sz="1000" dirty="0"/>
          </a:p>
        </p:txBody>
      </p:sp>
      <p:sp>
        <p:nvSpPr>
          <p:cNvPr id="25" name="node-T04"/>
          <p:cNvSpPr/>
          <p:nvPr/>
        </p:nvSpPr>
        <p:spPr>
          <a:xfrm>
            <a:off x="2423160" y="5003597"/>
            <a:ext cx="1382573" cy="434523"/>
          </a:xfrm>
          <a:prstGeom prst="roundRect">
            <a:avLst>
              <a:gd name="adj" fmla="val 16835"/>
            </a:avLst>
          </a:prstGeom>
          <a:solidFill>
            <a:srgbClr val="17375F"/>
          </a:solidFill>
          <a:ln w="12700">
            <a:solidFill>
              <a:srgbClr val="82B2D6"/>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Dinner</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17:30–18:00</a:t>
            </a:r>
            <a:endParaRPr lang="en-US" sz="1000" dirty="0"/>
          </a:p>
        </p:txBody>
      </p:sp>
      <p:sp>
        <p:nvSpPr>
          <p:cNvPr id="26" name="node-M01"/>
          <p:cNvSpPr/>
          <p:nvPr/>
        </p:nvSpPr>
        <p:spPr>
          <a:xfrm>
            <a:off x="5978347" y="3502518"/>
            <a:ext cx="1316736" cy="434523"/>
          </a:xfrm>
          <a:prstGeom prst="roundRect">
            <a:avLst>
              <a:gd name="adj" fmla="val 16835"/>
            </a:avLst>
          </a:prstGeom>
          <a:solidFill>
            <a:srgbClr val="102B4E"/>
          </a:solidFill>
          <a:ln w="12700">
            <a:solidFill>
              <a:srgbClr val="82B2D6"/>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Yusuf arrived home</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milestone M01</a:t>
            </a:r>
            <a:endParaRPr lang="en-US" sz="1000" dirty="0"/>
          </a:p>
        </p:txBody>
      </p:sp>
      <p:sp>
        <p:nvSpPr>
          <p:cNvPr id="27" name="node-R01"/>
          <p:cNvSpPr/>
          <p:nvPr/>
        </p:nvSpPr>
        <p:spPr>
          <a:xfrm>
            <a:off x="7558430" y="2751978"/>
            <a:ext cx="1250899" cy="434523"/>
          </a:xfrm>
          <a:prstGeom prst="roundRect">
            <a:avLst>
              <a:gd name="adj" fmla="val 16835"/>
            </a:avLst>
          </a:prstGeom>
          <a:solidFill>
            <a:srgbClr val="102B4E"/>
          </a:solidFill>
          <a:ln w="12700">
            <a:solidFill>
              <a:srgbClr val="82B2D6"/>
            </a:solidFill>
            <a:prstDash val="dash"/>
          </a:ln>
        </p:spPr>
        <p:txBody>
          <a:bodyPr wrap="square" lIns="25400" tIns="76200" rIns="76200" bIns="25400" rtlCol="0" anchor="ctr"/>
          <a:lstStyle/>
          <a:p>
            <a:pPr algn="l" indent="0" marL="0">
              <a:buNone/>
            </a:pPr>
            <a:r>
              <a:rPr lang="en-US" sz="1000" b="1" dirty="0">
                <a:solidFill>
                  <a:srgbClr val="82B2D6"/>
                </a:solidFill>
                <a:latin typeface="Calibri" pitchFamily="34" charset="0"/>
                <a:ea typeface="Calibri" pitchFamily="34" charset="-122"/>
                <a:cs typeface="Calibri" pitchFamily="34" charset="-120"/>
              </a:rPr>
              <a:t>Family sedan</a:t>
            </a:r>
            <a:endParaRPr lang="en-US" sz="1000" dirty="0"/>
          </a:p>
          <a:p>
            <a:pPr algn="l" indent="0" marL="0">
              <a:buNone/>
            </a:pPr>
            <a:r>
              <a:rPr lang="en-US" sz="1000" dirty="0">
                <a:solidFill>
                  <a:srgbClr val="82B2D6"/>
                </a:solidFill>
                <a:latin typeface="Consolas" pitchFamily="34" charset="0"/>
                <a:ea typeface="Consolas" pitchFamily="34" charset="-122"/>
                <a:cs typeface="Consolas" pitchFamily="34" charset="-120"/>
              </a:rPr>
              <a:t>vehicle · 5</a:t>
            </a:r>
            <a:endParaRPr lang="en-US" sz="1000" dirty="0"/>
          </a:p>
        </p:txBody>
      </p:sp>
      <p:sp>
        <p:nvSpPr>
          <p:cNvPr id="28" name="node-R04"/>
          <p:cNvSpPr/>
          <p:nvPr/>
        </p:nvSpPr>
        <p:spPr>
          <a:xfrm>
            <a:off x="7558430" y="3384012"/>
            <a:ext cx="1250899" cy="434523"/>
          </a:xfrm>
          <a:prstGeom prst="roundRect">
            <a:avLst>
              <a:gd name="adj" fmla="val 16835"/>
            </a:avLst>
          </a:prstGeom>
          <a:solidFill>
            <a:srgbClr val="102B4E"/>
          </a:solidFill>
          <a:ln w="12700">
            <a:solidFill>
              <a:srgbClr val="82B2D6"/>
            </a:solidFill>
            <a:prstDash val="dash"/>
          </a:ln>
        </p:spPr>
        <p:txBody>
          <a:bodyPr wrap="square" lIns="25400" tIns="76200" rIns="76200" bIns="25400" rtlCol="0" anchor="ctr"/>
          <a:lstStyle/>
          <a:p>
            <a:pPr algn="l" indent="0" marL="0">
              <a:buNone/>
            </a:pPr>
            <a:r>
              <a:rPr lang="en-US" sz="1000" b="1" dirty="0">
                <a:solidFill>
                  <a:srgbClr val="82B2D6"/>
                </a:solidFill>
                <a:latin typeface="Calibri" pitchFamily="34" charset="0"/>
                <a:ea typeface="Calibri" pitchFamily="34" charset="-122"/>
                <a:cs typeface="Calibri" pitchFamily="34" charset="-120"/>
              </a:rPr>
              <a:t>Child restraint</a:t>
            </a:r>
            <a:endParaRPr lang="en-US" sz="1000" dirty="0"/>
          </a:p>
          <a:p>
            <a:pPr algn="l" indent="0" marL="0">
              <a:buNone/>
            </a:pPr>
            <a:r>
              <a:rPr lang="en-US" sz="1000" dirty="0">
                <a:solidFill>
                  <a:srgbClr val="82B2D6"/>
                </a:solidFill>
                <a:latin typeface="Consolas" pitchFamily="34" charset="0"/>
                <a:ea typeface="Consolas" pitchFamily="34" charset="-122"/>
                <a:cs typeface="Consolas" pitchFamily="34" charset="-120"/>
              </a:rPr>
              <a:t>cap 1</a:t>
            </a:r>
            <a:endParaRPr lang="en-US" sz="1000" dirty="0"/>
          </a:p>
        </p:txBody>
      </p:sp>
      <p:sp>
        <p:nvSpPr>
          <p:cNvPr id="29" name="node-R03"/>
          <p:cNvSpPr/>
          <p:nvPr/>
        </p:nvSpPr>
        <p:spPr>
          <a:xfrm>
            <a:off x="7558430" y="4016045"/>
            <a:ext cx="1250899" cy="434523"/>
          </a:xfrm>
          <a:prstGeom prst="roundRect">
            <a:avLst>
              <a:gd name="adj" fmla="val 16835"/>
            </a:avLst>
          </a:prstGeom>
          <a:solidFill>
            <a:srgbClr val="102B4E"/>
          </a:solidFill>
          <a:ln w="12700">
            <a:solidFill>
              <a:srgbClr val="82B2D6"/>
            </a:solidFill>
            <a:prstDash val="dash"/>
          </a:ln>
        </p:spPr>
        <p:txBody>
          <a:bodyPr wrap="square" lIns="25400" tIns="76200" rIns="76200" bIns="25400" rtlCol="0" anchor="ctr"/>
          <a:lstStyle/>
          <a:p>
            <a:pPr algn="l" indent="0" marL="0">
              <a:buNone/>
            </a:pPr>
            <a:r>
              <a:rPr lang="en-US" sz="1000" b="1" dirty="0">
                <a:solidFill>
                  <a:srgbClr val="82B2D6"/>
                </a:solidFill>
                <a:latin typeface="Calibri" pitchFamily="34" charset="0"/>
                <a:ea typeface="Calibri" pitchFamily="34" charset="-122"/>
                <a:cs typeface="Calibri" pitchFamily="34" charset="-120"/>
              </a:rPr>
              <a:t>Homework area</a:t>
            </a:r>
            <a:endParaRPr lang="en-US" sz="1000" dirty="0"/>
          </a:p>
          <a:p>
            <a:pPr algn="l" indent="0" marL="0">
              <a:buNone/>
            </a:pPr>
            <a:r>
              <a:rPr lang="en-US" sz="1000" dirty="0">
                <a:solidFill>
                  <a:srgbClr val="82B2D6"/>
                </a:solidFill>
                <a:latin typeface="Consolas" pitchFamily="34" charset="0"/>
                <a:ea typeface="Consolas" pitchFamily="34" charset="-122"/>
                <a:cs typeface="Consolas" pitchFamily="34" charset="-120"/>
              </a:rPr>
              <a:t>cap 1</a:t>
            </a:r>
            <a:endParaRPr lang="en-US" sz="1000" dirty="0"/>
          </a:p>
        </p:txBody>
      </p:sp>
      <p:sp>
        <p:nvSpPr>
          <p:cNvPr id="30" name="node-R02"/>
          <p:cNvSpPr/>
          <p:nvPr/>
        </p:nvSpPr>
        <p:spPr>
          <a:xfrm>
            <a:off x="7558430" y="4648078"/>
            <a:ext cx="1250899" cy="434523"/>
          </a:xfrm>
          <a:prstGeom prst="roundRect">
            <a:avLst>
              <a:gd name="adj" fmla="val 16835"/>
            </a:avLst>
          </a:prstGeom>
          <a:solidFill>
            <a:srgbClr val="102B4E"/>
          </a:solidFill>
          <a:ln w="12700">
            <a:solidFill>
              <a:srgbClr val="82B2D6"/>
            </a:solidFill>
            <a:prstDash val="dash"/>
          </a:ln>
        </p:spPr>
        <p:txBody>
          <a:bodyPr wrap="square" lIns="25400" tIns="76200" rIns="76200" bIns="25400" rtlCol="0" anchor="ctr"/>
          <a:lstStyle/>
          <a:p>
            <a:pPr algn="l" indent="0" marL="0">
              <a:buNone/>
            </a:pPr>
            <a:r>
              <a:rPr lang="en-US" sz="1000" b="1" dirty="0">
                <a:solidFill>
                  <a:srgbClr val="82B2D6"/>
                </a:solidFill>
                <a:latin typeface="Calibri" pitchFamily="34" charset="0"/>
                <a:ea typeface="Calibri" pitchFamily="34" charset="-122"/>
                <a:cs typeface="Calibri" pitchFamily="34" charset="-120"/>
              </a:rPr>
              <a:t>Home kitchen</a:t>
            </a:r>
            <a:endParaRPr lang="en-US" sz="1000" dirty="0"/>
          </a:p>
          <a:p>
            <a:pPr algn="l" indent="0" marL="0">
              <a:buNone/>
            </a:pPr>
            <a:r>
              <a:rPr lang="en-US" sz="1000" dirty="0">
                <a:solidFill>
                  <a:srgbClr val="82B2D6"/>
                </a:solidFill>
                <a:latin typeface="Consolas" pitchFamily="34" charset="0"/>
                <a:ea typeface="Consolas" pitchFamily="34" charset="-122"/>
                <a:cs typeface="Consolas" pitchFamily="34" charset="-120"/>
              </a:rPr>
              <a:t>cap 1</a:t>
            </a:r>
            <a:endParaRPr lang="en-US" sz="1000" dirty="0"/>
          </a:p>
        </p:txBody>
      </p:sp>
      <p:sp>
        <p:nvSpPr>
          <p:cNvPr id="31" name="Text 28"/>
          <p:cNvSpPr txBox="1"/>
          <p:nvPr/>
        </p:nvSpPr>
        <p:spPr>
          <a:xfrm>
            <a:off x="9372600" y="1463040"/>
            <a:ext cx="2286000" cy="731520"/>
          </a:xfrm>
          <a:prstGeom prst="rect">
            <a:avLst/>
          </a:prstGeom>
          <a:noFill/>
          <a:ln/>
        </p:spPr>
        <p:txBody>
          <a:bodyPr wrap="square" lIns="0" tIns="0" rIns="0" bIns="0" rtlCol="0" anchor="t"/>
          <a:lstStyle/>
          <a:p>
            <a:pPr indent="0" marL="0">
              <a:buNone/>
            </a:pPr>
            <a:r>
              <a:rPr lang="en-US" sz="1800" b="1" dirty="0">
                <a:solidFill>
                  <a:srgbClr val="102B4E"/>
                </a:solidFill>
                <a:latin typeface="Calibri" pitchFamily="34" charset="0"/>
                <a:ea typeface="Calibri" pitchFamily="34" charset="-122"/>
                <a:cs typeface="Calibri" pitchFamily="34" charset="-120"/>
              </a:rPr>
              <a:t>3 responsibilities → 1 caregiver</a:t>
            </a:r>
            <a:endParaRPr lang="en-US" sz="1800" dirty="0"/>
          </a:p>
        </p:txBody>
      </p:sp>
      <p:sp>
        <p:nvSpPr>
          <p:cNvPr id="32" name="Text 29"/>
          <p:cNvSpPr txBox="1"/>
          <p:nvPr/>
        </p:nvSpPr>
        <p:spPr>
          <a:xfrm>
            <a:off x="9372600" y="2148840"/>
            <a:ext cx="2286000" cy="7315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Pickup, groceries and homework are all assigned to Amina.</a:t>
            </a:r>
            <a:endParaRPr lang="en-US" sz="1200" dirty="0"/>
          </a:p>
        </p:txBody>
      </p:sp>
      <p:sp>
        <p:nvSpPr>
          <p:cNvPr id="33" name="Text 30"/>
          <p:cNvSpPr txBox="1"/>
          <p:nvPr/>
        </p:nvSpPr>
        <p:spPr>
          <a:xfrm>
            <a:off x="9372600" y="2971800"/>
            <a:ext cx="2286000" cy="365760"/>
          </a:xfrm>
          <a:prstGeom prst="rect">
            <a:avLst/>
          </a:prstGeom>
          <a:noFill/>
          <a:ln/>
        </p:spPr>
        <p:txBody>
          <a:bodyPr wrap="square" lIns="0" tIns="0" rIns="0" bIns="0" rtlCol="0" anchor="t"/>
          <a:lstStyle/>
          <a:p>
            <a:pPr indent="0" marL="0">
              <a:buNone/>
            </a:pPr>
            <a:r>
              <a:rPr lang="en-US" sz="1800" b="1" dirty="0">
                <a:solidFill>
                  <a:srgbClr val="102B4E"/>
                </a:solidFill>
                <a:latin typeface="Calibri" pitchFamily="34" charset="0"/>
                <a:ea typeface="Calibri" pitchFamily="34" charset="-122"/>
                <a:cs typeface="Calibri" pitchFamily="34" charset="-120"/>
              </a:rPr>
              <a:t>A shared vehicle</a:t>
            </a:r>
            <a:endParaRPr lang="en-US" sz="1800" dirty="0"/>
          </a:p>
        </p:txBody>
      </p:sp>
      <p:sp>
        <p:nvSpPr>
          <p:cNvPr id="34" name="Text 31"/>
          <p:cNvSpPr txBox="1"/>
          <p:nvPr/>
        </p:nvSpPr>
        <p:spPr>
          <a:xfrm>
            <a:off x="9372600" y="3310128"/>
            <a:ext cx="2286000" cy="7315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Pickup and groceries both need the same sedan, one at a time.</a:t>
            </a:r>
            <a:endParaRPr lang="en-US" sz="1200" dirty="0"/>
          </a:p>
        </p:txBody>
      </p:sp>
      <p:sp>
        <p:nvSpPr>
          <p:cNvPr id="35" name="Text 32"/>
          <p:cNvSpPr txBox="1"/>
          <p:nvPr/>
        </p:nvSpPr>
        <p:spPr>
          <a:xfrm>
            <a:off x="9372600" y="4160520"/>
            <a:ext cx="2286000" cy="365760"/>
          </a:xfrm>
          <a:prstGeom prst="rect">
            <a:avLst/>
          </a:prstGeom>
          <a:noFill/>
          <a:ln/>
        </p:spPr>
        <p:txBody>
          <a:bodyPr wrap="square" lIns="0" tIns="0" rIns="0" bIns="0" rtlCol="0" anchor="t"/>
          <a:lstStyle/>
          <a:p>
            <a:pPr indent="0" marL="0">
              <a:buNone/>
            </a:pPr>
            <a:r>
              <a:rPr lang="en-US" sz="1800" b="1" dirty="0">
                <a:solidFill>
                  <a:srgbClr val="102B4E"/>
                </a:solidFill>
                <a:latin typeface="Calibri" pitchFamily="34" charset="0"/>
                <a:ea typeface="Calibri" pitchFamily="34" charset="-122"/>
                <a:cs typeface="Calibri" pitchFamily="34" charset="-120"/>
              </a:rPr>
              <a:t>A gating milestone</a:t>
            </a:r>
            <a:endParaRPr lang="en-US" sz="1800" dirty="0"/>
          </a:p>
        </p:txBody>
      </p:sp>
      <p:sp>
        <p:nvSpPr>
          <p:cNvPr id="36" name="Text 33"/>
          <p:cNvSpPr txBox="1"/>
          <p:nvPr/>
        </p:nvSpPr>
        <p:spPr>
          <a:xfrm>
            <a:off x="9372600" y="4498848"/>
            <a:ext cx="2286000" cy="7315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Homework can only happen after “Yusuf arrived home”.</a:t>
            </a:r>
            <a:endParaRPr lang="en-US" sz="1200" dirty="0"/>
          </a:p>
        </p:txBody>
      </p:sp>
      <p:sp>
        <p:nvSpPr>
          <p:cNvPr id="37" name="Text 34"/>
          <p:cNvSpPr txBox="1"/>
          <p:nvPr/>
        </p:nvSpPr>
        <p:spPr>
          <a:xfrm>
            <a:off x="548640" y="5943600"/>
            <a:ext cx="8595360" cy="228600"/>
          </a:xfrm>
          <a:prstGeom prst="rect">
            <a:avLst/>
          </a:prstGeom>
          <a:noFill/>
          <a:ln/>
        </p:spPr>
        <p:txBody>
          <a:bodyPr wrap="square" lIns="0" tIns="0" rIns="0" bIns="0" rtlCol="0" anchor="t"/>
          <a:lstStyle/>
          <a:p>
            <a:pPr indent="0" marL="0">
              <a:buNone/>
            </a:pPr>
            <a:r>
              <a:rPr lang="en-US" sz="1000" dirty="0">
                <a:solidFill>
                  <a:srgbClr val="5B6B7F"/>
                </a:solidFill>
                <a:latin typeface="Consolas" pitchFamily="34" charset="0"/>
                <a:ea typeface="Consolas" pitchFamily="34" charset="-122"/>
                <a:cs typeface="Consolas" pitchFamily="34" charset="-120"/>
              </a:rPr>
              <a:t>solid = assigned to / enables   dashed = uses resource   dotted arrow = depends on / serves dependent</a:t>
            </a:r>
            <a:endParaRPr lang="en-US" sz="1000" dirty="0"/>
          </a:p>
        </p:txBody>
      </p:sp>
      <p:sp>
        <p:nvSpPr>
          <p:cNvPr id="38"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Amina fixture; edge types from backend/app/services/dependency_graph.py. Native, editable diagram.</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 · THE PROBLEM</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Why calendars and task lists are not enough</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3200400"/>
                <a:gridCol w="2834640"/>
                <a:gridCol w="4114800"/>
                <a:gridCol w="914400"/>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Function</a:t>
                      </a:r>
                      <a:endParaRPr lang="en-US" sz="14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102B4E"/>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Typical calendar / task list</a:t>
                      </a:r>
                      <a:endParaRPr lang="en-US" sz="14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102B4E"/>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DOMINO</a:t>
                      </a:r>
                      <a:endParaRPr lang="en-US" sz="14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102B4E"/>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Slide</a:t>
                      </a:r>
                      <a:endParaRPr lang="en-US" sz="14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102B4E"/>
                    </a:solidFill>
                  </a:tcPr>
                </a:tc>
              </a:tr>
              <a:tr h="566928">
                <a:tc>
                  <a:txBody>
                    <a:bodyPr/>
                    <a:lstStyle/>
                    <a:p>
                      <a:pPr indent="0" marL="0">
                        <a:buNone/>
                      </a:pPr>
                      <a:r>
                        <a:rPr lang="en-US" sz="1400" b="1" dirty="0">
                          <a:solidFill>
                            <a:srgbClr val="102B4E"/>
                          </a:solidFill>
                          <a:latin typeface="Calibri" pitchFamily="34" charset="0"/>
                          <a:ea typeface="Calibri" pitchFamily="34" charset="-122"/>
                          <a:cs typeface="Calibri" pitchFamily="34" charset="-120"/>
                        </a:rPr>
                        <a:t>Records scheduled events</a:t>
                      </a:r>
                      <a:endParaRPr lang="en-US" sz="14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b="1" dirty="0">
                          <a:solidFill>
                            <a:srgbClr val="2B7557"/>
                          </a:solidFill>
                          <a:latin typeface="Calibri" pitchFamily="34" charset="0"/>
                          <a:ea typeface="Calibri" pitchFamily="34" charset="-122"/>
                          <a:cs typeface="Calibri" pitchFamily="34" charset="-120"/>
                        </a:rPr>
                        <a:t>Yes — its core purpose</a:t>
                      </a:r>
                      <a:endParaRPr lang="en-US" sz="13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b="1" dirty="0">
                          <a:solidFill>
                            <a:srgbClr val="255E99"/>
                          </a:solidFill>
                          <a:latin typeface="Calibri" pitchFamily="34" charset="0"/>
                          <a:ea typeface="Calibri" pitchFamily="34" charset="-122"/>
                          <a:cs typeface="Calibri" pitchFamily="34" charset="-120"/>
                        </a:rPr>
                        <a:t>✓  Household model with baseline schedule</a:t>
                      </a:r>
                      <a:endParaRPr lang="en-US" sz="13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B7F"/>
                          </a:solidFill>
                          <a:latin typeface="Consolas" pitchFamily="34" charset="0"/>
                          <a:ea typeface="Consolas" pitchFamily="34" charset="-122"/>
                          <a:cs typeface="Consolas" pitchFamily="34" charset="-120"/>
                        </a:rPr>
                        <a:t>S07</a:t>
                      </a:r>
                      <a:endParaRPr lang="en-US" sz="1200" dirty="0">
                        <a:latin typeface="Consolas" charset="0"/>
                        <a:ea typeface="Consolas" charset="0"/>
                        <a:cs typeface="Consolas"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02B4E"/>
                          </a:solidFill>
                          <a:latin typeface="Calibri" pitchFamily="34" charset="0"/>
                          <a:ea typeface="Calibri" pitchFamily="34" charset="-122"/>
                          <a:cs typeface="Calibri" pitchFamily="34" charset="-120"/>
                        </a:rPr>
                        <a:t>Models dependency relationships</a:t>
                      </a:r>
                      <a:endParaRPr lang="en-US" sz="14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dirty="0">
                          <a:solidFill>
                            <a:srgbClr val="5B6B7F"/>
                          </a:solidFill>
                          <a:latin typeface="Calibri" pitchFamily="34" charset="0"/>
                          <a:ea typeface="Calibri" pitchFamily="34" charset="-122"/>
                          <a:cs typeface="Calibri" pitchFamily="34" charset="-120"/>
                        </a:rPr>
                        <a:t>Typically limited or absent</a:t>
                      </a:r>
                      <a:endParaRPr lang="en-US" sz="13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b="1" dirty="0">
                          <a:solidFill>
                            <a:srgbClr val="255E99"/>
                          </a:solidFill>
                          <a:latin typeface="Calibri" pitchFamily="34" charset="0"/>
                          <a:ea typeface="Calibri" pitchFamily="34" charset="-122"/>
                          <a:cs typeface="Calibri" pitchFamily="34" charset="-120"/>
                        </a:rPr>
                        <a:t>✓  Typed graph: assigned-to, enables, depends-on …</a:t>
                      </a:r>
                      <a:endParaRPr lang="en-US" sz="13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B7F"/>
                          </a:solidFill>
                          <a:latin typeface="Consolas" pitchFamily="34" charset="0"/>
                          <a:ea typeface="Consolas" pitchFamily="34" charset="-122"/>
                          <a:cs typeface="Consolas" pitchFamily="34" charset="-120"/>
                        </a:rPr>
                        <a:t>S12</a:t>
                      </a:r>
                      <a:endParaRPr lang="en-US" sz="1200" dirty="0">
                        <a:latin typeface="Consolas" charset="0"/>
                        <a:ea typeface="Consolas" charset="0"/>
                        <a:cs typeface="Consolas"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02B4E"/>
                          </a:solidFill>
                          <a:latin typeface="Calibri" pitchFamily="34" charset="0"/>
                          <a:ea typeface="Calibri" pitchFamily="34" charset="-122"/>
                          <a:cs typeface="Calibri" pitchFamily="34" charset="-120"/>
                        </a:rPr>
                        <a:t>Detects cascading consequences</a:t>
                      </a:r>
                      <a:endParaRPr lang="en-US" sz="14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dirty="0">
                          <a:solidFill>
                            <a:srgbClr val="5B6B7F"/>
                          </a:solidFill>
                          <a:latin typeface="Calibri" pitchFamily="34" charset="0"/>
                          <a:ea typeface="Calibri" pitchFamily="34" charset="-122"/>
                          <a:cs typeface="Calibri" pitchFamily="34" charset="-120"/>
                        </a:rPr>
                        <a:t>Typically limited or absent</a:t>
                      </a:r>
                      <a:endParaRPr lang="en-US" sz="13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b="1" dirty="0">
                          <a:solidFill>
                            <a:srgbClr val="255E99"/>
                          </a:solidFill>
                          <a:latin typeface="Calibri" pitchFamily="34" charset="0"/>
                          <a:ea typeface="Calibri" pitchFamily="34" charset="-122"/>
                          <a:cs typeface="Calibri" pitchFamily="34" charset="-120"/>
                        </a:rPr>
                        <a:t>✓  Direct and downstream impact with causal paths</a:t>
                      </a:r>
                      <a:endParaRPr lang="en-US" sz="13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B7F"/>
                          </a:solidFill>
                          <a:latin typeface="Consolas" pitchFamily="34" charset="0"/>
                          <a:ea typeface="Consolas" pitchFamily="34" charset="-122"/>
                          <a:cs typeface="Consolas" pitchFamily="34" charset="-120"/>
                        </a:rPr>
                        <a:t>S17</a:t>
                      </a:r>
                      <a:endParaRPr lang="en-US" sz="1200" dirty="0">
                        <a:latin typeface="Consolas" charset="0"/>
                        <a:ea typeface="Consolas" charset="0"/>
                        <a:cs typeface="Consolas"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02B4E"/>
                          </a:solidFill>
                          <a:latin typeface="Calibri" pitchFamily="34" charset="0"/>
                          <a:ea typeface="Calibri" pitchFamily="34" charset="-122"/>
                          <a:cs typeface="Calibri" pitchFamily="34" charset="-120"/>
                        </a:rPr>
                        <a:t>Calculates feasible alternatives</a:t>
                      </a:r>
                      <a:endParaRPr lang="en-US" sz="14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dirty="0">
                          <a:solidFill>
                            <a:srgbClr val="5B6B7F"/>
                          </a:solidFill>
                          <a:latin typeface="Calibri" pitchFamily="34" charset="0"/>
                          <a:ea typeface="Calibri" pitchFamily="34" charset="-122"/>
                          <a:cs typeface="Calibri" pitchFamily="34" charset="-120"/>
                        </a:rPr>
                        <a:t>Typically limited or absent</a:t>
                      </a:r>
                      <a:endParaRPr lang="en-US" sz="13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b="1" dirty="0">
                          <a:solidFill>
                            <a:srgbClr val="255E99"/>
                          </a:solidFill>
                          <a:latin typeface="Calibri" pitchFamily="34" charset="0"/>
                          <a:ea typeface="Calibri" pitchFamily="34" charset="-122"/>
                          <a:cs typeface="Calibri" pitchFamily="34" charset="-120"/>
                        </a:rPr>
                        <a:t>✓  CP-SAT optimization with priority tiers</a:t>
                      </a:r>
                      <a:endParaRPr lang="en-US" sz="13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B7F"/>
                          </a:solidFill>
                          <a:latin typeface="Consolas" pitchFamily="34" charset="0"/>
                          <a:ea typeface="Consolas" pitchFamily="34" charset="-122"/>
                          <a:cs typeface="Consolas" pitchFamily="34" charset="-120"/>
                        </a:rPr>
                        <a:t>S21</a:t>
                      </a:r>
                      <a:endParaRPr lang="en-US" sz="1200" dirty="0">
                        <a:latin typeface="Consolas" charset="0"/>
                        <a:ea typeface="Consolas" charset="0"/>
                        <a:cs typeface="Consolas"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02B4E"/>
                          </a:solidFill>
                          <a:latin typeface="Calibri" pitchFamily="34" charset="0"/>
                          <a:ea typeface="Calibri" pitchFamily="34" charset="-122"/>
                          <a:cs typeface="Calibri" pitchFamily="34" charset="-120"/>
                        </a:rPr>
                        <a:t>Verifies constraints</a:t>
                      </a:r>
                      <a:endParaRPr lang="en-US" sz="14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dirty="0">
                          <a:solidFill>
                            <a:srgbClr val="5B6B7F"/>
                          </a:solidFill>
                          <a:latin typeface="Calibri" pitchFamily="34" charset="0"/>
                          <a:ea typeface="Calibri" pitchFamily="34" charset="-122"/>
                          <a:cs typeface="Calibri" pitchFamily="34" charset="-120"/>
                        </a:rPr>
                        <a:t>Typically limited or absent</a:t>
                      </a:r>
                      <a:endParaRPr lang="en-US" sz="13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b="1" dirty="0">
                          <a:solidFill>
                            <a:srgbClr val="255E99"/>
                          </a:solidFill>
                          <a:latin typeface="Calibri" pitchFamily="34" charset="0"/>
                          <a:ea typeface="Calibri" pitchFamily="34" charset="-122"/>
                          <a:cs typeface="Calibri" pitchFamily="34" charset="-120"/>
                        </a:rPr>
                        <a:t>✓  Independent 18-rule verifier</a:t>
                      </a:r>
                      <a:endParaRPr lang="en-US" sz="13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B7F"/>
                          </a:solidFill>
                          <a:latin typeface="Consolas" pitchFamily="34" charset="0"/>
                          <a:ea typeface="Consolas" pitchFamily="34" charset="-122"/>
                          <a:cs typeface="Consolas" pitchFamily="34" charset="-120"/>
                        </a:rPr>
                        <a:t>S23</a:t>
                      </a:r>
                      <a:endParaRPr lang="en-US" sz="1200" dirty="0">
                        <a:latin typeface="Consolas" charset="0"/>
                        <a:ea typeface="Consolas" charset="0"/>
                        <a:cs typeface="Consolas"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02B4E"/>
                          </a:solidFill>
                          <a:latin typeface="Calibri" pitchFamily="34" charset="0"/>
                          <a:ea typeface="Calibri" pitchFamily="34" charset="-122"/>
                          <a:cs typeface="Calibri" pitchFamily="34" charset="-120"/>
                        </a:rPr>
                        <a:t>Supports counterfactual comparison</a:t>
                      </a:r>
                      <a:endParaRPr lang="en-US" sz="14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dirty="0">
                          <a:solidFill>
                            <a:srgbClr val="5B6B7F"/>
                          </a:solidFill>
                          <a:latin typeface="Calibri" pitchFamily="34" charset="0"/>
                          <a:ea typeface="Calibri" pitchFamily="34" charset="-122"/>
                          <a:cs typeface="Calibri" pitchFamily="34" charset="-120"/>
                        </a:rPr>
                        <a:t>Typically limited or absent</a:t>
                      </a:r>
                      <a:endParaRPr lang="en-US" sz="13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b="1" dirty="0">
                          <a:solidFill>
                            <a:srgbClr val="255E99"/>
                          </a:solidFill>
                          <a:latin typeface="Calibri" pitchFamily="34" charset="0"/>
                          <a:ea typeface="Calibri" pitchFamily="34" charset="-122"/>
                          <a:cs typeface="Calibri" pitchFamily="34" charset="-120"/>
                        </a:rPr>
                        <a:t>✓  Recomputed what-if side by side</a:t>
                      </a:r>
                      <a:endParaRPr lang="en-US" sz="1300" dirty="0">
                        <a:latin typeface="Calibri" charset="0"/>
                        <a:ea typeface="Calibri" charset="0"/>
                        <a:cs typeface="Calibri"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B7F"/>
                          </a:solidFill>
                          <a:latin typeface="Consolas" pitchFamily="34" charset="0"/>
                          <a:ea typeface="Consolas" pitchFamily="34" charset="-122"/>
                          <a:cs typeface="Consolas" pitchFamily="34" charset="-120"/>
                        </a:rPr>
                        <a:t>S19</a:t>
                      </a:r>
                      <a:endParaRPr lang="en-US" sz="1200" dirty="0">
                        <a:latin typeface="Consolas" charset="0"/>
                        <a:ea typeface="Consolas" charset="0"/>
                        <a:cs typeface="Consolas" charset="0"/>
                      </a:endParaRPr>
                    </a:p>
                  </a:txBody>
                  <a:tcPr marL="109728" marR="109728" marT="36576" marB="36576"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5577840"/>
            <a:ext cx="11064240" cy="45720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This compares common scheduling functions with the broader requirements of recovering from a disruption. Individual products vary; no claim is made about any specific product.</a:t>
            </a:r>
            <a:endParaRPr lang="en-US" sz="13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 · THE PROBLEM → THE SOLUTION</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The DOMINO solution</a:t>
            </a:r>
            <a:endParaRPr lang="en-US" sz="3200" dirty="0"/>
          </a:p>
        </p:txBody>
      </p:sp>
      <p:sp>
        <p:nvSpPr>
          <p:cNvPr id="5" name="Text 2"/>
          <p:cNvSpPr txBox="1"/>
          <p:nvPr/>
        </p:nvSpPr>
        <p:spPr>
          <a:xfrm>
            <a:off x="548640" y="1417320"/>
            <a:ext cx="11064240" cy="868680"/>
          </a:xfrm>
          <a:prstGeom prst="rect">
            <a:avLst/>
          </a:prstGeom>
          <a:noFill/>
          <a:ln/>
        </p:spPr>
        <p:txBody>
          <a:bodyPr wrap="square" lIns="0" tIns="0" rIns="0" bIns="0" rtlCol="0" anchor="t"/>
          <a:lstStyle/>
          <a:p>
            <a:pPr indent="0" marL="0">
              <a:buNone/>
            </a:pPr>
            <a:r>
              <a:rPr lang="en-US" sz="2600" b="1" dirty="0">
                <a:solidFill>
                  <a:srgbClr val="102B4E"/>
                </a:solidFill>
                <a:latin typeface="Calibri" pitchFamily="34" charset="0"/>
                <a:ea typeface="Calibri" pitchFamily="34" charset="-122"/>
                <a:cs typeface="Calibri" pitchFamily="34" charset="-120"/>
              </a:rPr>
              <a:t>DOMINO calculates how a family can recover when its original plan becomes impossible.</a:t>
            </a:r>
            <a:endParaRPr lang="en-US" sz="2600" dirty="0"/>
          </a:p>
        </p:txBody>
      </p:sp>
      <p:sp>
        <p:nvSpPr>
          <p:cNvPr id="6" name="Text 3"/>
          <p:cNvSpPr/>
          <p:nvPr/>
        </p:nvSpPr>
        <p:spPr>
          <a:xfrm>
            <a:off x="548640" y="2743200"/>
            <a:ext cx="2331720" cy="868680"/>
          </a:xfrm>
          <a:prstGeom prst="chevron">
            <a:avLst/>
          </a:prstGeom>
          <a:solidFill>
            <a:srgbClr val="82B2D6"/>
          </a:solidFill>
          <a:ln/>
        </p:spPr>
        <p:txBody>
          <a:bodyPr wrap="square" lIns="0" tIns="0" rIns="0" bIns="0" rtlCol="0" anchor="ctr"/>
          <a:lstStyle/>
          <a:p>
            <a:pPr algn="ctr" indent="0" marL="0">
              <a:buNone/>
            </a:pPr>
            <a:r>
              <a:rPr lang="en-US" sz="1500" b="1" dirty="0">
                <a:solidFill>
                  <a:srgbClr val="102B4E"/>
                </a:solidFill>
                <a:latin typeface="Calibri" pitchFamily="34" charset="0"/>
                <a:ea typeface="Calibri" pitchFamily="34" charset="-122"/>
                <a:cs typeface="Calibri" pitchFamily="34" charset="-120"/>
              </a:rPr>
              <a:t>1  Understand</a:t>
            </a:r>
            <a:endParaRPr lang="en-US" sz="1500" dirty="0"/>
          </a:p>
        </p:txBody>
      </p:sp>
      <p:sp>
        <p:nvSpPr>
          <p:cNvPr id="7" name="Shape 4"/>
          <p:cNvSpPr/>
          <p:nvPr/>
        </p:nvSpPr>
        <p:spPr>
          <a:xfrm>
            <a:off x="594360" y="3840480"/>
            <a:ext cx="2057400" cy="1417320"/>
          </a:xfrm>
          <a:prstGeom prst="roundRect">
            <a:avLst>
              <a:gd name="adj" fmla="val 5161"/>
            </a:avLst>
          </a:prstGeom>
          <a:solidFill>
            <a:srgbClr val="FFFFFF"/>
          </a:solidFill>
          <a:ln w="12700">
            <a:solidFill>
              <a:srgbClr val="D3DDE8"/>
            </a:solidFill>
            <a:prstDash val="solid"/>
          </a:ln>
        </p:spPr>
      </p:sp>
      <p:sp>
        <p:nvSpPr>
          <p:cNvPr id="8" name="Text 5"/>
          <p:cNvSpPr txBox="1"/>
          <p:nvPr/>
        </p:nvSpPr>
        <p:spPr>
          <a:xfrm>
            <a:off x="713232" y="3950208"/>
            <a:ext cx="1828800" cy="1188720"/>
          </a:xfrm>
          <a:prstGeom prst="rect">
            <a:avLst/>
          </a:prstGeom>
          <a:noFill/>
          <a:ln/>
        </p:spPr>
        <p:txBody>
          <a:bodyPr wrap="square" lIns="0" tIns="0" rIns="0" bIns="0" rtlCol="0" anchor="t"/>
          <a:lstStyle/>
          <a:p>
            <a:pPr indent="0" marL="0">
              <a:buNone/>
            </a:pPr>
            <a:r>
              <a:rPr lang="en-US" sz="1400" dirty="0">
                <a:solidFill>
                  <a:srgbClr val="1B2533"/>
                </a:solidFill>
                <a:latin typeface="Calibri" pitchFamily="34" charset="0"/>
                <a:ea typeface="Calibri" pitchFamily="34" charset="-122"/>
                <a:cs typeface="Calibri" pitchFamily="34" charset="-120"/>
              </a:rPr>
              <a:t>Text, preset or form becomes a structured event. A human confirms it.</a:t>
            </a:r>
            <a:endParaRPr lang="en-US" sz="1400" dirty="0"/>
          </a:p>
        </p:txBody>
      </p:sp>
      <p:sp>
        <p:nvSpPr>
          <p:cNvPr id="9" name="Text 6"/>
          <p:cNvSpPr/>
          <p:nvPr/>
        </p:nvSpPr>
        <p:spPr>
          <a:xfrm>
            <a:off x="640080" y="5394960"/>
            <a:ext cx="1965960" cy="329184"/>
          </a:xfrm>
          <a:prstGeom prst="roundRect">
            <a:avLst/>
          </a:prstGeom>
          <a:solidFill>
            <a:srgbClr val="FFFFFF"/>
          </a:solidFill>
          <a:ln w="12700">
            <a:solidFill>
              <a:srgbClr val="82B2D6"/>
            </a:solidFill>
          </a:ln>
        </p:spPr>
        <p:txBody>
          <a:bodyPr wrap="square" lIns="0" tIns="76200" rIns="76200" bIns="0" rtlCol="0" anchor="ctr"/>
          <a:lstStyle/>
          <a:p>
            <a:pPr algn="ctr" indent="0" marL="0">
              <a:buNone/>
            </a:pPr>
            <a:r>
              <a:rPr lang="en-US" sz="1100" b="1" dirty="0">
                <a:solidFill>
                  <a:srgbClr val="102B4E"/>
                </a:solidFill>
                <a:latin typeface="Calibri" pitchFamily="34" charset="0"/>
                <a:ea typeface="Calibri" pitchFamily="34" charset="-122"/>
                <a:cs typeface="Calibri" pitchFamily="34" charset="-120"/>
              </a:rPr>
              <a:t>Gemini + built-in parser</a:t>
            </a:r>
            <a:endParaRPr lang="en-US" sz="1100" dirty="0"/>
          </a:p>
        </p:txBody>
      </p:sp>
      <p:sp>
        <p:nvSpPr>
          <p:cNvPr id="10" name="Text 7"/>
          <p:cNvSpPr/>
          <p:nvPr/>
        </p:nvSpPr>
        <p:spPr>
          <a:xfrm>
            <a:off x="2788920" y="2743200"/>
            <a:ext cx="2331720" cy="868680"/>
          </a:xfrm>
          <a:prstGeom prst="chevron">
            <a:avLst/>
          </a:prstGeom>
          <a:solidFill>
            <a:srgbClr val="255E99"/>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  Analyze</a:t>
            </a:r>
            <a:endParaRPr lang="en-US" sz="1500" dirty="0"/>
          </a:p>
        </p:txBody>
      </p:sp>
      <p:sp>
        <p:nvSpPr>
          <p:cNvPr id="11" name="Shape 8"/>
          <p:cNvSpPr/>
          <p:nvPr/>
        </p:nvSpPr>
        <p:spPr>
          <a:xfrm>
            <a:off x="2834640" y="3840480"/>
            <a:ext cx="2057400" cy="1417320"/>
          </a:xfrm>
          <a:prstGeom prst="roundRect">
            <a:avLst>
              <a:gd name="adj" fmla="val 5161"/>
            </a:avLst>
          </a:prstGeom>
          <a:solidFill>
            <a:srgbClr val="FFFFFF"/>
          </a:solidFill>
          <a:ln w="12700">
            <a:solidFill>
              <a:srgbClr val="D3DDE8"/>
            </a:solidFill>
            <a:prstDash val="solid"/>
          </a:ln>
        </p:spPr>
      </p:sp>
      <p:sp>
        <p:nvSpPr>
          <p:cNvPr id="12" name="Text 9"/>
          <p:cNvSpPr txBox="1"/>
          <p:nvPr/>
        </p:nvSpPr>
        <p:spPr>
          <a:xfrm>
            <a:off x="2953512" y="3950208"/>
            <a:ext cx="1828800" cy="1188720"/>
          </a:xfrm>
          <a:prstGeom prst="rect">
            <a:avLst/>
          </a:prstGeom>
          <a:noFill/>
          <a:ln/>
        </p:spPr>
        <p:txBody>
          <a:bodyPr wrap="square" lIns="0" tIns="0" rIns="0" bIns="0" rtlCol="0" anchor="t"/>
          <a:lstStyle/>
          <a:p>
            <a:pPr indent="0" marL="0">
              <a:buNone/>
            </a:pPr>
            <a:r>
              <a:rPr lang="en-US" sz="1400" dirty="0">
                <a:solidFill>
                  <a:srgbClr val="1B2533"/>
                </a:solidFill>
                <a:latin typeface="Calibri" pitchFamily="34" charset="0"/>
                <a:ea typeface="Calibri" pitchFamily="34" charset="-122"/>
                <a:cs typeface="Calibri" pitchFamily="34" charset="-120"/>
              </a:rPr>
              <a:t>A typed dependency graph finds direct and downstream consequences.</a:t>
            </a:r>
            <a:endParaRPr lang="en-US" sz="1400" dirty="0"/>
          </a:p>
        </p:txBody>
      </p:sp>
      <p:sp>
        <p:nvSpPr>
          <p:cNvPr id="13" name="Text 10"/>
          <p:cNvSpPr/>
          <p:nvPr/>
        </p:nvSpPr>
        <p:spPr>
          <a:xfrm>
            <a:off x="2880360" y="5394960"/>
            <a:ext cx="1965960" cy="329184"/>
          </a:xfrm>
          <a:prstGeom prst="roundRect">
            <a:avLst/>
          </a:prstGeom>
          <a:solidFill>
            <a:srgbClr val="FFFFFF"/>
          </a:solidFill>
          <a:ln w="12700">
            <a:solidFill>
              <a:srgbClr val="255E99"/>
            </a:solidFill>
          </a:ln>
        </p:spPr>
        <p:txBody>
          <a:bodyPr wrap="square" lIns="0" tIns="76200" rIns="76200" bIns="0" rtlCol="0" anchor="ctr"/>
          <a:lstStyle/>
          <a:p>
            <a:pPr algn="ctr" indent="0" marL="0">
              <a:buNone/>
            </a:pPr>
            <a:r>
              <a:rPr lang="en-US" sz="1100" b="1" dirty="0">
                <a:solidFill>
                  <a:srgbClr val="102B4E"/>
                </a:solidFill>
                <a:latin typeface="Calibri" pitchFamily="34" charset="0"/>
                <a:ea typeface="Calibri" pitchFamily="34" charset="-122"/>
                <a:cs typeface="Calibri" pitchFamily="34" charset="-120"/>
              </a:rPr>
              <a:t>NetworkX graph</a:t>
            </a:r>
            <a:endParaRPr lang="en-US" sz="1100" dirty="0"/>
          </a:p>
        </p:txBody>
      </p:sp>
      <p:sp>
        <p:nvSpPr>
          <p:cNvPr id="14" name="Text 11"/>
          <p:cNvSpPr/>
          <p:nvPr/>
        </p:nvSpPr>
        <p:spPr>
          <a:xfrm>
            <a:off x="5029200" y="2743200"/>
            <a:ext cx="2331720" cy="868680"/>
          </a:xfrm>
          <a:prstGeom prst="chevron">
            <a:avLst/>
          </a:prstGeom>
          <a:solidFill>
            <a:srgbClr val="255E99"/>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  Optimize</a:t>
            </a:r>
            <a:endParaRPr lang="en-US" sz="1500" dirty="0"/>
          </a:p>
        </p:txBody>
      </p:sp>
      <p:sp>
        <p:nvSpPr>
          <p:cNvPr id="15" name="Shape 12"/>
          <p:cNvSpPr/>
          <p:nvPr/>
        </p:nvSpPr>
        <p:spPr>
          <a:xfrm>
            <a:off x="5074920" y="3840480"/>
            <a:ext cx="2057400" cy="1417320"/>
          </a:xfrm>
          <a:prstGeom prst="roundRect">
            <a:avLst>
              <a:gd name="adj" fmla="val 5161"/>
            </a:avLst>
          </a:prstGeom>
          <a:solidFill>
            <a:srgbClr val="FFFFFF"/>
          </a:solidFill>
          <a:ln w="12700">
            <a:solidFill>
              <a:srgbClr val="D3DDE8"/>
            </a:solidFill>
            <a:prstDash val="solid"/>
          </a:ln>
        </p:spPr>
      </p:sp>
      <p:sp>
        <p:nvSpPr>
          <p:cNvPr id="16" name="Text 13"/>
          <p:cNvSpPr txBox="1"/>
          <p:nvPr/>
        </p:nvSpPr>
        <p:spPr>
          <a:xfrm>
            <a:off x="5193792" y="3950208"/>
            <a:ext cx="1828800" cy="1188720"/>
          </a:xfrm>
          <a:prstGeom prst="rect">
            <a:avLst/>
          </a:prstGeom>
          <a:noFill/>
          <a:ln/>
        </p:spPr>
        <p:txBody>
          <a:bodyPr wrap="square" lIns="0" tIns="0" rIns="0" bIns="0" rtlCol="0" anchor="t"/>
          <a:lstStyle/>
          <a:p>
            <a:pPr indent="0" marL="0">
              <a:buNone/>
            </a:pPr>
            <a:r>
              <a:rPr lang="en-US" sz="1400" dirty="0">
                <a:solidFill>
                  <a:srgbClr val="1B2533"/>
                </a:solidFill>
                <a:latin typeface="Calibri" pitchFamily="34" charset="0"/>
                <a:ea typeface="Calibri" pitchFamily="34" charset="-122"/>
                <a:cs typeface="Calibri" pitchFamily="34" charset="-120"/>
              </a:rPr>
              <a:t>CP-SAT searches legal reassignments; essential tasks first.</a:t>
            </a:r>
            <a:endParaRPr lang="en-US" sz="1400" dirty="0"/>
          </a:p>
        </p:txBody>
      </p:sp>
      <p:sp>
        <p:nvSpPr>
          <p:cNvPr id="17" name="Text 14"/>
          <p:cNvSpPr/>
          <p:nvPr/>
        </p:nvSpPr>
        <p:spPr>
          <a:xfrm>
            <a:off x="5120640" y="5394960"/>
            <a:ext cx="1965960" cy="329184"/>
          </a:xfrm>
          <a:prstGeom prst="roundRect">
            <a:avLst/>
          </a:prstGeom>
          <a:solidFill>
            <a:srgbClr val="FFFFFF"/>
          </a:solidFill>
          <a:ln w="12700">
            <a:solidFill>
              <a:srgbClr val="255E99"/>
            </a:solidFill>
          </a:ln>
        </p:spPr>
        <p:txBody>
          <a:bodyPr wrap="square" lIns="0" tIns="76200" rIns="76200" bIns="0" rtlCol="0" anchor="ctr"/>
          <a:lstStyle/>
          <a:p>
            <a:pPr algn="ctr" indent="0" marL="0">
              <a:buNone/>
            </a:pPr>
            <a:r>
              <a:rPr lang="en-US" sz="1100" b="1" dirty="0">
                <a:solidFill>
                  <a:srgbClr val="102B4E"/>
                </a:solidFill>
                <a:latin typeface="Calibri" pitchFamily="34" charset="0"/>
                <a:ea typeface="Calibri" pitchFamily="34" charset="-122"/>
                <a:cs typeface="Calibri" pitchFamily="34" charset="-120"/>
              </a:rPr>
              <a:t>OR-Tools CP-SAT</a:t>
            </a:r>
            <a:endParaRPr lang="en-US" sz="1100" dirty="0"/>
          </a:p>
        </p:txBody>
      </p:sp>
      <p:sp>
        <p:nvSpPr>
          <p:cNvPr id="18" name="Text 15"/>
          <p:cNvSpPr/>
          <p:nvPr/>
        </p:nvSpPr>
        <p:spPr>
          <a:xfrm>
            <a:off x="7269480" y="2743200"/>
            <a:ext cx="2331720" cy="868680"/>
          </a:xfrm>
          <a:prstGeom prst="chevron">
            <a:avLst/>
          </a:prstGeom>
          <a:solidFill>
            <a:srgbClr val="2B7557"/>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  Verify</a:t>
            </a:r>
            <a:endParaRPr lang="en-US" sz="1500" dirty="0"/>
          </a:p>
        </p:txBody>
      </p:sp>
      <p:sp>
        <p:nvSpPr>
          <p:cNvPr id="19" name="Shape 16"/>
          <p:cNvSpPr/>
          <p:nvPr/>
        </p:nvSpPr>
        <p:spPr>
          <a:xfrm>
            <a:off x="7315200" y="3840480"/>
            <a:ext cx="2057400" cy="1417320"/>
          </a:xfrm>
          <a:prstGeom prst="roundRect">
            <a:avLst>
              <a:gd name="adj" fmla="val 5161"/>
            </a:avLst>
          </a:prstGeom>
          <a:solidFill>
            <a:srgbClr val="FFFFFF"/>
          </a:solidFill>
          <a:ln w="12700">
            <a:solidFill>
              <a:srgbClr val="D3DDE8"/>
            </a:solidFill>
            <a:prstDash val="solid"/>
          </a:ln>
        </p:spPr>
      </p:sp>
      <p:sp>
        <p:nvSpPr>
          <p:cNvPr id="20" name="Text 17"/>
          <p:cNvSpPr txBox="1"/>
          <p:nvPr/>
        </p:nvSpPr>
        <p:spPr>
          <a:xfrm>
            <a:off x="7434072" y="3950208"/>
            <a:ext cx="1828800" cy="1188720"/>
          </a:xfrm>
          <a:prstGeom prst="rect">
            <a:avLst/>
          </a:prstGeom>
          <a:noFill/>
          <a:ln/>
        </p:spPr>
        <p:txBody>
          <a:bodyPr wrap="square" lIns="0" tIns="0" rIns="0" bIns="0" rtlCol="0" anchor="t"/>
          <a:lstStyle/>
          <a:p>
            <a:pPr indent="0" marL="0">
              <a:buNone/>
            </a:pPr>
            <a:r>
              <a:rPr lang="en-US" sz="1400" dirty="0">
                <a:solidFill>
                  <a:srgbClr val="1B2533"/>
                </a:solidFill>
                <a:latin typeface="Calibri" pitchFamily="34" charset="0"/>
                <a:ea typeface="Calibri" pitchFamily="34" charset="-122"/>
                <a:cs typeface="Calibri" pitchFamily="34" charset="-120"/>
              </a:rPr>
              <a:t>A separate module re-checks every rule from raw data.</a:t>
            </a:r>
            <a:endParaRPr lang="en-US" sz="1400" dirty="0"/>
          </a:p>
        </p:txBody>
      </p:sp>
      <p:sp>
        <p:nvSpPr>
          <p:cNvPr id="21" name="Text 18"/>
          <p:cNvSpPr/>
          <p:nvPr/>
        </p:nvSpPr>
        <p:spPr>
          <a:xfrm>
            <a:off x="7360920" y="5394960"/>
            <a:ext cx="1965960" cy="329184"/>
          </a:xfrm>
          <a:prstGeom prst="roundRect">
            <a:avLst/>
          </a:prstGeom>
          <a:solidFill>
            <a:srgbClr val="FFFFFF"/>
          </a:solidFill>
          <a:ln w="12700">
            <a:solidFill>
              <a:srgbClr val="2B7557"/>
            </a:solidFill>
          </a:ln>
        </p:spPr>
        <p:txBody>
          <a:bodyPr wrap="square" lIns="0" tIns="76200" rIns="76200" bIns="0" rtlCol="0" anchor="ctr"/>
          <a:lstStyle/>
          <a:p>
            <a:pPr algn="ctr" indent="0" marL="0">
              <a:buNone/>
            </a:pPr>
            <a:r>
              <a:rPr lang="en-US" sz="1100" b="1" dirty="0">
                <a:solidFill>
                  <a:srgbClr val="102B4E"/>
                </a:solidFill>
                <a:latin typeface="Calibri" pitchFamily="34" charset="0"/>
                <a:ea typeface="Calibri" pitchFamily="34" charset="-122"/>
                <a:cs typeface="Calibri" pitchFamily="34" charset="-120"/>
              </a:rPr>
              <a:t>Independent verifier</a:t>
            </a:r>
            <a:endParaRPr lang="en-US" sz="1100" dirty="0"/>
          </a:p>
        </p:txBody>
      </p:sp>
      <p:sp>
        <p:nvSpPr>
          <p:cNvPr id="22" name="Text 19"/>
          <p:cNvSpPr/>
          <p:nvPr/>
        </p:nvSpPr>
        <p:spPr>
          <a:xfrm>
            <a:off x="9509760" y="2743200"/>
            <a:ext cx="2331720" cy="868680"/>
          </a:xfrm>
          <a:prstGeom prst="chevron">
            <a:avLst/>
          </a:prstGeom>
          <a:solidFill>
            <a:srgbClr val="102B4E"/>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  Review</a:t>
            </a:r>
            <a:endParaRPr lang="en-US" sz="1500" dirty="0"/>
          </a:p>
        </p:txBody>
      </p:sp>
      <p:sp>
        <p:nvSpPr>
          <p:cNvPr id="23" name="Shape 20"/>
          <p:cNvSpPr/>
          <p:nvPr/>
        </p:nvSpPr>
        <p:spPr>
          <a:xfrm>
            <a:off x="9555480" y="3840480"/>
            <a:ext cx="2057400" cy="1417320"/>
          </a:xfrm>
          <a:prstGeom prst="roundRect">
            <a:avLst>
              <a:gd name="adj" fmla="val 5161"/>
            </a:avLst>
          </a:prstGeom>
          <a:solidFill>
            <a:srgbClr val="FFFFFF"/>
          </a:solidFill>
          <a:ln w="12700">
            <a:solidFill>
              <a:srgbClr val="D3DDE8"/>
            </a:solidFill>
            <a:prstDash val="solid"/>
          </a:ln>
        </p:spPr>
      </p:sp>
      <p:sp>
        <p:nvSpPr>
          <p:cNvPr id="24" name="Text 21"/>
          <p:cNvSpPr txBox="1"/>
          <p:nvPr/>
        </p:nvSpPr>
        <p:spPr>
          <a:xfrm>
            <a:off x="9674352" y="3950208"/>
            <a:ext cx="1828800" cy="1188720"/>
          </a:xfrm>
          <a:prstGeom prst="rect">
            <a:avLst/>
          </a:prstGeom>
          <a:noFill/>
          <a:ln/>
        </p:spPr>
        <p:txBody>
          <a:bodyPr wrap="square" lIns="0" tIns="0" rIns="0" bIns="0" rtlCol="0" anchor="t"/>
          <a:lstStyle/>
          <a:p>
            <a:pPr indent="0" marL="0">
              <a:buNone/>
            </a:pPr>
            <a:r>
              <a:rPr lang="en-US" sz="1400" dirty="0">
                <a:solidFill>
                  <a:srgbClr val="1B2533"/>
                </a:solidFill>
                <a:latin typeface="Calibri" pitchFamily="34" charset="0"/>
                <a:ea typeface="Calibri" pitchFamily="34" charset="-122"/>
                <a:cs typeface="Calibri" pitchFamily="34" charset="-120"/>
              </a:rPr>
              <a:t>A human approves — or sees exactly what still needs them.</a:t>
            </a:r>
            <a:endParaRPr lang="en-US" sz="1400" dirty="0"/>
          </a:p>
        </p:txBody>
      </p:sp>
      <p:sp>
        <p:nvSpPr>
          <p:cNvPr id="25" name="Text 22"/>
          <p:cNvSpPr/>
          <p:nvPr/>
        </p:nvSpPr>
        <p:spPr>
          <a:xfrm>
            <a:off x="9601200" y="5394960"/>
            <a:ext cx="1965960" cy="329184"/>
          </a:xfrm>
          <a:prstGeom prst="roundRect">
            <a:avLst/>
          </a:prstGeom>
          <a:solidFill>
            <a:srgbClr val="FFFFFF"/>
          </a:solidFill>
          <a:ln w="12700">
            <a:solidFill>
              <a:srgbClr val="102B4E"/>
            </a:solidFill>
          </a:ln>
        </p:spPr>
        <p:txBody>
          <a:bodyPr wrap="square" lIns="0" tIns="76200" rIns="76200" bIns="0" rtlCol="0" anchor="ctr"/>
          <a:lstStyle/>
          <a:p>
            <a:pPr algn="ctr" indent="0" marL="0">
              <a:buNone/>
            </a:pPr>
            <a:r>
              <a:rPr lang="en-US" sz="1100" b="1" dirty="0">
                <a:solidFill>
                  <a:srgbClr val="102B4E"/>
                </a:solidFill>
                <a:latin typeface="Calibri" pitchFamily="34" charset="0"/>
                <a:ea typeface="Calibri" pitchFamily="34" charset="-122"/>
                <a:cs typeface="Calibri" pitchFamily="34" charset="-120"/>
              </a:rPr>
              <a:t>Human in the loop</a:t>
            </a:r>
            <a:endParaRPr lang="en-US" sz="1100" dirty="0"/>
          </a:p>
        </p:txBody>
      </p:sp>
      <p:sp>
        <p:nvSpPr>
          <p:cNvPr id="26" name="Text 23"/>
          <p:cNvSpPr txBox="1"/>
          <p:nvPr/>
        </p:nvSpPr>
        <p:spPr>
          <a:xfrm>
            <a:off x="548640" y="5852160"/>
            <a:ext cx="1106424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DOMINO simulates the consequences of specified, hypothetical events. It does not predict the probability of emergencies.</a:t>
            </a:r>
            <a:endParaRPr lang="en-US" sz="12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 · TEST HOUSEHOLDS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Three households, different constraints</a:t>
            </a:r>
            <a:endParaRPr lang="en-US" sz="3200" dirty="0"/>
          </a:p>
        </p:txBody>
      </p:sp>
      <p:pic>
        <p:nvPicPr>
          <p:cNvPr id="5" name="Image 0" descr="Family Network graph of The Amina Family (real prototype screenshot)">    </p:cNvPr>
          <p:cNvPicPr>
            <a:picLocks noChangeAspect="1"/>
          </p:cNvPicPr>
          <p:nvPr/>
        </p:nvPicPr>
        <p:blipFill>
          <a:blip r:embed="rId1"/>
          <a:stretch>
            <a:fillRect/>
          </a:stretch>
        </p:blipFill>
        <p:spPr>
          <a:xfrm>
            <a:off x="548640" y="1463040"/>
            <a:ext cx="3566160" cy="1535430"/>
          </a:xfrm>
          <a:prstGeom prst="rect">
            <a:avLst/>
          </a:prstGeom>
        </p:spPr>
      </p:pic>
      <p:sp>
        <p:nvSpPr>
          <p:cNvPr id="6" name="Shape 2"/>
          <p:cNvSpPr/>
          <p:nvPr/>
        </p:nvSpPr>
        <p:spPr>
          <a:xfrm>
            <a:off x="548640" y="1463040"/>
            <a:ext cx="3566160" cy="1535430"/>
          </a:xfrm>
          <a:prstGeom prst="rect">
            <a:avLst/>
          </a:prstGeom>
          <a:ln w="9525">
            <a:solidFill>
              <a:srgbClr val="D3DDE8"/>
            </a:solidFill>
            <a:prstDash val="solid"/>
          </a:ln>
        </p:spPr>
      </p:sp>
      <p:sp>
        <p:nvSpPr>
          <p:cNvPr id="7" name="Text 3"/>
          <p:cNvSpPr txBox="1"/>
          <p:nvPr/>
        </p:nvSpPr>
        <p:spPr>
          <a:xfrm>
            <a:off x="548640" y="3246120"/>
            <a:ext cx="3566160" cy="548640"/>
          </a:xfrm>
          <a:prstGeom prst="rect">
            <a:avLst/>
          </a:prstGeom>
          <a:noFill/>
          <a:ln/>
        </p:spPr>
        <p:txBody>
          <a:bodyPr wrap="square" lIns="0" tIns="0" rIns="0" bIns="0" rtlCol="0" anchor="t"/>
          <a:lstStyle/>
          <a:p>
            <a:pPr indent="0" marL="0">
              <a:buNone/>
            </a:pPr>
            <a:r>
              <a:rPr lang="en-US" sz="1800" b="1" dirty="0">
                <a:solidFill>
                  <a:srgbClr val="102B4E"/>
                </a:solidFill>
                <a:latin typeface="Calibri" pitchFamily="34" charset="0"/>
                <a:ea typeface="Calibri" pitchFamily="34" charset="-122"/>
                <a:cs typeface="Calibri" pitchFamily="34" charset="-120"/>
              </a:rPr>
              <a:t>The Amina Family</a:t>
            </a:r>
            <a:endParaRPr lang="en-US" sz="1800" dirty="0"/>
          </a:p>
        </p:txBody>
      </p:sp>
      <p:sp>
        <p:nvSpPr>
          <p:cNvPr id="8" name="Text 4"/>
          <p:cNvSpPr txBox="1"/>
          <p:nvPr/>
        </p:nvSpPr>
        <p:spPr>
          <a:xfrm>
            <a:off x="548640" y="3886200"/>
            <a:ext cx="3566160" cy="228600"/>
          </a:xfrm>
          <a:prstGeom prst="rect">
            <a:avLst/>
          </a:prstGeom>
          <a:noFill/>
          <a:ln/>
        </p:spPr>
        <p:txBody>
          <a:bodyPr wrap="square" lIns="0" tIns="0" rIns="0" bIns="0" rtlCol="0" anchor="t"/>
          <a:lstStyle/>
          <a:p>
            <a:pPr indent="0" marL="0">
              <a:buNone/>
            </a:pPr>
            <a:r>
              <a:rPr lang="en-US" sz="1200" dirty="0">
                <a:solidFill>
                  <a:srgbClr val="255E99"/>
                </a:solidFill>
                <a:latin typeface="Consolas" pitchFamily="34" charset="0"/>
                <a:ea typeface="Consolas" pitchFamily="34" charset="-122"/>
                <a:cs typeface="Consolas" pitchFamily="34" charset="-120"/>
              </a:rPr>
              <a:t>4 members · 4 tasks · 4 resources</a:t>
            </a:r>
            <a:endParaRPr lang="en-US" sz="1200" dirty="0"/>
          </a:p>
        </p:txBody>
      </p:sp>
      <p:sp>
        <p:nvSpPr>
          <p:cNvPr id="9" name="Text 5"/>
          <p:cNvSpPr txBox="1"/>
          <p:nvPr/>
        </p:nvSpPr>
        <p:spPr>
          <a:xfrm>
            <a:off x="548640" y="4251960"/>
            <a:ext cx="3566160" cy="1005840"/>
          </a:xfrm>
          <a:prstGeom prst="rect">
            <a:avLst/>
          </a:prstGeom>
          <a:noFill/>
          <a:ln/>
        </p:spPr>
        <p:txBody>
          <a:bodyPr wrap="square" lIns="0" tIns="0" rIns="0" bIns="0" rtlCol="0" anchor="t"/>
          <a:lstStyle/>
          <a:p>
            <a:pPr indent="0" marL="0">
              <a:buNone/>
            </a:pPr>
            <a:r>
              <a:rPr lang="en-US" sz="1500" dirty="0">
                <a:solidFill>
                  <a:srgbClr val="1B2533"/>
                </a:solidFill>
                <a:latin typeface="Calibri" pitchFamily="34" charset="0"/>
                <a:ea typeface="Calibri" pitchFamily="34" charset="-122"/>
                <a:cs typeface="Calibri" pitchFamily="34" charset="-120"/>
              </a:rPr>
              <a:t>Two authorized adult drivers; a teen who may help with homework but cannot drive; a 9-year-old dependent.</a:t>
            </a:r>
            <a:endParaRPr lang="en-US" sz="1500" dirty="0"/>
          </a:p>
        </p:txBody>
      </p:sp>
      <p:sp>
        <p:nvSpPr>
          <p:cNvPr id="10" name="Text 6"/>
          <p:cNvSpPr/>
          <p:nvPr/>
        </p:nvSpPr>
        <p:spPr>
          <a:xfrm>
            <a:off x="548640" y="5349240"/>
            <a:ext cx="3566160" cy="411480"/>
          </a:xfrm>
          <a:prstGeom prst="roundRect">
            <a:avLst/>
          </a:prstGeom>
          <a:solidFill>
            <a:srgbClr val="EAF3FA"/>
          </a:solidFill>
          <a:ln/>
        </p:spPr>
        <p:txBody>
          <a:bodyPr wrap="square" lIns="0" tIns="76200" rIns="76200" bIns="0" rtlCol="0" anchor="ctr"/>
          <a:lstStyle/>
          <a:p>
            <a:pPr algn="ctr" indent="0" marL="0">
              <a:buNone/>
            </a:pPr>
            <a:r>
              <a:rPr lang="en-US" sz="1400" b="1" dirty="0">
                <a:solidFill>
                  <a:srgbClr val="102B4E"/>
                </a:solidFill>
                <a:latin typeface="Calibri" pitchFamily="34" charset="0"/>
                <a:ea typeface="Calibri" pitchFamily="34" charset="-122"/>
                <a:cs typeface="Calibri" pitchFamily="34" charset="-120"/>
              </a:rPr>
              <a:t>Exercises: clean reassignment</a:t>
            </a:r>
            <a:endParaRPr lang="en-US" sz="1400" dirty="0"/>
          </a:p>
        </p:txBody>
      </p:sp>
      <p:pic>
        <p:nvPicPr>
          <p:cNvPr id="11" name="Image 1" descr="Family Network graph of The Al-Mansoori Multigenerational Family (real prototype screenshot)">    </p:cNvPr>
          <p:cNvPicPr>
            <a:picLocks noChangeAspect="1"/>
          </p:cNvPicPr>
          <p:nvPr/>
        </p:nvPicPr>
        <p:blipFill>
          <a:blip r:embed="rId2"/>
          <a:stretch>
            <a:fillRect/>
          </a:stretch>
        </p:blipFill>
        <p:spPr>
          <a:xfrm>
            <a:off x="4315968" y="1463040"/>
            <a:ext cx="3566160" cy="1535430"/>
          </a:xfrm>
          <a:prstGeom prst="rect">
            <a:avLst/>
          </a:prstGeom>
        </p:spPr>
      </p:pic>
      <p:sp>
        <p:nvSpPr>
          <p:cNvPr id="12" name="Shape 7"/>
          <p:cNvSpPr/>
          <p:nvPr/>
        </p:nvSpPr>
        <p:spPr>
          <a:xfrm>
            <a:off x="4315968" y="1463040"/>
            <a:ext cx="3566160" cy="1535430"/>
          </a:xfrm>
          <a:prstGeom prst="rect">
            <a:avLst/>
          </a:prstGeom>
          <a:ln w="9525">
            <a:solidFill>
              <a:srgbClr val="D3DDE8"/>
            </a:solidFill>
            <a:prstDash val="solid"/>
          </a:ln>
        </p:spPr>
      </p:sp>
      <p:sp>
        <p:nvSpPr>
          <p:cNvPr id="13" name="Text 8"/>
          <p:cNvSpPr txBox="1"/>
          <p:nvPr/>
        </p:nvSpPr>
        <p:spPr>
          <a:xfrm>
            <a:off x="4315968" y="3246120"/>
            <a:ext cx="3566160" cy="548640"/>
          </a:xfrm>
          <a:prstGeom prst="rect">
            <a:avLst/>
          </a:prstGeom>
          <a:noFill/>
          <a:ln/>
        </p:spPr>
        <p:txBody>
          <a:bodyPr wrap="square" lIns="0" tIns="0" rIns="0" bIns="0" rtlCol="0" anchor="t"/>
          <a:lstStyle/>
          <a:p>
            <a:pPr indent="0" marL="0">
              <a:buNone/>
            </a:pPr>
            <a:r>
              <a:rPr lang="en-US" sz="1800" b="1" dirty="0">
                <a:solidFill>
                  <a:srgbClr val="102B4E"/>
                </a:solidFill>
                <a:latin typeface="Calibri" pitchFamily="34" charset="0"/>
                <a:ea typeface="Calibri" pitchFamily="34" charset="-122"/>
                <a:cs typeface="Calibri" pitchFamily="34" charset="-120"/>
              </a:rPr>
              <a:t>The Al-Mansoori Multigenerational Family</a:t>
            </a:r>
            <a:endParaRPr lang="en-US" sz="1800" dirty="0"/>
          </a:p>
        </p:txBody>
      </p:sp>
      <p:sp>
        <p:nvSpPr>
          <p:cNvPr id="14" name="Text 9"/>
          <p:cNvSpPr txBox="1"/>
          <p:nvPr/>
        </p:nvSpPr>
        <p:spPr>
          <a:xfrm>
            <a:off x="4315968" y="3886200"/>
            <a:ext cx="3566160" cy="228600"/>
          </a:xfrm>
          <a:prstGeom prst="rect">
            <a:avLst/>
          </a:prstGeom>
          <a:noFill/>
          <a:ln/>
        </p:spPr>
        <p:txBody>
          <a:bodyPr wrap="square" lIns="0" tIns="0" rIns="0" bIns="0" rtlCol="0" anchor="t"/>
          <a:lstStyle/>
          <a:p>
            <a:pPr indent="0" marL="0">
              <a:buNone/>
            </a:pPr>
            <a:r>
              <a:rPr lang="en-US" sz="1200" dirty="0">
                <a:solidFill>
                  <a:srgbClr val="255E99"/>
                </a:solidFill>
                <a:latin typeface="Consolas" pitchFamily="34" charset="0"/>
                <a:ea typeface="Consolas" pitchFamily="34" charset="-122"/>
                <a:cs typeface="Consolas" pitchFamily="34" charset="-120"/>
              </a:rPr>
              <a:t>4 members · 5 tasks · 3 resources</a:t>
            </a:r>
            <a:endParaRPr lang="en-US" sz="1200" dirty="0"/>
          </a:p>
        </p:txBody>
      </p:sp>
      <p:sp>
        <p:nvSpPr>
          <p:cNvPr id="15" name="Text 10"/>
          <p:cNvSpPr txBox="1"/>
          <p:nvPr/>
        </p:nvSpPr>
        <p:spPr>
          <a:xfrm>
            <a:off x="4315968" y="4251960"/>
            <a:ext cx="3566160" cy="1005840"/>
          </a:xfrm>
          <a:prstGeom prst="rect">
            <a:avLst/>
          </a:prstGeom>
          <a:noFill/>
          <a:ln/>
        </p:spPr>
        <p:txBody>
          <a:bodyPr wrap="square" lIns="0" tIns="0" rIns="0" bIns="0" rtlCol="0" anchor="t"/>
          <a:lstStyle/>
          <a:p>
            <a:pPr indent="0" marL="0">
              <a:buNone/>
            </a:pPr>
            <a:r>
              <a:rPr lang="en-US" sz="1500" dirty="0">
                <a:solidFill>
                  <a:srgbClr val="1B2533"/>
                </a:solidFill>
                <a:latin typeface="Calibri" pitchFamily="34" charset="0"/>
                <a:ea typeface="Calibri" pitchFamily="34" charset="-122"/>
                <a:cs typeface="Calibri" pitchFamily="34" charset="-120"/>
              </a:rPr>
              <a:t>Three generations; a 70-year-old grandmother helps with schoolwork and check-ins but holds no driving permission.</a:t>
            </a:r>
            <a:endParaRPr lang="en-US" sz="1500" dirty="0"/>
          </a:p>
        </p:txBody>
      </p:sp>
      <p:sp>
        <p:nvSpPr>
          <p:cNvPr id="16" name="Text 11"/>
          <p:cNvSpPr/>
          <p:nvPr/>
        </p:nvSpPr>
        <p:spPr>
          <a:xfrm>
            <a:off x="4315968" y="5349240"/>
            <a:ext cx="3566160" cy="411480"/>
          </a:xfrm>
          <a:prstGeom prst="roundRect">
            <a:avLst/>
          </a:prstGeom>
          <a:solidFill>
            <a:srgbClr val="EAF3FA"/>
          </a:solidFill>
          <a:ln/>
        </p:spPr>
        <p:txBody>
          <a:bodyPr wrap="square" lIns="0" tIns="76200" rIns="76200" bIns="0" rtlCol="0" anchor="ctr"/>
          <a:lstStyle/>
          <a:p>
            <a:pPr algn="ctr" indent="0" marL="0">
              <a:buNone/>
            </a:pPr>
            <a:r>
              <a:rPr lang="en-US" sz="1400" b="1" dirty="0">
                <a:solidFill>
                  <a:srgbClr val="102B4E"/>
                </a:solidFill>
                <a:latin typeface="Calibri" pitchFamily="34" charset="0"/>
                <a:ea typeface="Calibri" pitchFamily="34" charset="-122"/>
                <a:cs typeface="Calibri" pitchFamily="34" charset="-120"/>
              </a:rPr>
              <a:t>Exercises: several valid alternatives</a:t>
            </a:r>
            <a:endParaRPr lang="en-US" sz="1400" dirty="0"/>
          </a:p>
        </p:txBody>
      </p:sp>
      <p:pic>
        <p:nvPicPr>
          <p:cNvPr id="17" name="Image 2" descr="Family Network graph of The Salma Family (real prototype screenshot)">    </p:cNvPr>
          <p:cNvPicPr>
            <a:picLocks noChangeAspect="1"/>
          </p:cNvPicPr>
          <p:nvPr/>
        </p:nvPicPr>
        <p:blipFill>
          <a:blip r:embed="rId3"/>
          <a:stretch>
            <a:fillRect/>
          </a:stretch>
        </p:blipFill>
        <p:spPr>
          <a:xfrm>
            <a:off x="8083296" y="1463040"/>
            <a:ext cx="3566160" cy="1535430"/>
          </a:xfrm>
          <a:prstGeom prst="rect">
            <a:avLst/>
          </a:prstGeom>
        </p:spPr>
      </p:pic>
      <p:sp>
        <p:nvSpPr>
          <p:cNvPr id="18" name="Shape 12"/>
          <p:cNvSpPr/>
          <p:nvPr/>
        </p:nvSpPr>
        <p:spPr>
          <a:xfrm>
            <a:off x="8083296" y="1463040"/>
            <a:ext cx="3566160" cy="1535430"/>
          </a:xfrm>
          <a:prstGeom prst="rect">
            <a:avLst/>
          </a:prstGeom>
          <a:ln w="9525">
            <a:solidFill>
              <a:srgbClr val="D3DDE8"/>
            </a:solidFill>
            <a:prstDash val="solid"/>
          </a:ln>
        </p:spPr>
      </p:sp>
      <p:sp>
        <p:nvSpPr>
          <p:cNvPr id="19" name="Text 13"/>
          <p:cNvSpPr txBox="1"/>
          <p:nvPr/>
        </p:nvSpPr>
        <p:spPr>
          <a:xfrm>
            <a:off x="8083296" y="3246120"/>
            <a:ext cx="3566160" cy="548640"/>
          </a:xfrm>
          <a:prstGeom prst="rect">
            <a:avLst/>
          </a:prstGeom>
          <a:noFill/>
          <a:ln/>
        </p:spPr>
        <p:txBody>
          <a:bodyPr wrap="square" lIns="0" tIns="0" rIns="0" bIns="0" rtlCol="0" anchor="t"/>
          <a:lstStyle/>
          <a:p>
            <a:pPr indent="0" marL="0">
              <a:buNone/>
            </a:pPr>
            <a:r>
              <a:rPr lang="en-US" sz="1800" b="1" dirty="0">
                <a:solidFill>
                  <a:srgbClr val="102B4E"/>
                </a:solidFill>
                <a:latin typeface="Calibri" pitchFamily="34" charset="0"/>
                <a:ea typeface="Calibri" pitchFamily="34" charset="-122"/>
                <a:cs typeface="Calibri" pitchFamily="34" charset="-120"/>
              </a:rPr>
              <a:t>The Salma Family</a:t>
            </a:r>
            <a:endParaRPr lang="en-US" sz="1800" dirty="0"/>
          </a:p>
        </p:txBody>
      </p:sp>
      <p:sp>
        <p:nvSpPr>
          <p:cNvPr id="20" name="Text 14"/>
          <p:cNvSpPr txBox="1"/>
          <p:nvPr/>
        </p:nvSpPr>
        <p:spPr>
          <a:xfrm>
            <a:off x="8083296" y="3886200"/>
            <a:ext cx="3566160" cy="228600"/>
          </a:xfrm>
          <a:prstGeom prst="rect">
            <a:avLst/>
          </a:prstGeom>
          <a:noFill/>
          <a:ln/>
        </p:spPr>
        <p:txBody>
          <a:bodyPr wrap="square" lIns="0" tIns="0" rIns="0" bIns="0" rtlCol="0" anchor="t"/>
          <a:lstStyle/>
          <a:p>
            <a:pPr indent="0" marL="0">
              <a:buNone/>
            </a:pPr>
            <a:r>
              <a:rPr lang="en-US" sz="1200" dirty="0">
                <a:solidFill>
                  <a:srgbClr val="255E99"/>
                </a:solidFill>
                <a:latin typeface="Consolas" pitchFamily="34" charset="0"/>
                <a:ea typeface="Consolas" pitchFamily="34" charset="-122"/>
                <a:cs typeface="Consolas" pitchFamily="34" charset="-120"/>
              </a:rPr>
              <a:t>4 members · 4 tasks · 3 resources</a:t>
            </a:r>
            <a:endParaRPr lang="en-US" sz="1200" dirty="0"/>
          </a:p>
        </p:txBody>
      </p:sp>
      <p:sp>
        <p:nvSpPr>
          <p:cNvPr id="21" name="Text 15"/>
          <p:cNvSpPr txBox="1"/>
          <p:nvPr/>
        </p:nvSpPr>
        <p:spPr>
          <a:xfrm>
            <a:off x="8083296" y="4251960"/>
            <a:ext cx="3566160" cy="1005840"/>
          </a:xfrm>
          <a:prstGeom prst="rect">
            <a:avLst/>
          </a:prstGeom>
          <a:noFill/>
          <a:ln/>
        </p:spPr>
        <p:txBody>
          <a:bodyPr wrap="square" lIns="0" tIns="0" rIns="0" bIns="0" rtlCol="0" anchor="t"/>
          <a:lstStyle/>
          <a:p>
            <a:pPr indent="0" marL="0">
              <a:buNone/>
            </a:pPr>
            <a:r>
              <a:rPr lang="en-US" sz="1500" dirty="0">
                <a:solidFill>
                  <a:srgbClr val="1B2533"/>
                </a:solidFill>
                <a:latin typeface="Calibri" pitchFamily="34" charset="0"/>
                <a:ea typeface="Calibri" pitchFamily="34" charset="-122"/>
                <a:cs typeface="Calibri" pitchFamily="34" charset="-120"/>
              </a:rPr>
              <a:t>One licensed driver, one vehicle: losing either leaves school pickup without a legal replacement.</a:t>
            </a:r>
            <a:endParaRPr lang="en-US" sz="1500" dirty="0"/>
          </a:p>
        </p:txBody>
      </p:sp>
      <p:sp>
        <p:nvSpPr>
          <p:cNvPr id="22" name="Text 16"/>
          <p:cNvSpPr/>
          <p:nvPr/>
        </p:nvSpPr>
        <p:spPr>
          <a:xfrm>
            <a:off x="8083296" y="5349240"/>
            <a:ext cx="3566160" cy="411480"/>
          </a:xfrm>
          <a:prstGeom prst="roundRect">
            <a:avLst/>
          </a:prstGeom>
          <a:solidFill>
            <a:srgbClr val="EAF3FA"/>
          </a:solidFill>
          <a:ln/>
        </p:spPr>
        <p:txBody>
          <a:bodyPr wrap="square" lIns="0" tIns="76200" rIns="76200" bIns="0" rtlCol="0" anchor="ctr"/>
          <a:lstStyle/>
          <a:p>
            <a:pPr algn="ctr" indent="0" marL="0">
              <a:buNone/>
            </a:pPr>
            <a:r>
              <a:rPr lang="en-US" sz="1400" b="1" dirty="0">
                <a:solidFill>
                  <a:srgbClr val="102B4E"/>
                </a:solidFill>
                <a:latin typeface="Calibri" pitchFamily="34" charset="0"/>
                <a:ea typeface="Calibri" pitchFamily="34" charset="-122"/>
                <a:cs typeface="Calibri" pitchFamily="34" charset="-120"/>
              </a:rPr>
              <a:t>Exercises: honest infeasibility</a:t>
            </a:r>
            <a:endParaRPr lang="en-US" sz="1400" dirty="0"/>
          </a:p>
        </p:txBody>
      </p:sp>
      <p:sp>
        <p:nvSpPr>
          <p:cNvPr id="23"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data/households/{amina, multigenerational, restricted-transport}.json — fictional; screenshots from the published prototype, 28 Oct 2026.</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 · THE FLAGSHIP HOUSEHOLD</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The Amina family baseline</a:t>
            </a:r>
            <a:endParaRPr lang="en-US" sz="3200" dirty="0"/>
          </a:p>
        </p:txBody>
      </p:sp>
      <p:sp>
        <p:nvSpPr>
          <p:cNvPr id="5" name="Text 2"/>
          <p:cNvSpPr/>
          <p:nvPr/>
        </p:nvSpPr>
        <p:spPr>
          <a:xfrm>
            <a:off x="548640" y="1554480"/>
            <a:ext cx="685800" cy="685800"/>
          </a:xfrm>
          <a:prstGeom prst="ellipse">
            <a:avLst/>
          </a:prstGeom>
          <a:solidFill>
            <a:srgbClr val="255E99"/>
          </a:solid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6" name="Text 3"/>
          <p:cNvSpPr txBox="1"/>
          <p:nvPr/>
        </p:nvSpPr>
        <p:spPr>
          <a:xfrm>
            <a:off x="1417320" y="1527048"/>
            <a:ext cx="3840480" cy="320040"/>
          </a:xfrm>
          <a:prstGeom prst="rect">
            <a:avLst/>
          </a:prstGeom>
          <a:noFill/>
          <a:ln/>
        </p:spPr>
        <p:txBody>
          <a:bodyPr wrap="square" lIns="0" tIns="0" rIns="0" bIns="0" rtlCol="0" anchor="t"/>
          <a:lstStyle/>
          <a:p>
            <a:pPr indent="0" marL="0">
              <a:buNone/>
            </a:pPr>
            <a:r>
              <a:rPr lang="en-US" sz="1700" b="1" dirty="0">
                <a:solidFill>
                  <a:srgbClr val="102B4E"/>
                </a:solidFill>
                <a:latin typeface="Calibri" pitchFamily="34" charset="0"/>
                <a:ea typeface="Calibri" pitchFamily="34" charset="-122"/>
                <a:cs typeface="Calibri" pitchFamily="34" charset="-120"/>
              </a:rPr>
              <a:t>Amina · 41 · adult</a:t>
            </a:r>
            <a:endParaRPr lang="en-US" sz="1700" dirty="0"/>
          </a:p>
        </p:txBody>
      </p:sp>
      <p:sp>
        <p:nvSpPr>
          <p:cNvPr id="7" name="Text 4"/>
          <p:cNvSpPr txBox="1"/>
          <p:nvPr/>
        </p:nvSpPr>
        <p:spPr>
          <a:xfrm>
            <a:off x="1417320" y="1874520"/>
            <a:ext cx="3931920" cy="5029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drive · pickup_authorized · homework_assist · shopping</a:t>
            </a:r>
            <a:endParaRPr lang="en-US" sz="1200" dirty="0"/>
          </a:p>
        </p:txBody>
      </p:sp>
      <p:sp>
        <p:nvSpPr>
          <p:cNvPr id="8" name="Text 5"/>
          <p:cNvSpPr/>
          <p:nvPr/>
        </p:nvSpPr>
        <p:spPr>
          <a:xfrm>
            <a:off x="548640" y="2633472"/>
            <a:ext cx="685800" cy="685800"/>
          </a:xfrm>
          <a:prstGeom prst="ellipse">
            <a:avLst/>
          </a:prstGeom>
          <a:solidFill>
            <a:srgbClr val="255E99"/>
          </a:solid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K</a:t>
            </a:r>
            <a:endParaRPr lang="en-US" sz="2400" dirty="0"/>
          </a:p>
        </p:txBody>
      </p:sp>
      <p:sp>
        <p:nvSpPr>
          <p:cNvPr id="9" name="Text 6"/>
          <p:cNvSpPr txBox="1"/>
          <p:nvPr/>
        </p:nvSpPr>
        <p:spPr>
          <a:xfrm>
            <a:off x="1417320" y="2606040"/>
            <a:ext cx="3840480" cy="320040"/>
          </a:xfrm>
          <a:prstGeom prst="rect">
            <a:avLst/>
          </a:prstGeom>
          <a:noFill/>
          <a:ln/>
        </p:spPr>
        <p:txBody>
          <a:bodyPr wrap="square" lIns="0" tIns="0" rIns="0" bIns="0" rtlCol="0" anchor="t"/>
          <a:lstStyle/>
          <a:p>
            <a:pPr indent="0" marL="0">
              <a:buNone/>
            </a:pPr>
            <a:r>
              <a:rPr lang="en-US" sz="1700" b="1" dirty="0">
                <a:solidFill>
                  <a:srgbClr val="102B4E"/>
                </a:solidFill>
                <a:latin typeface="Calibri" pitchFamily="34" charset="0"/>
                <a:ea typeface="Calibri" pitchFamily="34" charset="-122"/>
                <a:cs typeface="Calibri" pitchFamily="34" charset="-120"/>
              </a:rPr>
              <a:t>Khalid · 43 · adult</a:t>
            </a:r>
            <a:endParaRPr lang="en-US" sz="1700" dirty="0"/>
          </a:p>
        </p:txBody>
      </p:sp>
      <p:sp>
        <p:nvSpPr>
          <p:cNvPr id="10" name="Text 7"/>
          <p:cNvSpPr txBox="1"/>
          <p:nvPr/>
        </p:nvSpPr>
        <p:spPr>
          <a:xfrm>
            <a:off x="1417320" y="2953512"/>
            <a:ext cx="3931920" cy="5029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drive · pickup_authorized · shopping · meal_prep</a:t>
            </a:r>
            <a:endParaRPr lang="en-US" sz="1200" dirty="0"/>
          </a:p>
        </p:txBody>
      </p:sp>
      <p:sp>
        <p:nvSpPr>
          <p:cNvPr id="11" name="Text 8"/>
          <p:cNvSpPr/>
          <p:nvPr/>
        </p:nvSpPr>
        <p:spPr>
          <a:xfrm>
            <a:off x="548640" y="3712464"/>
            <a:ext cx="685800" cy="685800"/>
          </a:xfrm>
          <a:prstGeom prst="ellipse">
            <a:avLst/>
          </a:prstGeom>
          <a:solidFill>
            <a:srgbClr val="47789F"/>
          </a:solid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N</a:t>
            </a:r>
            <a:endParaRPr lang="en-US" sz="2400" dirty="0"/>
          </a:p>
        </p:txBody>
      </p:sp>
      <p:sp>
        <p:nvSpPr>
          <p:cNvPr id="12" name="Text 9"/>
          <p:cNvSpPr txBox="1"/>
          <p:nvPr/>
        </p:nvSpPr>
        <p:spPr>
          <a:xfrm>
            <a:off x="1417320" y="3685032"/>
            <a:ext cx="3840480" cy="320040"/>
          </a:xfrm>
          <a:prstGeom prst="rect">
            <a:avLst/>
          </a:prstGeom>
          <a:noFill/>
          <a:ln/>
        </p:spPr>
        <p:txBody>
          <a:bodyPr wrap="square" lIns="0" tIns="0" rIns="0" bIns="0" rtlCol="0" anchor="t"/>
          <a:lstStyle/>
          <a:p>
            <a:pPr indent="0" marL="0">
              <a:buNone/>
            </a:pPr>
            <a:r>
              <a:rPr lang="en-US" sz="1700" b="1" dirty="0">
                <a:solidFill>
                  <a:srgbClr val="102B4E"/>
                </a:solidFill>
                <a:latin typeface="Calibri" pitchFamily="34" charset="0"/>
                <a:ea typeface="Calibri" pitchFamily="34" charset="-122"/>
                <a:cs typeface="Calibri" pitchFamily="34" charset="-120"/>
              </a:rPr>
              <a:t>Noura · 16 · teen</a:t>
            </a:r>
            <a:endParaRPr lang="en-US" sz="1700" dirty="0"/>
          </a:p>
        </p:txBody>
      </p:sp>
      <p:sp>
        <p:nvSpPr>
          <p:cNvPr id="13" name="Text 10"/>
          <p:cNvSpPr txBox="1"/>
          <p:nvPr/>
        </p:nvSpPr>
        <p:spPr>
          <a:xfrm>
            <a:off x="1417320" y="4032504"/>
            <a:ext cx="3931920" cy="5029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homework_assist only · restrictions: drive, pickup_authorized</a:t>
            </a:r>
            <a:endParaRPr lang="en-US" sz="1200" dirty="0"/>
          </a:p>
        </p:txBody>
      </p:sp>
      <p:sp>
        <p:nvSpPr>
          <p:cNvPr id="14" name="Text 11"/>
          <p:cNvSpPr/>
          <p:nvPr/>
        </p:nvSpPr>
        <p:spPr>
          <a:xfrm>
            <a:off x="548640" y="4791456"/>
            <a:ext cx="685800" cy="685800"/>
          </a:xfrm>
          <a:prstGeom prst="ellipse">
            <a:avLst/>
          </a:prstGeom>
          <a:solidFill>
            <a:srgbClr val="102B4E"/>
          </a:solid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Y</a:t>
            </a:r>
            <a:endParaRPr lang="en-US" sz="2400" dirty="0"/>
          </a:p>
        </p:txBody>
      </p:sp>
      <p:sp>
        <p:nvSpPr>
          <p:cNvPr id="15" name="Text 12"/>
          <p:cNvSpPr txBox="1"/>
          <p:nvPr/>
        </p:nvSpPr>
        <p:spPr>
          <a:xfrm>
            <a:off x="1417320" y="4764024"/>
            <a:ext cx="3840480" cy="320040"/>
          </a:xfrm>
          <a:prstGeom prst="rect">
            <a:avLst/>
          </a:prstGeom>
          <a:noFill/>
          <a:ln/>
        </p:spPr>
        <p:txBody>
          <a:bodyPr wrap="square" lIns="0" tIns="0" rIns="0" bIns="0" rtlCol="0" anchor="t"/>
          <a:lstStyle/>
          <a:p>
            <a:pPr indent="0" marL="0">
              <a:buNone/>
            </a:pPr>
            <a:r>
              <a:rPr lang="en-US" sz="1700" b="1" dirty="0">
                <a:solidFill>
                  <a:srgbClr val="102B4E"/>
                </a:solidFill>
                <a:latin typeface="Calibri" pitchFamily="34" charset="0"/>
                <a:ea typeface="Calibri" pitchFamily="34" charset="-122"/>
                <a:cs typeface="Calibri" pitchFamily="34" charset="-120"/>
              </a:rPr>
              <a:t>Yusuf · 9 · dependent</a:t>
            </a:r>
            <a:endParaRPr lang="en-US" sz="1700" dirty="0"/>
          </a:p>
        </p:txBody>
      </p:sp>
      <p:sp>
        <p:nvSpPr>
          <p:cNvPr id="16" name="Text 13"/>
          <p:cNvSpPr txBox="1"/>
          <p:nvPr/>
        </p:nvSpPr>
        <p:spPr>
          <a:xfrm>
            <a:off x="1417320" y="5111496"/>
            <a:ext cx="3931920" cy="5029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never assigned tasks · authorized carers: Amina, Khalid, Noura</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577840" y="1463040"/>
          <a:ext cx="6035040" cy="914400"/>
        </p:xfrm>
        <a:graphic>
          <a:graphicData uri="http://schemas.openxmlformats.org/drawingml/2006/table">
            <a:tbl>
              <a:tblPr/>
              <a:tblGrid>
                <a:gridCol w="1554480"/>
                <a:gridCol w="411480"/>
                <a:gridCol w="731520"/>
                <a:gridCol w="1325880"/>
                <a:gridCol w="201168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Responsibility</a:t>
                      </a:r>
                      <a:endParaRPr lang="en-US" sz="12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102B4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102B4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102B4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102B4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Needs</a:t>
                      </a:r>
                      <a:endParaRPr lang="en-US" sz="12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102B4E"/>
                    </a:solidFill>
                  </a:tcPr>
                </a:tc>
              </a:tr>
              <a:tr h="566928">
                <a:tc>
                  <a:txBody>
                    <a:bodyPr/>
                    <a:lstStyle/>
                    <a:p>
                      <a:pPr indent="0" marL="0">
                        <a:buNone/>
                      </a:pPr>
                      <a:r>
                        <a:rPr lang="en-US" sz="1300" b="1" dirty="0">
                          <a:solidFill>
                            <a:srgbClr val="1B2533"/>
                          </a:solidFill>
                          <a:latin typeface="Calibri" pitchFamily="34" charset="0"/>
                          <a:ea typeface="Calibri" pitchFamily="34" charset="-122"/>
                          <a:cs typeface="Calibri" pitchFamily="34" charset="-120"/>
                        </a:rPr>
                        <a:t>School pickup</a:t>
                      </a:r>
                      <a:endParaRPr lang="en-US" sz="13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dirty="0">
                          <a:solidFill>
                            <a:srgbClr val="1B2533"/>
                          </a:solidFill>
                          <a:latin typeface="Consolas" pitchFamily="34" charset="0"/>
                          <a:ea typeface="Consolas" pitchFamily="34" charset="-122"/>
                          <a:cs typeface="Consolas" pitchFamily="34" charset="-120"/>
                        </a:rPr>
                        <a:t>0</a:t>
                      </a:r>
                      <a:endParaRPr lang="en-US" sz="1300" dirty="0">
                        <a:latin typeface="Consolas" charset="0"/>
                        <a:ea typeface="Consolas" charset="0"/>
                        <a:cs typeface="Consolas"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dirty="0">
                          <a:solidFill>
                            <a:srgbClr val="1B2533"/>
                          </a:solidFill>
                          <a:latin typeface="Calibri" pitchFamily="34" charset="0"/>
                          <a:ea typeface="Calibri" pitchFamily="34" charset="-122"/>
                          <a:cs typeface="Calibri" pitchFamily="34" charset="-120"/>
                        </a:rPr>
                        <a:t>Amina</a:t>
                      </a:r>
                      <a:endParaRPr lang="en-US" sz="13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200" dirty="0">
                          <a:solidFill>
                            <a:srgbClr val="1B2533"/>
                          </a:solidFill>
                          <a:latin typeface="Consolas" pitchFamily="34" charset="0"/>
                          <a:ea typeface="Consolas" pitchFamily="34" charset="-122"/>
                          <a:cs typeface="Consolas" pitchFamily="34" charset="-120"/>
                        </a:rPr>
                        <a:t>14:45–15:25</a:t>
                      </a:r>
                      <a:endParaRPr lang="en-US" sz="1200" dirty="0">
                        <a:latin typeface="Consolas" charset="0"/>
                        <a:ea typeface="Consolas" charset="0"/>
                        <a:cs typeface="Consolas"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100" dirty="0">
                          <a:solidFill>
                            <a:srgbClr val="1B2533"/>
                          </a:solidFill>
                          <a:latin typeface="Calibri" pitchFamily="34" charset="0"/>
                          <a:ea typeface="Calibri" pitchFamily="34" charset="-122"/>
                          <a:cs typeface="Calibri" pitchFamily="34" charset="-120"/>
                        </a:rPr>
                        <a:t>drive, pickup_authorized, sedan, child restraint</a:t>
                      </a:r>
                      <a:endParaRPr lang="en-US" sz="11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533"/>
                          </a:solidFill>
                          <a:latin typeface="Calibri" pitchFamily="34" charset="0"/>
                          <a:ea typeface="Calibri" pitchFamily="34" charset="-122"/>
                          <a:cs typeface="Calibri" pitchFamily="34" charset="-120"/>
                        </a:rPr>
                        <a:t>Grocery collection</a:t>
                      </a:r>
                      <a:endParaRPr lang="en-US" sz="13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dirty="0">
                          <a:solidFill>
                            <a:srgbClr val="1B2533"/>
                          </a:solidFill>
                          <a:latin typeface="Consolas" pitchFamily="34" charset="0"/>
                          <a:ea typeface="Consolas" pitchFamily="34" charset="-122"/>
                          <a:cs typeface="Consolas" pitchFamily="34" charset="-120"/>
                        </a:rPr>
                        <a:t>3</a:t>
                      </a:r>
                      <a:endParaRPr lang="en-US" sz="1300" dirty="0">
                        <a:latin typeface="Consolas" charset="0"/>
                        <a:ea typeface="Consolas" charset="0"/>
                        <a:cs typeface="Consolas"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dirty="0">
                          <a:solidFill>
                            <a:srgbClr val="1B2533"/>
                          </a:solidFill>
                          <a:latin typeface="Calibri" pitchFamily="34" charset="0"/>
                          <a:ea typeface="Calibri" pitchFamily="34" charset="-122"/>
                          <a:cs typeface="Calibri" pitchFamily="34" charset="-120"/>
                        </a:rPr>
                        <a:t>Amina</a:t>
                      </a:r>
                      <a:endParaRPr lang="en-US" sz="13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200" dirty="0">
                          <a:solidFill>
                            <a:srgbClr val="1B2533"/>
                          </a:solidFill>
                          <a:latin typeface="Consolas" pitchFamily="34" charset="0"/>
                          <a:ea typeface="Consolas" pitchFamily="34" charset="-122"/>
                          <a:cs typeface="Consolas" pitchFamily="34" charset="-120"/>
                        </a:rPr>
                        <a:t>15:55–16:30</a:t>
                      </a:r>
                      <a:endParaRPr lang="en-US" sz="1200" dirty="0">
                        <a:latin typeface="Consolas" charset="0"/>
                        <a:ea typeface="Consolas" charset="0"/>
                        <a:cs typeface="Consolas"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100" dirty="0">
                          <a:solidFill>
                            <a:srgbClr val="1B2533"/>
                          </a:solidFill>
                          <a:latin typeface="Calibri" pitchFamily="34" charset="0"/>
                          <a:ea typeface="Calibri" pitchFamily="34" charset="-122"/>
                          <a:cs typeface="Calibri" pitchFamily="34" charset="-120"/>
                        </a:rPr>
                        <a:t>shopping, sedan</a:t>
                      </a:r>
                      <a:endParaRPr lang="en-US" sz="11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533"/>
                          </a:solidFill>
                          <a:latin typeface="Calibri" pitchFamily="34" charset="0"/>
                          <a:ea typeface="Calibri" pitchFamily="34" charset="-122"/>
                          <a:cs typeface="Calibri" pitchFamily="34" charset="-120"/>
                        </a:rPr>
                        <a:t>Homework assistance</a:t>
                      </a:r>
                      <a:endParaRPr lang="en-US" sz="13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dirty="0">
                          <a:solidFill>
                            <a:srgbClr val="1B2533"/>
                          </a:solidFill>
                          <a:latin typeface="Consolas" pitchFamily="34" charset="0"/>
                          <a:ea typeface="Consolas" pitchFamily="34" charset="-122"/>
                          <a:cs typeface="Consolas" pitchFamily="34" charset="-120"/>
                        </a:rPr>
                        <a:t>1</a:t>
                      </a:r>
                      <a:endParaRPr lang="en-US" sz="1300" dirty="0">
                        <a:latin typeface="Consolas" charset="0"/>
                        <a:ea typeface="Consolas" charset="0"/>
                        <a:cs typeface="Consolas"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dirty="0">
                          <a:solidFill>
                            <a:srgbClr val="1B2533"/>
                          </a:solidFill>
                          <a:latin typeface="Calibri" pitchFamily="34" charset="0"/>
                          <a:ea typeface="Calibri" pitchFamily="34" charset="-122"/>
                          <a:cs typeface="Calibri" pitchFamily="34" charset="-120"/>
                        </a:rPr>
                        <a:t>Amina</a:t>
                      </a:r>
                      <a:endParaRPr lang="en-US" sz="13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200" dirty="0">
                          <a:solidFill>
                            <a:srgbClr val="1B2533"/>
                          </a:solidFill>
                          <a:latin typeface="Consolas" pitchFamily="34" charset="0"/>
                          <a:ea typeface="Consolas" pitchFamily="34" charset="-122"/>
                          <a:cs typeface="Consolas" pitchFamily="34" charset="-120"/>
                        </a:rPr>
                        <a:t>16:45–17:15</a:t>
                      </a:r>
                      <a:endParaRPr lang="en-US" sz="1200" dirty="0">
                        <a:latin typeface="Consolas" charset="0"/>
                        <a:ea typeface="Consolas" charset="0"/>
                        <a:cs typeface="Consolas"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100" dirty="0">
                          <a:solidFill>
                            <a:srgbClr val="1B2533"/>
                          </a:solidFill>
                          <a:latin typeface="Calibri" pitchFamily="34" charset="0"/>
                          <a:ea typeface="Calibri" pitchFamily="34" charset="-122"/>
                          <a:cs typeface="Calibri" pitchFamily="34" charset="-120"/>
                        </a:rPr>
                        <a:t>homework_assist, study area, milestone M01</a:t>
                      </a:r>
                      <a:endParaRPr lang="en-US" sz="11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533"/>
                          </a:solidFill>
                          <a:latin typeface="Calibri" pitchFamily="34" charset="0"/>
                          <a:ea typeface="Calibri" pitchFamily="34" charset="-122"/>
                          <a:cs typeface="Calibri" pitchFamily="34" charset="-120"/>
                        </a:rPr>
                        <a:t>Dinner preparation</a:t>
                      </a:r>
                      <a:endParaRPr lang="en-US" sz="13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dirty="0">
                          <a:solidFill>
                            <a:srgbClr val="1B2533"/>
                          </a:solidFill>
                          <a:latin typeface="Consolas" pitchFamily="34" charset="0"/>
                          <a:ea typeface="Consolas" pitchFamily="34" charset="-122"/>
                          <a:cs typeface="Consolas" pitchFamily="34" charset="-120"/>
                        </a:rPr>
                        <a:t>1</a:t>
                      </a:r>
                      <a:endParaRPr lang="en-US" sz="1300" dirty="0">
                        <a:latin typeface="Consolas" charset="0"/>
                        <a:ea typeface="Consolas" charset="0"/>
                        <a:cs typeface="Consolas"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300" dirty="0">
                          <a:solidFill>
                            <a:srgbClr val="1B2533"/>
                          </a:solidFill>
                          <a:latin typeface="Calibri" pitchFamily="34" charset="0"/>
                          <a:ea typeface="Calibri" pitchFamily="34" charset="-122"/>
                          <a:cs typeface="Calibri" pitchFamily="34" charset="-120"/>
                        </a:rPr>
                        <a:t>Khalid</a:t>
                      </a:r>
                      <a:endParaRPr lang="en-US" sz="13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200" dirty="0">
                          <a:solidFill>
                            <a:srgbClr val="1B2533"/>
                          </a:solidFill>
                          <a:latin typeface="Consolas" pitchFamily="34" charset="0"/>
                          <a:ea typeface="Consolas" pitchFamily="34" charset="-122"/>
                          <a:cs typeface="Consolas" pitchFamily="34" charset="-120"/>
                        </a:rPr>
                        <a:t>17:30–18:00</a:t>
                      </a:r>
                      <a:endParaRPr lang="en-US" sz="1200" dirty="0">
                        <a:latin typeface="Consolas" charset="0"/>
                        <a:ea typeface="Consolas" charset="0"/>
                        <a:cs typeface="Consolas"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indent="0" marL="0">
                        <a:buNone/>
                      </a:pPr>
                      <a:r>
                        <a:rPr lang="en-US" sz="1100" dirty="0">
                          <a:solidFill>
                            <a:srgbClr val="1B2533"/>
                          </a:solidFill>
                          <a:latin typeface="Calibri" pitchFamily="34" charset="0"/>
                          <a:ea typeface="Calibri" pitchFamily="34" charset="-122"/>
                          <a:cs typeface="Calibri" pitchFamily="34" charset="-120"/>
                        </a:rPr>
                        <a:t>meal_prep, kitchen</a:t>
                      </a:r>
                      <a:endParaRPr lang="en-US" sz="1100" dirty="0">
                        <a:latin typeface="Calibri" charset="0"/>
                        <a:ea typeface="Calibri" charset="0"/>
                        <a:cs typeface="Calibri" charset="0"/>
                      </a:endParaRPr>
                    </a:p>
                  </a:txBody>
                  <a:tcPr marL="73152" marR="73152" marT="27432" marB="27432"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r>
            </a:tbl>
          </a:graphicData>
        </a:graphic>
      </p:graphicFrame>
      <p:sp>
        <p:nvSpPr>
          <p:cNvPr id="18" name="Shape 14"/>
          <p:cNvSpPr/>
          <p:nvPr/>
        </p:nvSpPr>
        <p:spPr>
          <a:xfrm>
            <a:off x="5577840" y="4434840"/>
            <a:ext cx="6035040" cy="1417320"/>
          </a:xfrm>
          <a:prstGeom prst="roundRect">
            <a:avLst>
              <a:gd name="adj" fmla="val 5161"/>
            </a:avLst>
          </a:prstGeom>
          <a:solidFill>
            <a:srgbClr val="102B4E"/>
          </a:solidFill>
          <a:ln/>
        </p:spPr>
      </p:sp>
      <p:sp>
        <p:nvSpPr>
          <p:cNvPr id="19" name="Text 15"/>
          <p:cNvSpPr txBox="1"/>
          <p:nvPr/>
        </p:nvSpPr>
        <p:spPr>
          <a:xfrm>
            <a:off x="5760720" y="4553712"/>
            <a:ext cx="5669280" cy="502920"/>
          </a:xfrm>
          <a:prstGeom prst="rect">
            <a:avLst/>
          </a:prstGeom>
          <a:noFill/>
          <a:ln/>
        </p:spPr>
        <p:txBody>
          <a:bodyPr wrap="square" lIns="0" tIns="0" rIns="0" bIns="0" rtlCol="0" anchor="t"/>
          <a:lstStyle/>
          <a:p>
            <a:pPr indent="0" marL="0">
              <a:buNone/>
            </a:pPr>
            <a:r>
              <a:rPr lang="en-US" sz="1200" dirty="0">
                <a:solidFill>
                  <a:srgbClr val="82B2D6"/>
                </a:solidFill>
                <a:latin typeface="Consolas" pitchFamily="34" charset="0"/>
                <a:ea typeface="Consolas" pitchFamily="34" charset="-122"/>
                <a:cs typeface="Consolas" pitchFamily="34" charset="-120"/>
              </a:rPr>
              <a:t>T01 pickup ──enables──▶ M01 “Yusuf arrived home”</a:t>
            </a:r>
            <a:endParaRPr lang="en-US" sz="1200" dirty="0"/>
          </a:p>
          <a:p>
            <a:pPr indent="0" marL="0">
              <a:buNone/>
            </a:pPr>
            <a:r>
              <a:rPr lang="en-US" sz="1200" dirty="0">
                <a:solidFill>
                  <a:srgbClr val="82B2D6"/>
                </a:solidFill>
                <a:latin typeface="Consolas" pitchFamily="34" charset="0"/>
                <a:ea typeface="Consolas" pitchFamily="34" charset="-122"/>
                <a:cs typeface="Consolas" pitchFamily="34" charset="-120"/>
              </a:rPr>
              <a:t>T03 homework ──depends on──▶ M01</a:t>
            </a:r>
            <a:endParaRPr lang="en-US" sz="1200" dirty="0"/>
          </a:p>
        </p:txBody>
      </p:sp>
      <p:sp>
        <p:nvSpPr>
          <p:cNvPr id="20" name="Text 16"/>
          <p:cNvSpPr txBox="1"/>
          <p:nvPr/>
        </p:nvSpPr>
        <p:spPr>
          <a:xfrm>
            <a:off x="5760720" y="5120640"/>
            <a:ext cx="5669280" cy="6400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dependency is stored in the household model, not inferred from a picture. Baseline check: 18 verifier rules, 0 violations (test T01).</a:t>
            </a:r>
            <a:endParaRPr lang="en-US" sz="1300" dirty="0"/>
          </a:p>
        </p:txBody>
      </p:sp>
      <p:sp>
        <p:nvSpPr>
          <p:cNvPr id="21"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data/households/amina.json; benchmark case T01 “Amina baseline”.</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82B2D6"/>
                </a:solidFill>
                <a:latin typeface="Consolas" pitchFamily="34" charset="0"/>
                <a:ea typeface="Consolas" pitchFamily="34" charset="-122"/>
                <a:cs typeface="Consolas" pitchFamily="34" charset="-120"/>
              </a:rPr>
              <a:t>ACT I · THE PROBLEM → ANALYSIS</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The cascade begins</a:t>
            </a:r>
            <a:endParaRPr lang="en-US" sz="3200" dirty="0"/>
          </a:p>
        </p:txBody>
      </p:sp>
      <p:sp>
        <p:nvSpPr>
          <p:cNvPr id="5" name="Shape 2"/>
          <p:cNvSpPr/>
          <p:nvPr/>
        </p:nvSpPr>
        <p:spPr>
          <a:xfrm>
            <a:off x="548640" y="1417320"/>
            <a:ext cx="7818120" cy="4526280"/>
          </a:xfrm>
          <a:prstGeom prst="roundRect">
            <a:avLst>
              <a:gd name="adj" fmla="val 1616"/>
            </a:avLst>
          </a:prstGeom>
          <a:solidFill>
            <a:srgbClr val="0C2442"/>
          </a:solidFill>
          <a:ln/>
        </p:spPr>
      </p:sp>
      <p:sp>
        <p:nvSpPr>
          <p:cNvPr id="6" name="Shape 3"/>
          <p:cNvSpPr/>
          <p:nvPr/>
        </p:nvSpPr>
        <p:spPr>
          <a:xfrm flipV="1">
            <a:off x="1365199" y="2089953"/>
            <a:ext cx="0" cy="724205"/>
          </a:xfrm>
          <a:prstGeom prst="line">
            <a:avLst/>
          </a:prstGeom>
          <a:noFill/>
          <a:ln w="25400">
            <a:solidFill>
              <a:srgbClr val="E08A8E"/>
            </a:solidFill>
            <a:prstDash val="solid"/>
          </a:ln>
        </p:spPr>
      </p:sp>
      <p:sp>
        <p:nvSpPr>
          <p:cNvPr id="7" name="Shape 4"/>
          <p:cNvSpPr/>
          <p:nvPr/>
        </p:nvSpPr>
        <p:spPr>
          <a:xfrm flipV="1">
            <a:off x="1365199" y="2089953"/>
            <a:ext cx="0" cy="1375989"/>
          </a:xfrm>
          <a:prstGeom prst="line">
            <a:avLst/>
          </a:prstGeom>
          <a:noFill/>
          <a:ln w="25400">
            <a:solidFill>
              <a:srgbClr val="E08A8E"/>
            </a:solidFill>
            <a:prstDash val="solid"/>
          </a:ln>
        </p:spPr>
      </p:sp>
      <p:sp>
        <p:nvSpPr>
          <p:cNvPr id="8" name="Shape 5"/>
          <p:cNvSpPr/>
          <p:nvPr/>
        </p:nvSpPr>
        <p:spPr>
          <a:xfrm flipV="1">
            <a:off x="1365199" y="2089953"/>
            <a:ext cx="0" cy="2027773"/>
          </a:xfrm>
          <a:prstGeom prst="line">
            <a:avLst/>
          </a:prstGeom>
          <a:noFill/>
          <a:ln w="25400">
            <a:solidFill>
              <a:srgbClr val="E08A8E"/>
            </a:solidFill>
            <a:prstDash val="solid"/>
          </a:ln>
        </p:spPr>
      </p:sp>
      <p:sp>
        <p:nvSpPr>
          <p:cNvPr id="9" name="Shape 6"/>
          <p:cNvSpPr/>
          <p:nvPr/>
        </p:nvSpPr>
        <p:spPr>
          <a:xfrm flipV="1">
            <a:off x="2873959" y="2089953"/>
            <a:ext cx="0" cy="2679558"/>
          </a:xfrm>
          <a:prstGeom prst="line">
            <a:avLst/>
          </a:prstGeom>
          <a:noFill/>
          <a:ln w="15875">
            <a:solidFill>
              <a:srgbClr val="2A4E7C"/>
            </a:solidFill>
            <a:prstDash val="solid"/>
          </a:ln>
        </p:spPr>
      </p:sp>
      <p:sp>
        <p:nvSpPr>
          <p:cNvPr id="10" name="Shape 7"/>
          <p:cNvSpPr/>
          <p:nvPr/>
        </p:nvSpPr>
        <p:spPr>
          <a:xfrm flipV="1">
            <a:off x="1998878" y="2904683"/>
            <a:ext cx="4948733" cy="108631"/>
          </a:xfrm>
          <a:prstGeom prst="line">
            <a:avLst/>
          </a:prstGeom>
          <a:noFill/>
          <a:ln w="12700">
            <a:solidFill>
              <a:srgbClr val="2A4E7C"/>
            </a:solidFill>
            <a:prstDash val="dash"/>
          </a:ln>
        </p:spPr>
      </p:sp>
      <p:sp>
        <p:nvSpPr>
          <p:cNvPr id="11" name="Shape 8"/>
          <p:cNvSpPr/>
          <p:nvPr/>
        </p:nvSpPr>
        <p:spPr>
          <a:xfrm>
            <a:off x="1998878" y="3013314"/>
            <a:ext cx="4948733" cy="470733"/>
          </a:xfrm>
          <a:prstGeom prst="line">
            <a:avLst/>
          </a:prstGeom>
          <a:noFill/>
          <a:ln w="12700">
            <a:solidFill>
              <a:srgbClr val="2A4E7C"/>
            </a:solidFill>
            <a:prstDash val="dash"/>
          </a:ln>
        </p:spPr>
      </p:sp>
      <p:sp>
        <p:nvSpPr>
          <p:cNvPr id="12" name="Shape 9"/>
          <p:cNvSpPr/>
          <p:nvPr/>
        </p:nvSpPr>
        <p:spPr>
          <a:xfrm flipV="1">
            <a:off x="1998878" y="2904683"/>
            <a:ext cx="4948733" cy="760415"/>
          </a:xfrm>
          <a:prstGeom prst="line">
            <a:avLst/>
          </a:prstGeom>
          <a:noFill/>
          <a:ln w="12700">
            <a:solidFill>
              <a:srgbClr val="2A4E7C"/>
            </a:solidFill>
            <a:prstDash val="dash"/>
          </a:ln>
        </p:spPr>
      </p:sp>
      <p:sp>
        <p:nvSpPr>
          <p:cNvPr id="13" name="Shape 10"/>
          <p:cNvSpPr/>
          <p:nvPr/>
        </p:nvSpPr>
        <p:spPr>
          <a:xfrm flipV="1">
            <a:off x="1998878" y="4063411"/>
            <a:ext cx="4948733" cy="253472"/>
          </a:xfrm>
          <a:prstGeom prst="line">
            <a:avLst/>
          </a:prstGeom>
          <a:noFill/>
          <a:ln w="12700">
            <a:solidFill>
              <a:srgbClr val="2A4E7C"/>
            </a:solidFill>
            <a:prstDash val="dash"/>
          </a:ln>
        </p:spPr>
      </p:sp>
      <p:sp>
        <p:nvSpPr>
          <p:cNvPr id="14" name="Shape 11"/>
          <p:cNvSpPr/>
          <p:nvPr/>
        </p:nvSpPr>
        <p:spPr>
          <a:xfrm flipV="1">
            <a:off x="3507638" y="4642775"/>
            <a:ext cx="3439973" cy="325892"/>
          </a:xfrm>
          <a:prstGeom prst="line">
            <a:avLst/>
          </a:prstGeom>
          <a:noFill/>
          <a:ln w="12700">
            <a:solidFill>
              <a:srgbClr val="2A4E7C"/>
            </a:solidFill>
            <a:prstDash val="dash"/>
          </a:ln>
        </p:spPr>
      </p:sp>
      <p:sp>
        <p:nvSpPr>
          <p:cNvPr id="15" name="Shape 12"/>
          <p:cNvSpPr/>
          <p:nvPr/>
        </p:nvSpPr>
        <p:spPr>
          <a:xfrm>
            <a:off x="1998878" y="2953567"/>
            <a:ext cx="3500323" cy="579364"/>
          </a:xfrm>
          <a:prstGeom prst="line">
            <a:avLst/>
          </a:prstGeom>
          <a:noFill/>
          <a:ln w="25400">
            <a:solidFill>
              <a:srgbClr val="E6B756"/>
            </a:solidFill>
            <a:prstDash val="solid"/>
            <a:tailEnd type="triangle"/>
          </a:ln>
        </p:spPr>
      </p:sp>
      <p:sp>
        <p:nvSpPr>
          <p:cNvPr id="16" name="Shape 13"/>
          <p:cNvSpPr/>
          <p:nvPr/>
        </p:nvSpPr>
        <p:spPr>
          <a:xfrm flipV="1">
            <a:off x="1998878" y="3791834"/>
            <a:ext cx="3862426" cy="445386"/>
          </a:xfrm>
          <a:prstGeom prst="line">
            <a:avLst/>
          </a:prstGeom>
          <a:noFill/>
          <a:ln w="19050">
            <a:solidFill>
              <a:srgbClr val="E6B756"/>
            </a:solidFill>
            <a:prstDash val="sysDot"/>
            <a:tailEnd type="triangle"/>
          </a:ln>
        </p:spPr>
      </p:sp>
      <p:sp>
        <p:nvSpPr>
          <p:cNvPr id="17" name="Shape 14"/>
          <p:cNvSpPr/>
          <p:nvPr/>
        </p:nvSpPr>
        <p:spPr>
          <a:xfrm flipV="1">
            <a:off x="1998878" y="2089953"/>
            <a:ext cx="3591763" cy="815645"/>
          </a:xfrm>
          <a:prstGeom prst="line">
            <a:avLst/>
          </a:prstGeom>
          <a:noFill/>
          <a:ln w="12700">
            <a:solidFill>
              <a:srgbClr val="E6B756"/>
            </a:solidFill>
            <a:prstDash val="sysDot"/>
            <a:tailEnd type="triangle"/>
          </a:ln>
        </p:spPr>
      </p:sp>
      <p:sp>
        <p:nvSpPr>
          <p:cNvPr id="18" name="node-P01"/>
          <p:cNvSpPr/>
          <p:nvPr/>
        </p:nvSpPr>
        <p:spPr>
          <a:xfrm>
            <a:off x="731520" y="1691640"/>
            <a:ext cx="1267358" cy="398313"/>
          </a:xfrm>
          <a:prstGeom prst="roundRect">
            <a:avLst>
              <a:gd name="adj" fmla="val 18365"/>
            </a:avLst>
          </a:prstGeom>
          <a:solidFill>
            <a:srgbClr val="4A2430"/>
          </a:solidFill>
          <a:ln w="12700">
            <a:solidFill>
              <a:srgbClr val="E08A8E"/>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Amina</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out 14:30–18:00</a:t>
            </a:r>
            <a:endParaRPr lang="en-US" sz="1000" dirty="0"/>
          </a:p>
        </p:txBody>
      </p:sp>
      <p:sp>
        <p:nvSpPr>
          <p:cNvPr id="19" name="node-P02"/>
          <p:cNvSpPr/>
          <p:nvPr/>
        </p:nvSpPr>
        <p:spPr>
          <a:xfrm>
            <a:off x="2240280" y="1691640"/>
            <a:ext cx="1267358" cy="398313"/>
          </a:xfrm>
          <a:prstGeom prst="roundRect">
            <a:avLst>
              <a:gd name="adj" fmla="val 18365"/>
            </a:avLst>
          </a:prstGeom>
          <a:solidFill>
            <a:srgbClr val="14304F"/>
          </a:solidFill>
          <a:ln w="12700">
            <a:solidFill>
              <a:srgbClr val="2A4E7C"/>
            </a:solidFill>
          </a:ln>
        </p:spPr>
        <p:txBody>
          <a:bodyPr wrap="square" lIns="25400" tIns="76200" rIns="76200" bIns="25400" rtlCol="0" anchor="ctr"/>
          <a:lstStyle/>
          <a:p>
            <a:pPr algn="l" indent="0" marL="0">
              <a:buNone/>
            </a:pPr>
            <a:r>
              <a:rPr lang="en-US" sz="1000" b="1" dirty="0">
                <a:solidFill>
                  <a:srgbClr val="7F9BB8"/>
                </a:solidFill>
                <a:latin typeface="Calibri" pitchFamily="34" charset="0"/>
                <a:ea typeface="Calibri" pitchFamily="34" charset="-122"/>
                <a:cs typeface="Calibri" pitchFamily="34" charset="-120"/>
              </a:rPr>
              <a:t>Khalid</a:t>
            </a:r>
            <a:endParaRPr lang="en-US" sz="1000" dirty="0"/>
          </a:p>
          <a:p>
            <a:pPr algn="l" indent="0" marL="0">
              <a:buNone/>
            </a:pPr>
            <a:r>
              <a:rPr lang="en-US" sz="1000" dirty="0">
                <a:solidFill>
                  <a:srgbClr val="7F9BB8"/>
                </a:solidFill>
                <a:latin typeface="Consolas" pitchFamily="34" charset="0"/>
                <a:ea typeface="Consolas" pitchFamily="34" charset="-122"/>
                <a:cs typeface="Consolas" pitchFamily="34" charset="-120"/>
              </a:rPr>
              <a:t>adult · 43</a:t>
            </a:r>
            <a:endParaRPr lang="en-US" sz="1000" dirty="0"/>
          </a:p>
        </p:txBody>
      </p:sp>
      <p:sp>
        <p:nvSpPr>
          <p:cNvPr id="20" name="node-P03"/>
          <p:cNvSpPr/>
          <p:nvPr/>
        </p:nvSpPr>
        <p:spPr>
          <a:xfrm>
            <a:off x="3749040" y="1691640"/>
            <a:ext cx="1267358" cy="398313"/>
          </a:xfrm>
          <a:prstGeom prst="roundRect">
            <a:avLst>
              <a:gd name="adj" fmla="val 18365"/>
            </a:avLst>
          </a:prstGeom>
          <a:solidFill>
            <a:srgbClr val="14304F"/>
          </a:solidFill>
          <a:ln w="12700">
            <a:solidFill>
              <a:srgbClr val="2A4E7C"/>
            </a:solidFill>
          </a:ln>
        </p:spPr>
        <p:txBody>
          <a:bodyPr wrap="square" lIns="25400" tIns="76200" rIns="76200" bIns="25400" rtlCol="0" anchor="ctr"/>
          <a:lstStyle/>
          <a:p>
            <a:pPr algn="l" indent="0" marL="0">
              <a:buNone/>
            </a:pPr>
            <a:r>
              <a:rPr lang="en-US" sz="1000" b="1" dirty="0">
                <a:solidFill>
                  <a:srgbClr val="7F9BB8"/>
                </a:solidFill>
                <a:latin typeface="Calibri" pitchFamily="34" charset="0"/>
                <a:ea typeface="Calibri" pitchFamily="34" charset="-122"/>
                <a:cs typeface="Calibri" pitchFamily="34" charset="-120"/>
              </a:rPr>
              <a:t>Noura</a:t>
            </a:r>
            <a:endParaRPr lang="en-US" sz="1000" dirty="0"/>
          </a:p>
          <a:p>
            <a:pPr algn="l" indent="0" marL="0">
              <a:buNone/>
            </a:pPr>
            <a:r>
              <a:rPr lang="en-US" sz="1000" dirty="0">
                <a:solidFill>
                  <a:srgbClr val="7F9BB8"/>
                </a:solidFill>
                <a:latin typeface="Consolas" pitchFamily="34" charset="0"/>
                <a:ea typeface="Consolas" pitchFamily="34" charset="-122"/>
                <a:cs typeface="Consolas" pitchFamily="34" charset="-120"/>
              </a:rPr>
              <a:t>teen · 16</a:t>
            </a:r>
            <a:endParaRPr lang="en-US" sz="1000" dirty="0"/>
          </a:p>
        </p:txBody>
      </p:sp>
      <p:sp>
        <p:nvSpPr>
          <p:cNvPr id="21" name="node-P04"/>
          <p:cNvSpPr/>
          <p:nvPr/>
        </p:nvSpPr>
        <p:spPr>
          <a:xfrm>
            <a:off x="5499202" y="1691640"/>
            <a:ext cx="1267358" cy="398313"/>
          </a:xfrm>
          <a:prstGeom prst="roundRect">
            <a:avLst>
              <a:gd name="adj" fmla="val 18365"/>
            </a:avLst>
          </a:prstGeom>
          <a:solidFill>
            <a:srgbClr val="43361B"/>
          </a:solidFill>
          <a:ln w="12700">
            <a:solidFill>
              <a:srgbClr val="E6B756"/>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Yusuf</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dependent</a:t>
            </a:r>
            <a:endParaRPr lang="en-US" sz="1000" dirty="0"/>
          </a:p>
        </p:txBody>
      </p:sp>
      <p:sp>
        <p:nvSpPr>
          <p:cNvPr id="22" name="node-T01"/>
          <p:cNvSpPr/>
          <p:nvPr/>
        </p:nvSpPr>
        <p:spPr>
          <a:xfrm>
            <a:off x="731520" y="2814157"/>
            <a:ext cx="1267358" cy="398313"/>
          </a:xfrm>
          <a:prstGeom prst="roundRect">
            <a:avLst>
              <a:gd name="adj" fmla="val 18365"/>
            </a:avLst>
          </a:prstGeom>
          <a:solidFill>
            <a:srgbClr val="4A2430"/>
          </a:solidFill>
          <a:ln w="12700">
            <a:solidFill>
              <a:srgbClr val="E08A8E"/>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School pickup</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14:45–15:25</a:t>
            </a:r>
            <a:endParaRPr lang="en-US" sz="1000" dirty="0"/>
          </a:p>
        </p:txBody>
      </p:sp>
      <p:sp>
        <p:nvSpPr>
          <p:cNvPr id="23" name="node-T02"/>
          <p:cNvSpPr/>
          <p:nvPr/>
        </p:nvSpPr>
        <p:spPr>
          <a:xfrm>
            <a:off x="731520" y="3465942"/>
            <a:ext cx="1267358" cy="398313"/>
          </a:xfrm>
          <a:prstGeom prst="roundRect">
            <a:avLst>
              <a:gd name="adj" fmla="val 18365"/>
            </a:avLst>
          </a:prstGeom>
          <a:solidFill>
            <a:srgbClr val="4A2430"/>
          </a:solidFill>
          <a:ln w="12700">
            <a:solidFill>
              <a:srgbClr val="E08A8E"/>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Grocery</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15:55–16:30</a:t>
            </a:r>
            <a:endParaRPr lang="en-US" sz="1000" dirty="0"/>
          </a:p>
        </p:txBody>
      </p:sp>
      <p:sp>
        <p:nvSpPr>
          <p:cNvPr id="24" name="node-T03"/>
          <p:cNvSpPr/>
          <p:nvPr/>
        </p:nvSpPr>
        <p:spPr>
          <a:xfrm>
            <a:off x="731520" y="4117726"/>
            <a:ext cx="1267358" cy="398313"/>
          </a:xfrm>
          <a:prstGeom prst="roundRect">
            <a:avLst>
              <a:gd name="adj" fmla="val 18365"/>
            </a:avLst>
          </a:prstGeom>
          <a:solidFill>
            <a:srgbClr val="4A2430"/>
          </a:solidFill>
          <a:ln w="12700">
            <a:solidFill>
              <a:srgbClr val="E08A8E"/>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Homework</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16:45–17:15</a:t>
            </a:r>
            <a:endParaRPr lang="en-US" sz="1000" dirty="0"/>
          </a:p>
        </p:txBody>
      </p:sp>
      <p:sp>
        <p:nvSpPr>
          <p:cNvPr id="25" name="node-T04"/>
          <p:cNvSpPr/>
          <p:nvPr/>
        </p:nvSpPr>
        <p:spPr>
          <a:xfrm>
            <a:off x="2240280" y="4769510"/>
            <a:ext cx="1267358" cy="398313"/>
          </a:xfrm>
          <a:prstGeom prst="roundRect">
            <a:avLst>
              <a:gd name="adj" fmla="val 18365"/>
            </a:avLst>
          </a:prstGeom>
          <a:solidFill>
            <a:srgbClr val="14304F"/>
          </a:solidFill>
          <a:ln w="12700">
            <a:solidFill>
              <a:srgbClr val="2A4E7C"/>
            </a:solidFill>
          </a:ln>
        </p:spPr>
        <p:txBody>
          <a:bodyPr wrap="square" lIns="25400" tIns="76200" rIns="76200" bIns="25400" rtlCol="0" anchor="ctr"/>
          <a:lstStyle/>
          <a:p>
            <a:pPr algn="l" indent="0" marL="0">
              <a:buNone/>
            </a:pPr>
            <a:r>
              <a:rPr lang="en-US" sz="1000" b="1" dirty="0">
                <a:solidFill>
                  <a:srgbClr val="7F9BB8"/>
                </a:solidFill>
                <a:latin typeface="Calibri" pitchFamily="34" charset="0"/>
                <a:ea typeface="Calibri" pitchFamily="34" charset="-122"/>
                <a:cs typeface="Calibri" pitchFamily="34" charset="-120"/>
              </a:rPr>
              <a:t>Dinner</a:t>
            </a:r>
            <a:endParaRPr lang="en-US" sz="1000" dirty="0"/>
          </a:p>
          <a:p>
            <a:pPr algn="l" indent="0" marL="0">
              <a:buNone/>
            </a:pPr>
            <a:r>
              <a:rPr lang="en-US" sz="1000" dirty="0">
                <a:solidFill>
                  <a:srgbClr val="7F9BB8"/>
                </a:solidFill>
                <a:latin typeface="Consolas" pitchFamily="34" charset="0"/>
                <a:ea typeface="Consolas" pitchFamily="34" charset="-122"/>
                <a:cs typeface="Consolas" pitchFamily="34" charset="-120"/>
              </a:rPr>
              <a:t>17:30–18:00</a:t>
            </a:r>
            <a:endParaRPr lang="en-US" sz="1000" dirty="0"/>
          </a:p>
        </p:txBody>
      </p:sp>
      <p:sp>
        <p:nvSpPr>
          <p:cNvPr id="26" name="node-M01"/>
          <p:cNvSpPr/>
          <p:nvPr/>
        </p:nvSpPr>
        <p:spPr>
          <a:xfrm>
            <a:off x="5499202" y="3393521"/>
            <a:ext cx="1207008" cy="398313"/>
          </a:xfrm>
          <a:prstGeom prst="roundRect">
            <a:avLst>
              <a:gd name="adj" fmla="val 18365"/>
            </a:avLst>
          </a:prstGeom>
          <a:solidFill>
            <a:srgbClr val="43361B"/>
          </a:solidFill>
          <a:ln w="12700">
            <a:solidFill>
              <a:srgbClr val="E6B756"/>
            </a:solidFill>
          </a:ln>
        </p:spPr>
        <p:txBody>
          <a:bodyPr wrap="square" lIns="25400" tIns="76200" rIns="762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Yusuf arrived home</a:t>
            </a:r>
            <a:endParaRPr lang="en-US" sz="1000" dirty="0"/>
          </a:p>
          <a:p>
            <a:pPr algn="l" indent="0" marL="0">
              <a:buNone/>
            </a:pPr>
            <a:r>
              <a:rPr lang="en-US" sz="1000" dirty="0">
                <a:solidFill>
                  <a:srgbClr val="FFFFFF"/>
                </a:solidFill>
                <a:latin typeface="Consolas" pitchFamily="34" charset="0"/>
                <a:ea typeface="Consolas" pitchFamily="34" charset="-122"/>
                <a:cs typeface="Consolas" pitchFamily="34" charset="-120"/>
              </a:rPr>
              <a:t>milestone M01</a:t>
            </a:r>
            <a:endParaRPr lang="en-US" sz="1000" dirty="0"/>
          </a:p>
        </p:txBody>
      </p:sp>
      <p:sp>
        <p:nvSpPr>
          <p:cNvPr id="27" name="node-R01"/>
          <p:cNvSpPr/>
          <p:nvPr/>
        </p:nvSpPr>
        <p:spPr>
          <a:xfrm>
            <a:off x="6947611" y="2705527"/>
            <a:ext cx="1146658" cy="398313"/>
          </a:xfrm>
          <a:prstGeom prst="roundRect">
            <a:avLst>
              <a:gd name="adj" fmla="val 18365"/>
            </a:avLst>
          </a:prstGeom>
          <a:solidFill>
            <a:srgbClr val="14304F"/>
          </a:solidFill>
          <a:ln w="12700">
            <a:solidFill>
              <a:srgbClr val="2A4E7C"/>
            </a:solidFill>
          </a:ln>
        </p:spPr>
        <p:txBody>
          <a:bodyPr wrap="square" lIns="25400" tIns="76200" rIns="76200" bIns="25400" rtlCol="0" anchor="ctr"/>
          <a:lstStyle/>
          <a:p>
            <a:pPr algn="l" indent="0" marL="0">
              <a:buNone/>
            </a:pPr>
            <a:r>
              <a:rPr lang="en-US" sz="1000" b="1" dirty="0">
                <a:solidFill>
                  <a:srgbClr val="7F9BB8"/>
                </a:solidFill>
                <a:latin typeface="Calibri" pitchFamily="34" charset="0"/>
                <a:ea typeface="Calibri" pitchFamily="34" charset="-122"/>
                <a:cs typeface="Calibri" pitchFamily="34" charset="-120"/>
              </a:rPr>
              <a:t>Family sedan</a:t>
            </a:r>
            <a:endParaRPr lang="en-US" sz="1000" dirty="0"/>
          </a:p>
          <a:p>
            <a:pPr algn="l" indent="0" marL="0">
              <a:buNone/>
            </a:pPr>
            <a:r>
              <a:rPr lang="en-US" sz="1000" dirty="0">
                <a:solidFill>
                  <a:srgbClr val="7F9BB8"/>
                </a:solidFill>
                <a:latin typeface="Consolas" pitchFamily="34" charset="0"/>
                <a:ea typeface="Consolas" pitchFamily="34" charset="-122"/>
                <a:cs typeface="Consolas" pitchFamily="34" charset="-120"/>
              </a:rPr>
              <a:t>vehicle · 5</a:t>
            </a:r>
            <a:endParaRPr lang="en-US" sz="1000" dirty="0"/>
          </a:p>
        </p:txBody>
      </p:sp>
      <p:sp>
        <p:nvSpPr>
          <p:cNvPr id="28" name="node-R04"/>
          <p:cNvSpPr/>
          <p:nvPr/>
        </p:nvSpPr>
        <p:spPr>
          <a:xfrm>
            <a:off x="6947611" y="3284891"/>
            <a:ext cx="1146658" cy="398313"/>
          </a:xfrm>
          <a:prstGeom prst="roundRect">
            <a:avLst>
              <a:gd name="adj" fmla="val 18365"/>
            </a:avLst>
          </a:prstGeom>
          <a:solidFill>
            <a:srgbClr val="14304F"/>
          </a:solidFill>
          <a:ln w="12700">
            <a:solidFill>
              <a:srgbClr val="2A4E7C"/>
            </a:solidFill>
          </a:ln>
        </p:spPr>
        <p:txBody>
          <a:bodyPr wrap="square" lIns="25400" tIns="76200" rIns="76200" bIns="25400" rtlCol="0" anchor="ctr"/>
          <a:lstStyle/>
          <a:p>
            <a:pPr algn="l" indent="0" marL="0">
              <a:buNone/>
            </a:pPr>
            <a:r>
              <a:rPr lang="en-US" sz="1000" b="1" dirty="0">
                <a:solidFill>
                  <a:srgbClr val="7F9BB8"/>
                </a:solidFill>
                <a:latin typeface="Calibri" pitchFamily="34" charset="0"/>
                <a:ea typeface="Calibri" pitchFamily="34" charset="-122"/>
                <a:cs typeface="Calibri" pitchFamily="34" charset="-120"/>
              </a:rPr>
              <a:t>Child restraint</a:t>
            </a:r>
            <a:endParaRPr lang="en-US" sz="1000" dirty="0"/>
          </a:p>
          <a:p>
            <a:pPr algn="l" indent="0" marL="0">
              <a:buNone/>
            </a:pPr>
            <a:r>
              <a:rPr lang="en-US" sz="1000" dirty="0">
                <a:solidFill>
                  <a:srgbClr val="7F9BB8"/>
                </a:solidFill>
                <a:latin typeface="Consolas" pitchFamily="34" charset="0"/>
                <a:ea typeface="Consolas" pitchFamily="34" charset="-122"/>
                <a:cs typeface="Consolas" pitchFamily="34" charset="-120"/>
              </a:rPr>
              <a:t>cap 1</a:t>
            </a:r>
            <a:endParaRPr lang="en-US" sz="1000" dirty="0"/>
          </a:p>
        </p:txBody>
      </p:sp>
      <p:sp>
        <p:nvSpPr>
          <p:cNvPr id="29" name="node-R03"/>
          <p:cNvSpPr/>
          <p:nvPr/>
        </p:nvSpPr>
        <p:spPr>
          <a:xfrm>
            <a:off x="6947611" y="3864254"/>
            <a:ext cx="1146658" cy="398313"/>
          </a:xfrm>
          <a:prstGeom prst="roundRect">
            <a:avLst>
              <a:gd name="adj" fmla="val 18365"/>
            </a:avLst>
          </a:prstGeom>
          <a:solidFill>
            <a:srgbClr val="14304F"/>
          </a:solidFill>
          <a:ln w="12700">
            <a:solidFill>
              <a:srgbClr val="2A4E7C"/>
            </a:solidFill>
          </a:ln>
        </p:spPr>
        <p:txBody>
          <a:bodyPr wrap="square" lIns="25400" tIns="76200" rIns="76200" bIns="25400" rtlCol="0" anchor="ctr"/>
          <a:lstStyle/>
          <a:p>
            <a:pPr algn="l" indent="0" marL="0">
              <a:buNone/>
            </a:pPr>
            <a:r>
              <a:rPr lang="en-US" sz="1000" b="1" dirty="0">
                <a:solidFill>
                  <a:srgbClr val="7F9BB8"/>
                </a:solidFill>
                <a:latin typeface="Calibri" pitchFamily="34" charset="0"/>
                <a:ea typeface="Calibri" pitchFamily="34" charset="-122"/>
                <a:cs typeface="Calibri" pitchFamily="34" charset="-120"/>
              </a:rPr>
              <a:t>Homework area</a:t>
            </a:r>
            <a:endParaRPr lang="en-US" sz="1000" dirty="0"/>
          </a:p>
          <a:p>
            <a:pPr algn="l" indent="0" marL="0">
              <a:buNone/>
            </a:pPr>
            <a:r>
              <a:rPr lang="en-US" sz="1000" dirty="0">
                <a:solidFill>
                  <a:srgbClr val="7F9BB8"/>
                </a:solidFill>
                <a:latin typeface="Consolas" pitchFamily="34" charset="0"/>
                <a:ea typeface="Consolas" pitchFamily="34" charset="-122"/>
                <a:cs typeface="Consolas" pitchFamily="34" charset="-120"/>
              </a:rPr>
              <a:t>cap 1</a:t>
            </a:r>
            <a:endParaRPr lang="en-US" sz="1000" dirty="0"/>
          </a:p>
        </p:txBody>
      </p:sp>
      <p:sp>
        <p:nvSpPr>
          <p:cNvPr id="30" name="node-R02"/>
          <p:cNvSpPr/>
          <p:nvPr/>
        </p:nvSpPr>
        <p:spPr>
          <a:xfrm>
            <a:off x="6947611" y="4443618"/>
            <a:ext cx="1146658" cy="398313"/>
          </a:xfrm>
          <a:prstGeom prst="roundRect">
            <a:avLst>
              <a:gd name="adj" fmla="val 18365"/>
            </a:avLst>
          </a:prstGeom>
          <a:solidFill>
            <a:srgbClr val="14304F"/>
          </a:solidFill>
          <a:ln w="12700">
            <a:solidFill>
              <a:srgbClr val="2A4E7C"/>
            </a:solidFill>
          </a:ln>
        </p:spPr>
        <p:txBody>
          <a:bodyPr wrap="square" lIns="25400" tIns="76200" rIns="76200" bIns="25400" rtlCol="0" anchor="ctr"/>
          <a:lstStyle/>
          <a:p>
            <a:pPr algn="l" indent="0" marL="0">
              <a:buNone/>
            </a:pPr>
            <a:r>
              <a:rPr lang="en-US" sz="1000" b="1" dirty="0">
                <a:solidFill>
                  <a:srgbClr val="7F9BB8"/>
                </a:solidFill>
                <a:latin typeface="Calibri" pitchFamily="34" charset="0"/>
                <a:ea typeface="Calibri" pitchFamily="34" charset="-122"/>
                <a:cs typeface="Calibri" pitchFamily="34" charset="-120"/>
              </a:rPr>
              <a:t>Home kitchen</a:t>
            </a:r>
            <a:endParaRPr lang="en-US" sz="1000" dirty="0"/>
          </a:p>
          <a:p>
            <a:pPr algn="l" indent="0" marL="0">
              <a:buNone/>
            </a:pPr>
            <a:r>
              <a:rPr lang="en-US" sz="1000" dirty="0">
                <a:solidFill>
                  <a:srgbClr val="7F9BB8"/>
                </a:solidFill>
                <a:latin typeface="Consolas" pitchFamily="34" charset="0"/>
                <a:ea typeface="Consolas" pitchFamily="34" charset="-122"/>
                <a:cs typeface="Consolas" pitchFamily="34" charset="-120"/>
              </a:rPr>
              <a:t>cap 1</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549640" y="1417320"/>
          <a:ext cx="3108960" cy="914400"/>
        </p:xfrm>
        <a:graphic>
          <a:graphicData uri="http://schemas.openxmlformats.org/drawingml/2006/table">
            <a:tbl>
              <a:tblPr/>
              <a:tblGrid>
                <a:gridCol w="1371600"/>
                <a:gridCol w="822960"/>
                <a:gridCol w="914400"/>
              </a:tblGrid>
              <a:tr h="384048">
                <a:tc>
                  <a:txBody>
                    <a:bodyPr/>
                    <a:lstStyle/>
                    <a:p>
                      <a:pPr indent="0" marL="0">
                        <a:buNone/>
                      </a:pPr>
                      <a:r>
                        <a:rPr lang="en-US" sz="1200" b="1" dirty="0">
                          <a:solidFill>
                            <a:srgbClr val="102B4E"/>
                          </a:solidFill>
                          <a:latin typeface="Calibri" pitchFamily="34" charset="0"/>
                          <a:ea typeface="Calibri" pitchFamily="34" charset="-122"/>
                          <a:cs typeface="Calibri" pitchFamily="34" charset="-120"/>
                        </a:rPr>
                        <a:t>Entity</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82B2D6"/>
                    </a:solidFill>
                  </a:tcPr>
                </a:tc>
                <a:tc>
                  <a:txBody>
                    <a:bodyPr/>
                    <a:lstStyle/>
                    <a:p>
                      <a:pPr indent="0" marL="0">
                        <a:buNone/>
                      </a:pPr>
                      <a:r>
                        <a:rPr lang="en-US" sz="1200" b="1" dirty="0">
                          <a:solidFill>
                            <a:srgbClr val="102B4E"/>
                          </a:solidFill>
                          <a:latin typeface="Calibri" pitchFamily="34" charset="0"/>
                          <a:ea typeface="Calibri" pitchFamily="34" charset="-122"/>
                          <a:cs typeface="Calibri" pitchFamily="34" charset="-120"/>
                        </a:rPr>
                        <a:t>Before</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82B2D6"/>
                    </a:solidFill>
                  </a:tcPr>
                </a:tc>
                <a:tc>
                  <a:txBody>
                    <a:bodyPr/>
                    <a:lstStyle/>
                    <a:p>
                      <a:pPr indent="0" marL="0">
                        <a:buNone/>
                      </a:pPr>
                      <a:r>
                        <a:rPr lang="en-US" sz="1200" b="1" dirty="0">
                          <a:solidFill>
                            <a:srgbClr val="102B4E"/>
                          </a:solidFill>
                          <a:latin typeface="Calibri" pitchFamily="34" charset="0"/>
                          <a:ea typeface="Calibri" pitchFamily="34" charset="-122"/>
                          <a:cs typeface="Calibri" pitchFamily="34" charset="-120"/>
                        </a:rPr>
                        <a:t>After</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82B2D6"/>
                    </a:solidFill>
                  </a:tcPr>
                </a:tc>
              </a:tr>
              <a:tr h="384048">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Amina</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available</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c>
                  <a:txBody>
                    <a:bodyPr/>
                    <a:lstStyle/>
                    <a:p>
                      <a:pPr indent="0" marL="0">
                        <a:buNone/>
                      </a:pPr>
                      <a:r>
                        <a:rPr lang="en-US" sz="1200" b="1" dirty="0">
                          <a:solidFill>
                            <a:srgbClr val="E08A8E"/>
                          </a:solidFill>
                          <a:latin typeface="Calibri" pitchFamily="34" charset="0"/>
                          <a:ea typeface="Calibri" pitchFamily="34" charset="-122"/>
                          <a:cs typeface="Calibri" pitchFamily="34" charset="-120"/>
                        </a:rPr>
                        <a:t>unavailable</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r>
              <a:tr h="384048">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School pickup</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valid</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c>
                  <a:txBody>
                    <a:bodyPr/>
                    <a:lstStyle/>
                    <a:p>
                      <a:pPr indent="0" marL="0">
                        <a:buNone/>
                      </a:pPr>
                      <a:r>
                        <a:rPr lang="en-US" sz="1200" b="1" dirty="0">
                          <a:solidFill>
                            <a:srgbClr val="E08A8E"/>
                          </a:solidFill>
                          <a:latin typeface="Calibri" pitchFamily="34" charset="0"/>
                          <a:ea typeface="Calibri" pitchFamily="34" charset="-122"/>
                          <a:cs typeface="Calibri" pitchFamily="34" charset="-120"/>
                        </a:rPr>
                        <a:t>direct</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r>
              <a:tr h="384048">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Grocery</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valid</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c>
                  <a:txBody>
                    <a:bodyPr/>
                    <a:lstStyle/>
                    <a:p>
                      <a:pPr indent="0" marL="0">
                        <a:buNone/>
                      </a:pPr>
                      <a:r>
                        <a:rPr lang="en-US" sz="1200" b="1" dirty="0">
                          <a:solidFill>
                            <a:srgbClr val="E08A8E"/>
                          </a:solidFill>
                          <a:latin typeface="Calibri" pitchFamily="34" charset="0"/>
                          <a:ea typeface="Calibri" pitchFamily="34" charset="-122"/>
                          <a:cs typeface="Calibri" pitchFamily="34" charset="-120"/>
                        </a:rPr>
                        <a:t>direct</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r>
              <a:tr h="384048">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Homework</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valid</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c>
                  <a:txBody>
                    <a:bodyPr/>
                    <a:lstStyle/>
                    <a:p>
                      <a:pPr indent="0" marL="0">
                        <a:buNone/>
                      </a:pPr>
                      <a:r>
                        <a:rPr lang="en-US" sz="1200" b="1" dirty="0">
                          <a:solidFill>
                            <a:srgbClr val="E08A8E"/>
                          </a:solidFill>
                          <a:latin typeface="Calibri" pitchFamily="34" charset="0"/>
                          <a:ea typeface="Calibri" pitchFamily="34" charset="-122"/>
                          <a:cs typeface="Calibri" pitchFamily="34" charset="-120"/>
                        </a:rPr>
                        <a:t>direct + risk</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r>
              <a:tr h="384048">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Yusuf arrived home</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satisfiable</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c>
                  <a:txBody>
                    <a:bodyPr/>
                    <a:lstStyle/>
                    <a:p>
                      <a:pPr indent="0" marL="0">
                        <a:buNone/>
                      </a:pPr>
                      <a:r>
                        <a:rPr lang="en-US" sz="1200" b="1" dirty="0">
                          <a:solidFill>
                            <a:srgbClr val="E6B756"/>
                          </a:solidFill>
                          <a:latin typeface="Calibri" pitchFamily="34" charset="0"/>
                          <a:ea typeface="Calibri" pitchFamily="34" charset="-122"/>
                          <a:cs typeface="Calibri" pitchFamily="34" charset="-120"/>
                        </a:rPr>
                        <a:t>at risk</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r>
              <a:tr h="384048">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Yusuf</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served</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c>
                  <a:txBody>
                    <a:bodyPr/>
                    <a:lstStyle/>
                    <a:p>
                      <a:pPr indent="0" marL="0">
                        <a:buNone/>
                      </a:pPr>
                      <a:r>
                        <a:rPr lang="en-US" sz="1200" b="1" dirty="0">
                          <a:solidFill>
                            <a:srgbClr val="E6B756"/>
                          </a:solidFill>
                          <a:latin typeface="Calibri" pitchFamily="34" charset="0"/>
                          <a:ea typeface="Calibri" pitchFamily="34" charset="-122"/>
                          <a:cs typeface="Calibri" pitchFamily="34" charset="-120"/>
                        </a:rPr>
                        <a:t>at risk</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r>
              <a:tr h="384048">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Dinner, Khalid, Noura</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valid</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c>
                  <a:txBody>
                    <a:bodyPr/>
                    <a:lstStyle/>
                    <a:p>
                      <a:pPr indent="0" marL="0">
                        <a:buNone/>
                      </a:pPr>
                      <a:r>
                        <a:rPr lang="en-US" sz="1200" dirty="0">
                          <a:solidFill>
                            <a:srgbClr val="82B2D6"/>
                          </a:solidFill>
                          <a:latin typeface="Calibri" pitchFamily="34" charset="0"/>
                          <a:ea typeface="Calibri" pitchFamily="34" charset="-122"/>
                          <a:cs typeface="Calibri" pitchFamily="34" charset="-120"/>
                        </a:rPr>
                        <a:t>unaffected</a:t>
                      </a:r>
                      <a:endParaRPr lang="en-US" sz="1200" dirty="0">
                        <a:latin typeface="Calibri" charset="0"/>
                        <a:ea typeface="Calibri" charset="0"/>
                        <a:cs typeface="Calibri" charset="0"/>
                      </a:endParaRPr>
                    </a:p>
                  </a:txBody>
                  <a:tcPr marL="54864" marR="54864" marT="18288" marB="18288" anchor="ctr">
                    <a:lnL w="12700" cap="flat" cmpd="sng" algn="ctr">
                      <a:solidFill>
                        <a:srgbClr val="102B4E"/>
                      </a:solidFill>
                      <a:prstDash val="solid"/>
                      <a:round/>
                      <a:headEnd type="none" w="med" len="med"/>
                      <a:tailEnd type="none" w="med" len="med"/>
                    </a:lnL>
                    <a:lnR w="12700" cap="flat" cmpd="sng" algn="ctr">
                      <a:solidFill>
                        <a:srgbClr val="102B4E"/>
                      </a:solidFill>
                      <a:prstDash val="solid"/>
                      <a:round/>
                      <a:headEnd type="none" w="med" len="med"/>
                      <a:tailEnd type="none" w="med" len="med"/>
                    </a:lnR>
                    <a:lnT w="12700" cap="flat" cmpd="sng" algn="ctr">
                      <a:solidFill>
                        <a:srgbClr val="102B4E"/>
                      </a:solidFill>
                      <a:prstDash val="solid"/>
                      <a:round/>
                      <a:headEnd type="none" w="med" len="med"/>
                      <a:tailEnd type="none" w="med" len="med"/>
                    </a:lnT>
                    <a:lnB w="12700" cap="flat" cmpd="sng" algn="ctr">
                      <a:solidFill>
                        <a:srgbClr val="102B4E"/>
                      </a:solidFill>
                      <a:prstDash val="solid"/>
                      <a:round/>
                      <a:headEnd type="none" w="med" len="med"/>
                      <a:tailEnd type="none" w="med" len="med"/>
                    </a:lnB>
                    <a:solidFill>
                      <a:srgbClr val="17375F"/>
                    </a:solidFill>
                  </a:tcPr>
                </a:tc>
              </a:tr>
            </a:tbl>
          </a:graphicData>
        </a:graphic>
      </p:graphicFrame>
      <p:sp>
        <p:nvSpPr>
          <p:cNvPr id="32" name="Text 28"/>
          <p:cNvSpPr txBox="1"/>
          <p:nvPr/>
        </p:nvSpPr>
        <p:spPr>
          <a:xfrm>
            <a:off x="8549640" y="4617720"/>
            <a:ext cx="3108960" cy="1280160"/>
          </a:xfrm>
          <a:prstGeom prst="rect">
            <a:avLst/>
          </a:prstGeom>
          <a:noFill/>
          <a:ln/>
        </p:spPr>
        <p:txBody>
          <a:bodyPr wrap="square" lIns="0" tIns="0" rIns="0" bIns="0" rtlCol="0" anchor="t"/>
          <a:lstStyle/>
          <a:p>
            <a:pPr indent="0" marL="0">
              <a:buNone/>
            </a:pPr>
            <a:r>
              <a:rPr lang="en-US" sz="1000" dirty="0">
                <a:solidFill>
                  <a:srgbClr val="82B2D6"/>
                </a:solidFill>
                <a:latin typeface="Consolas" pitchFamily="34" charset="0"/>
                <a:ea typeface="Consolas" pitchFamily="34" charset="-122"/>
                <a:cs typeface="Consolas" pitchFamily="34" charset="-120"/>
              </a:rPr>
              <a:t>Real causal path (engine output):</a:t>
            </a:r>
            <a:endParaRPr lang="en-US" sz="1000" dirty="0"/>
          </a:p>
          <a:p>
            <a:pPr indent="0" marL="0">
              <a:buNone/>
            </a:pPr>
            <a:r>
              <a:rPr lang="en-US" sz="1000" dirty="0">
                <a:solidFill>
                  <a:srgbClr val="82B2D6"/>
                </a:solidFill>
                <a:latin typeface="Consolas" pitchFamily="34" charset="0"/>
                <a:ea typeface="Consolas" pitchFamily="34" charset="-122"/>
                <a:cs typeface="Consolas" pitchFamily="34" charset="-120"/>
              </a:rPr>
              <a:t>Disruption → Amina → School pickup → Yusuf arrived home → Homework</a:t>
            </a:r>
            <a:endParaRPr lang="en-US" sz="1000" dirty="0"/>
          </a:p>
          <a:p>
            <a:pPr indent="0" marL="0">
              <a:buNone/>
            </a:pPr>
            <a:r>
              <a:rPr lang="en-US" sz="1000" dirty="0">
                <a:solidFill>
                  <a:srgbClr val="82B2D6"/>
                </a:solidFill>
                <a:latin typeface="Consolas" pitchFamily="34" charset="0"/>
                <a:ea typeface="Consolas" pitchFamily="34" charset="-122"/>
                <a:cs typeface="Consolas" pitchFamily="34" charset="-120"/>
              </a:rPr>
              <a:t>[disrupted_by › assigned_to › enables › depends_on]</a:t>
            </a:r>
            <a:endParaRPr lang="en-US" sz="1000" dirty="0"/>
          </a:p>
        </p:txBody>
      </p:sp>
      <p:sp>
        <p:nvSpPr>
          <p:cNvPr id="33" name="Text 29"/>
          <p:cNvSpPr txBox="1"/>
          <p:nvPr/>
        </p:nvSpPr>
        <p:spPr>
          <a:xfrm>
            <a:off x="548640" y="5943600"/>
            <a:ext cx="7772400" cy="228600"/>
          </a:xfrm>
          <a:prstGeom prst="rect">
            <a:avLst/>
          </a:prstGeom>
          <a:noFill/>
          <a:ln/>
        </p:spPr>
        <p:txBody>
          <a:bodyPr wrap="square" lIns="0" tIns="0" rIns="0" bIns="0" rtlCol="0" anchor="t"/>
          <a:lstStyle/>
          <a:p>
            <a:pPr indent="0" marL="0">
              <a:buNone/>
            </a:pPr>
            <a:r>
              <a:rPr lang="en-US" sz="1100" dirty="0">
                <a:solidFill>
                  <a:srgbClr val="82B2D6"/>
                </a:solidFill>
                <a:latin typeface="Consolas" pitchFamily="34" charset="0"/>
                <a:ea typeface="Consolas" pitchFamily="34" charset="-122"/>
                <a:cs typeface="Consolas" pitchFamily="34" charset="-120"/>
              </a:rPr>
              <a:t>4 direct · 2 indirect · depth 3  ·  weighted coverage 100% → 25%</a:t>
            </a:r>
            <a:endParaRPr lang="en-US" sz="1100" dirty="0"/>
          </a:p>
        </p:txBody>
      </p:sp>
      <p:sp>
        <p:nvSpPr>
          <p:cNvPr id="34"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82B2D6"/>
                </a:solidFill>
                <a:latin typeface="Calibri" pitchFamily="34" charset="0"/>
                <a:ea typeface="Calibri" pitchFamily="34" charset="-122"/>
                <a:cs typeface="Calibri" pitchFamily="34" charset="-120"/>
              </a:rPr>
              <a:t>Source: POST /v1/simulations on the live API, 28 Oct 2026; direct = Amina + 3 tasks, indirect = milestone + Yusuf.</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2B2D6"/>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II · THE INTELLIGENCE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From confirmed event to reviewed recovery</a:t>
            </a:r>
            <a:endParaRPr lang="en-US" sz="3200" dirty="0"/>
          </a:p>
        </p:txBody>
      </p:sp>
      <p:sp>
        <p:nvSpPr>
          <p:cNvPr id="5" name="Text 2"/>
          <p:cNvSpPr/>
          <p:nvPr/>
        </p:nvSpPr>
        <p:spPr>
          <a:xfrm>
            <a:off x="548640" y="1600200"/>
            <a:ext cx="1691640" cy="310896"/>
          </a:xfrm>
          <a:prstGeom prst="roundRect">
            <a:avLst/>
          </a:prstGeom>
          <a:solidFill>
            <a:srgbClr val="82B2D6"/>
          </a:solidFill>
          <a:ln/>
        </p:spPr>
        <p:txBody>
          <a:bodyPr wrap="square" lIns="0" tIns="76200" rIns="76200" bIns="0" rtlCol="0" anchor="ctr"/>
          <a:lstStyle/>
          <a:p>
            <a:pPr algn="ctr" indent="0" marL="0">
              <a:buNone/>
            </a:pPr>
            <a:r>
              <a:rPr lang="en-US" sz="1100" b="1" dirty="0">
                <a:solidFill>
                  <a:srgbClr val="102B4E"/>
                </a:solidFill>
                <a:latin typeface="Calibri" pitchFamily="34" charset="0"/>
                <a:ea typeface="Calibri" pitchFamily="34" charset="-122"/>
                <a:cs typeface="Calibri" pitchFamily="34" charset="-120"/>
              </a:rPr>
              <a:t>LANGUAGE</a:t>
            </a:r>
            <a:endParaRPr lang="en-US" sz="1100" dirty="0"/>
          </a:p>
        </p:txBody>
      </p:sp>
      <p:sp>
        <p:nvSpPr>
          <p:cNvPr id="6" name="Shape 3"/>
          <p:cNvSpPr/>
          <p:nvPr/>
        </p:nvSpPr>
        <p:spPr>
          <a:xfrm>
            <a:off x="548640" y="2011680"/>
            <a:ext cx="1691640" cy="1554480"/>
          </a:xfrm>
          <a:prstGeom prst="roundRect">
            <a:avLst>
              <a:gd name="adj" fmla="val 4706"/>
            </a:avLst>
          </a:prstGeom>
          <a:solidFill>
            <a:srgbClr val="EAF3FA"/>
          </a:solidFill>
          <a:ln/>
        </p:spPr>
      </p:sp>
      <p:sp>
        <p:nvSpPr>
          <p:cNvPr id="7" name="Text 4"/>
          <p:cNvSpPr txBox="1"/>
          <p:nvPr/>
        </p:nvSpPr>
        <p:spPr>
          <a:xfrm>
            <a:off x="658368" y="2084832"/>
            <a:ext cx="365760" cy="365760"/>
          </a:xfrm>
          <a:prstGeom prst="rect">
            <a:avLst/>
          </a:prstGeom>
          <a:noFill/>
          <a:ln/>
        </p:spPr>
        <p:txBody>
          <a:bodyPr wrap="square" lIns="0" tIns="0" rIns="0" bIns="0" rtlCol="0" anchor="t"/>
          <a:lstStyle/>
          <a:p>
            <a:pPr indent="0" marL="0">
              <a:buNone/>
            </a:pPr>
            <a:r>
              <a:rPr lang="en-US" sz="2200" b="1" dirty="0">
                <a:solidFill>
                  <a:srgbClr val="255E99"/>
                </a:solidFill>
                <a:latin typeface="Calibri" pitchFamily="34" charset="0"/>
                <a:ea typeface="Calibri" pitchFamily="34" charset="-122"/>
                <a:cs typeface="Calibri" pitchFamily="34" charset="-120"/>
              </a:rPr>
              <a:t>1</a:t>
            </a:r>
            <a:endParaRPr lang="en-US" sz="2200" dirty="0"/>
          </a:p>
        </p:txBody>
      </p:sp>
      <p:sp>
        <p:nvSpPr>
          <p:cNvPr id="8" name="Text 5"/>
          <p:cNvSpPr txBox="1"/>
          <p:nvPr/>
        </p:nvSpPr>
        <p:spPr>
          <a:xfrm>
            <a:off x="658368" y="2542032"/>
            <a:ext cx="1481328" cy="822960"/>
          </a:xfrm>
          <a:prstGeom prst="rect">
            <a:avLst/>
          </a:prstGeom>
          <a:noFill/>
          <a:ln/>
        </p:spPr>
        <p:txBody>
          <a:bodyPr wrap="square" lIns="0" tIns="0" rIns="0" bIns="0" rtlCol="0" anchor="t"/>
          <a:lstStyle/>
          <a:p>
            <a:pPr indent="0" marL="0">
              <a:buNone/>
            </a:pPr>
            <a:r>
              <a:rPr lang="en-US" sz="1500" b="1" dirty="0">
                <a:solidFill>
                  <a:srgbClr val="102B4E"/>
                </a:solidFill>
                <a:latin typeface="Calibri" pitchFamily="34" charset="0"/>
                <a:ea typeface="Calibri" pitchFamily="34" charset="-122"/>
                <a:cs typeface="Calibri" pitchFamily="34" charset="-120"/>
              </a:rPr>
              <a:t>Confirmed event</a:t>
            </a:r>
            <a:endParaRPr lang="en-US" sz="1500" dirty="0"/>
          </a:p>
        </p:txBody>
      </p:sp>
      <p:sp>
        <p:nvSpPr>
          <p:cNvPr id="9" name="Shape 6"/>
          <p:cNvSpPr/>
          <p:nvPr/>
        </p:nvSpPr>
        <p:spPr>
          <a:xfrm>
            <a:off x="2267712" y="2788920"/>
            <a:ext cx="146304" cy="0"/>
          </a:xfrm>
          <a:prstGeom prst="line">
            <a:avLst/>
          </a:prstGeom>
          <a:noFill/>
          <a:ln w="25400">
            <a:solidFill>
              <a:srgbClr val="255E99"/>
            </a:solidFill>
            <a:prstDash val="solid"/>
            <a:tailEnd type="triangle"/>
          </a:ln>
        </p:spPr>
      </p:sp>
      <p:sp>
        <p:nvSpPr>
          <p:cNvPr id="10" name="Text 7"/>
          <p:cNvSpPr txBox="1"/>
          <p:nvPr/>
        </p:nvSpPr>
        <p:spPr>
          <a:xfrm>
            <a:off x="548640" y="3749040"/>
            <a:ext cx="1691640" cy="914400"/>
          </a:xfrm>
          <a:prstGeom prst="rect">
            <a:avLst/>
          </a:prstGeom>
          <a:noFill/>
          <a:ln/>
        </p:spPr>
        <p:txBody>
          <a:bodyPr wrap="square" lIns="0" tIns="0" rIns="0" bIns="0" rtlCol="0" anchor="t"/>
          <a:lstStyle/>
          <a:p>
            <a:pPr indent="0" marL="0">
              <a:buNone/>
            </a:pPr>
            <a:r>
              <a:rPr lang="en-US" sz="1200" dirty="0">
                <a:solidFill>
                  <a:srgbClr val="1B2533"/>
                </a:solidFill>
                <a:latin typeface="Calibri" pitchFamily="34" charset="0"/>
                <a:ea typeface="Calibri" pitchFamily="34" charset="-122"/>
                <a:cs typeface="Calibri" pitchFamily="34" charset="-120"/>
              </a:rPr>
              <a:t>1 event · Amina · 14:30–18:00 · confirmed by user</a:t>
            </a:r>
            <a:endParaRPr lang="en-US" sz="1200" dirty="0"/>
          </a:p>
        </p:txBody>
      </p:sp>
      <p:sp>
        <p:nvSpPr>
          <p:cNvPr id="11" name="Text 8"/>
          <p:cNvSpPr/>
          <p:nvPr/>
        </p:nvSpPr>
        <p:spPr>
          <a:xfrm>
            <a:off x="2423160" y="1600200"/>
            <a:ext cx="1691640" cy="310896"/>
          </a:xfrm>
          <a:prstGeom prst="roundRect">
            <a:avLst/>
          </a:prstGeom>
          <a:solidFill>
            <a:srgbClr val="255E99"/>
          </a:solidFill>
          <a:ln/>
        </p:spPr>
        <p:txBody>
          <a:bodyPr wrap="square" lIns="0" tIns="76200" rIns="7620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GRAPH</a:t>
            </a:r>
            <a:endParaRPr lang="en-US" sz="1100" dirty="0"/>
          </a:p>
        </p:txBody>
      </p:sp>
      <p:sp>
        <p:nvSpPr>
          <p:cNvPr id="12" name="Shape 9"/>
          <p:cNvSpPr/>
          <p:nvPr/>
        </p:nvSpPr>
        <p:spPr>
          <a:xfrm>
            <a:off x="2423160" y="2011680"/>
            <a:ext cx="1691640" cy="1554480"/>
          </a:xfrm>
          <a:prstGeom prst="roundRect">
            <a:avLst>
              <a:gd name="adj" fmla="val 4706"/>
            </a:avLst>
          </a:prstGeom>
          <a:solidFill>
            <a:srgbClr val="EAF3FA"/>
          </a:solidFill>
          <a:ln/>
        </p:spPr>
      </p:sp>
      <p:sp>
        <p:nvSpPr>
          <p:cNvPr id="13" name="Text 10"/>
          <p:cNvSpPr txBox="1"/>
          <p:nvPr/>
        </p:nvSpPr>
        <p:spPr>
          <a:xfrm>
            <a:off x="2532888" y="2084832"/>
            <a:ext cx="365760" cy="365760"/>
          </a:xfrm>
          <a:prstGeom prst="rect">
            <a:avLst/>
          </a:prstGeom>
          <a:noFill/>
          <a:ln/>
        </p:spPr>
        <p:txBody>
          <a:bodyPr wrap="square" lIns="0" tIns="0" rIns="0" bIns="0" rtlCol="0" anchor="t"/>
          <a:lstStyle/>
          <a:p>
            <a:pPr indent="0" marL="0">
              <a:buNone/>
            </a:pPr>
            <a:r>
              <a:rPr lang="en-US" sz="2200" b="1" dirty="0">
                <a:solidFill>
                  <a:srgbClr val="255E99"/>
                </a:solidFill>
                <a:latin typeface="Calibri" pitchFamily="34" charset="0"/>
                <a:ea typeface="Calibri" pitchFamily="34" charset="-122"/>
                <a:cs typeface="Calibri" pitchFamily="34" charset="-120"/>
              </a:rPr>
              <a:t>2</a:t>
            </a:r>
            <a:endParaRPr lang="en-US" sz="2200" dirty="0"/>
          </a:p>
        </p:txBody>
      </p:sp>
      <p:sp>
        <p:nvSpPr>
          <p:cNvPr id="14" name="Text 11"/>
          <p:cNvSpPr txBox="1"/>
          <p:nvPr/>
        </p:nvSpPr>
        <p:spPr>
          <a:xfrm>
            <a:off x="2532888" y="2542032"/>
            <a:ext cx="1481328" cy="822960"/>
          </a:xfrm>
          <a:prstGeom prst="rect">
            <a:avLst/>
          </a:prstGeom>
          <a:noFill/>
          <a:ln/>
        </p:spPr>
        <p:txBody>
          <a:bodyPr wrap="square" lIns="0" tIns="0" rIns="0" bIns="0" rtlCol="0" anchor="t"/>
          <a:lstStyle/>
          <a:p>
            <a:pPr indent="0" marL="0">
              <a:buNone/>
            </a:pPr>
            <a:r>
              <a:rPr lang="en-US" sz="1500" b="1" dirty="0">
                <a:solidFill>
                  <a:srgbClr val="102B4E"/>
                </a:solidFill>
                <a:latin typeface="Calibri" pitchFamily="34" charset="0"/>
                <a:ea typeface="Calibri" pitchFamily="34" charset="-122"/>
                <a:cs typeface="Calibri" pitchFamily="34" charset="-120"/>
              </a:rPr>
              <a:t>Dependency analysis</a:t>
            </a:r>
            <a:endParaRPr lang="en-US" sz="1500" dirty="0"/>
          </a:p>
        </p:txBody>
      </p:sp>
      <p:sp>
        <p:nvSpPr>
          <p:cNvPr id="15" name="Shape 12"/>
          <p:cNvSpPr/>
          <p:nvPr/>
        </p:nvSpPr>
        <p:spPr>
          <a:xfrm>
            <a:off x="4142232" y="2788920"/>
            <a:ext cx="146304" cy="0"/>
          </a:xfrm>
          <a:prstGeom prst="line">
            <a:avLst/>
          </a:prstGeom>
          <a:noFill/>
          <a:ln w="25400">
            <a:solidFill>
              <a:srgbClr val="255E99"/>
            </a:solidFill>
            <a:prstDash val="solid"/>
            <a:tailEnd type="triangle"/>
          </a:ln>
        </p:spPr>
      </p:sp>
      <p:sp>
        <p:nvSpPr>
          <p:cNvPr id="16" name="Text 13"/>
          <p:cNvSpPr txBox="1"/>
          <p:nvPr/>
        </p:nvSpPr>
        <p:spPr>
          <a:xfrm>
            <a:off x="2423160" y="3749040"/>
            <a:ext cx="1691640" cy="914400"/>
          </a:xfrm>
          <a:prstGeom prst="rect">
            <a:avLst/>
          </a:prstGeom>
          <a:noFill/>
          <a:ln/>
        </p:spPr>
        <p:txBody>
          <a:bodyPr wrap="square" lIns="0" tIns="0" rIns="0" bIns="0" rtlCol="0" anchor="t"/>
          <a:lstStyle/>
          <a:p>
            <a:pPr indent="0" marL="0">
              <a:buNone/>
            </a:pPr>
            <a:r>
              <a:rPr lang="en-US" sz="1200" dirty="0">
                <a:solidFill>
                  <a:srgbClr val="1B2533"/>
                </a:solidFill>
                <a:latin typeface="Calibri" pitchFamily="34" charset="0"/>
                <a:ea typeface="Calibri" pitchFamily="34" charset="-122"/>
                <a:cs typeface="Calibri" pitchFamily="34" charset="-120"/>
              </a:rPr>
              <a:t>4 direct · 2 indirect · depth 3</a:t>
            </a:r>
            <a:endParaRPr lang="en-US" sz="1200" dirty="0"/>
          </a:p>
        </p:txBody>
      </p:sp>
      <p:sp>
        <p:nvSpPr>
          <p:cNvPr id="17" name="Text 14"/>
          <p:cNvSpPr/>
          <p:nvPr/>
        </p:nvSpPr>
        <p:spPr>
          <a:xfrm>
            <a:off x="4297680" y="1600200"/>
            <a:ext cx="1691640" cy="310896"/>
          </a:xfrm>
          <a:prstGeom prst="roundRect">
            <a:avLst/>
          </a:prstGeom>
          <a:solidFill>
            <a:srgbClr val="255E99"/>
          </a:solidFill>
          <a:ln/>
        </p:spPr>
        <p:txBody>
          <a:bodyPr wrap="square" lIns="0" tIns="76200" rIns="7620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GRAPH</a:t>
            </a:r>
            <a:endParaRPr lang="en-US" sz="1100" dirty="0"/>
          </a:p>
        </p:txBody>
      </p:sp>
      <p:sp>
        <p:nvSpPr>
          <p:cNvPr id="18" name="Shape 15"/>
          <p:cNvSpPr/>
          <p:nvPr/>
        </p:nvSpPr>
        <p:spPr>
          <a:xfrm>
            <a:off x="4297680" y="2011680"/>
            <a:ext cx="1691640" cy="1554480"/>
          </a:xfrm>
          <a:prstGeom prst="roundRect">
            <a:avLst>
              <a:gd name="adj" fmla="val 4706"/>
            </a:avLst>
          </a:prstGeom>
          <a:solidFill>
            <a:srgbClr val="EAF3FA"/>
          </a:solidFill>
          <a:ln/>
        </p:spPr>
      </p:sp>
      <p:sp>
        <p:nvSpPr>
          <p:cNvPr id="19" name="Text 16"/>
          <p:cNvSpPr txBox="1"/>
          <p:nvPr/>
        </p:nvSpPr>
        <p:spPr>
          <a:xfrm>
            <a:off x="4407408" y="2084832"/>
            <a:ext cx="365760" cy="365760"/>
          </a:xfrm>
          <a:prstGeom prst="rect">
            <a:avLst/>
          </a:prstGeom>
          <a:noFill/>
          <a:ln/>
        </p:spPr>
        <p:txBody>
          <a:bodyPr wrap="square" lIns="0" tIns="0" rIns="0" bIns="0" rtlCol="0" anchor="t"/>
          <a:lstStyle/>
          <a:p>
            <a:pPr indent="0" marL="0">
              <a:buNone/>
            </a:pPr>
            <a:r>
              <a:rPr lang="en-US" sz="2200" b="1" dirty="0">
                <a:solidFill>
                  <a:srgbClr val="255E99"/>
                </a:solidFill>
                <a:latin typeface="Calibri" pitchFamily="34" charset="0"/>
                <a:ea typeface="Calibri" pitchFamily="34" charset="-122"/>
                <a:cs typeface="Calibri" pitchFamily="34" charset="-120"/>
              </a:rPr>
              <a:t>3</a:t>
            </a:r>
            <a:endParaRPr lang="en-US" sz="2200" dirty="0"/>
          </a:p>
        </p:txBody>
      </p:sp>
      <p:sp>
        <p:nvSpPr>
          <p:cNvPr id="20" name="Text 17"/>
          <p:cNvSpPr txBox="1"/>
          <p:nvPr/>
        </p:nvSpPr>
        <p:spPr>
          <a:xfrm>
            <a:off x="4407408" y="2542032"/>
            <a:ext cx="1481328" cy="822960"/>
          </a:xfrm>
          <a:prstGeom prst="rect">
            <a:avLst/>
          </a:prstGeom>
          <a:noFill/>
          <a:ln/>
        </p:spPr>
        <p:txBody>
          <a:bodyPr wrap="square" lIns="0" tIns="0" rIns="0" bIns="0" rtlCol="0" anchor="t"/>
          <a:lstStyle/>
          <a:p>
            <a:pPr indent="0" marL="0">
              <a:buNone/>
            </a:pPr>
            <a:r>
              <a:rPr lang="en-US" sz="1500" b="1" dirty="0">
                <a:solidFill>
                  <a:srgbClr val="102B4E"/>
                </a:solidFill>
                <a:latin typeface="Calibri" pitchFamily="34" charset="0"/>
                <a:ea typeface="Calibri" pitchFamily="34" charset="-122"/>
                <a:cs typeface="Calibri" pitchFamily="34" charset="-120"/>
              </a:rPr>
              <a:t>Candidate generation</a:t>
            </a:r>
            <a:endParaRPr lang="en-US" sz="1500" dirty="0"/>
          </a:p>
        </p:txBody>
      </p:sp>
      <p:sp>
        <p:nvSpPr>
          <p:cNvPr id="21" name="Shape 18"/>
          <p:cNvSpPr/>
          <p:nvPr/>
        </p:nvSpPr>
        <p:spPr>
          <a:xfrm>
            <a:off x="6016752" y="2788920"/>
            <a:ext cx="146304" cy="0"/>
          </a:xfrm>
          <a:prstGeom prst="line">
            <a:avLst/>
          </a:prstGeom>
          <a:noFill/>
          <a:ln w="25400">
            <a:solidFill>
              <a:srgbClr val="255E99"/>
            </a:solidFill>
            <a:prstDash val="solid"/>
            <a:tailEnd type="triangle"/>
          </a:ln>
        </p:spPr>
      </p:sp>
      <p:sp>
        <p:nvSpPr>
          <p:cNvPr id="22" name="Text 19"/>
          <p:cNvSpPr txBox="1"/>
          <p:nvPr/>
        </p:nvSpPr>
        <p:spPr>
          <a:xfrm>
            <a:off x="4297680" y="3749040"/>
            <a:ext cx="1691640" cy="914400"/>
          </a:xfrm>
          <a:prstGeom prst="rect">
            <a:avLst/>
          </a:prstGeom>
          <a:noFill/>
          <a:ln/>
        </p:spPr>
        <p:txBody>
          <a:bodyPr wrap="square" lIns="0" tIns="0" rIns="0" bIns="0" rtlCol="0" anchor="t"/>
          <a:lstStyle/>
          <a:p>
            <a:pPr indent="0" marL="0">
              <a:buNone/>
            </a:pPr>
            <a:r>
              <a:rPr lang="en-US" sz="1200" dirty="0">
                <a:solidFill>
                  <a:srgbClr val="1B2533"/>
                </a:solidFill>
                <a:latin typeface="Calibri" pitchFamily="34" charset="0"/>
                <a:ea typeface="Calibri" pitchFamily="34" charset="-122"/>
                <a:cs typeface="Calibri" pitchFamily="34" charset="-120"/>
              </a:rPr>
              <a:t>56 candidates after static filtering</a:t>
            </a:r>
            <a:endParaRPr lang="en-US" sz="1200" dirty="0"/>
          </a:p>
        </p:txBody>
      </p:sp>
      <p:sp>
        <p:nvSpPr>
          <p:cNvPr id="23" name="Text 20"/>
          <p:cNvSpPr/>
          <p:nvPr/>
        </p:nvSpPr>
        <p:spPr>
          <a:xfrm>
            <a:off x="6172200" y="1600200"/>
            <a:ext cx="1691640" cy="310896"/>
          </a:xfrm>
          <a:prstGeom prst="roundRect">
            <a:avLst/>
          </a:prstGeom>
          <a:solidFill>
            <a:srgbClr val="102B4E"/>
          </a:solidFill>
          <a:ln/>
        </p:spPr>
        <p:txBody>
          <a:bodyPr wrap="square" lIns="0" tIns="76200" rIns="7620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CP-SAT</a:t>
            </a:r>
            <a:endParaRPr lang="en-US" sz="1100" dirty="0"/>
          </a:p>
        </p:txBody>
      </p:sp>
      <p:sp>
        <p:nvSpPr>
          <p:cNvPr id="24" name="Shape 21"/>
          <p:cNvSpPr/>
          <p:nvPr/>
        </p:nvSpPr>
        <p:spPr>
          <a:xfrm>
            <a:off x="6172200" y="2011680"/>
            <a:ext cx="1691640" cy="1554480"/>
          </a:xfrm>
          <a:prstGeom prst="roundRect">
            <a:avLst>
              <a:gd name="adj" fmla="val 4706"/>
            </a:avLst>
          </a:prstGeom>
          <a:solidFill>
            <a:srgbClr val="EAF3FA"/>
          </a:solidFill>
          <a:ln/>
        </p:spPr>
      </p:sp>
      <p:sp>
        <p:nvSpPr>
          <p:cNvPr id="25" name="Text 22"/>
          <p:cNvSpPr txBox="1"/>
          <p:nvPr/>
        </p:nvSpPr>
        <p:spPr>
          <a:xfrm>
            <a:off x="6281928" y="2084832"/>
            <a:ext cx="365760" cy="365760"/>
          </a:xfrm>
          <a:prstGeom prst="rect">
            <a:avLst/>
          </a:prstGeom>
          <a:noFill/>
          <a:ln/>
        </p:spPr>
        <p:txBody>
          <a:bodyPr wrap="square" lIns="0" tIns="0" rIns="0" bIns="0" rtlCol="0" anchor="t"/>
          <a:lstStyle/>
          <a:p>
            <a:pPr indent="0" marL="0">
              <a:buNone/>
            </a:pPr>
            <a:r>
              <a:rPr lang="en-US" sz="2200" b="1" dirty="0">
                <a:solidFill>
                  <a:srgbClr val="102B4E"/>
                </a:solidFill>
                <a:latin typeface="Calibri" pitchFamily="34" charset="0"/>
                <a:ea typeface="Calibri" pitchFamily="34" charset="-122"/>
                <a:cs typeface="Calibri" pitchFamily="34" charset="-120"/>
              </a:rPr>
              <a:t>4</a:t>
            </a:r>
            <a:endParaRPr lang="en-US" sz="2200" dirty="0"/>
          </a:p>
        </p:txBody>
      </p:sp>
      <p:sp>
        <p:nvSpPr>
          <p:cNvPr id="26" name="Text 23"/>
          <p:cNvSpPr txBox="1"/>
          <p:nvPr/>
        </p:nvSpPr>
        <p:spPr>
          <a:xfrm>
            <a:off x="6281928" y="2542032"/>
            <a:ext cx="1481328" cy="822960"/>
          </a:xfrm>
          <a:prstGeom prst="rect">
            <a:avLst/>
          </a:prstGeom>
          <a:noFill/>
          <a:ln/>
        </p:spPr>
        <p:txBody>
          <a:bodyPr wrap="square" lIns="0" tIns="0" rIns="0" bIns="0" rtlCol="0" anchor="t"/>
          <a:lstStyle/>
          <a:p>
            <a:pPr indent="0" marL="0">
              <a:buNone/>
            </a:pPr>
            <a:r>
              <a:rPr lang="en-US" sz="1500" b="1" dirty="0">
                <a:solidFill>
                  <a:srgbClr val="102B4E"/>
                </a:solidFill>
                <a:latin typeface="Calibri" pitchFamily="34" charset="0"/>
                <a:ea typeface="Calibri" pitchFamily="34" charset="-122"/>
                <a:cs typeface="Calibri" pitchFamily="34" charset="-120"/>
              </a:rPr>
              <a:t>Constraint optimization</a:t>
            </a:r>
            <a:endParaRPr lang="en-US" sz="1500" dirty="0"/>
          </a:p>
        </p:txBody>
      </p:sp>
      <p:sp>
        <p:nvSpPr>
          <p:cNvPr id="27" name="Shape 24"/>
          <p:cNvSpPr/>
          <p:nvPr/>
        </p:nvSpPr>
        <p:spPr>
          <a:xfrm>
            <a:off x="7891272" y="2788920"/>
            <a:ext cx="146304" cy="0"/>
          </a:xfrm>
          <a:prstGeom prst="line">
            <a:avLst/>
          </a:prstGeom>
          <a:noFill/>
          <a:ln w="25400">
            <a:solidFill>
              <a:srgbClr val="255E99"/>
            </a:solidFill>
            <a:prstDash val="solid"/>
            <a:tailEnd type="triangle"/>
          </a:ln>
        </p:spPr>
      </p:sp>
      <p:sp>
        <p:nvSpPr>
          <p:cNvPr id="28" name="Text 25"/>
          <p:cNvSpPr txBox="1"/>
          <p:nvPr/>
        </p:nvSpPr>
        <p:spPr>
          <a:xfrm>
            <a:off x="6172200" y="3749040"/>
            <a:ext cx="1691640" cy="914400"/>
          </a:xfrm>
          <a:prstGeom prst="rect">
            <a:avLst/>
          </a:prstGeom>
          <a:noFill/>
          <a:ln/>
        </p:spPr>
        <p:txBody>
          <a:bodyPr wrap="square" lIns="0" tIns="0" rIns="0" bIns="0" rtlCol="0" anchor="t"/>
          <a:lstStyle/>
          <a:p>
            <a:pPr indent="0" marL="0">
              <a:buNone/>
            </a:pPr>
            <a:r>
              <a:rPr lang="en-US" sz="1200" dirty="0">
                <a:solidFill>
                  <a:srgbClr val="1B2533"/>
                </a:solidFill>
                <a:latin typeface="Calibri" pitchFamily="34" charset="0"/>
                <a:ea typeface="Calibri" pitchFamily="34" charset="-122"/>
                <a:cs typeface="Calibri" pitchFamily="34" charset="-120"/>
              </a:rPr>
              <a:t>OPTIMAL · 5 lexicographic passes</a:t>
            </a:r>
            <a:endParaRPr lang="en-US" sz="1200" dirty="0"/>
          </a:p>
        </p:txBody>
      </p:sp>
      <p:sp>
        <p:nvSpPr>
          <p:cNvPr id="29" name="Text 26"/>
          <p:cNvSpPr/>
          <p:nvPr/>
        </p:nvSpPr>
        <p:spPr>
          <a:xfrm>
            <a:off x="8046720" y="1600200"/>
            <a:ext cx="1691640" cy="310896"/>
          </a:xfrm>
          <a:prstGeom prst="roundRect">
            <a:avLst/>
          </a:prstGeom>
          <a:solidFill>
            <a:srgbClr val="2B7557"/>
          </a:solidFill>
          <a:ln/>
        </p:spPr>
        <p:txBody>
          <a:bodyPr wrap="square" lIns="0" tIns="76200" rIns="7620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VALIDATOR</a:t>
            </a:r>
            <a:endParaRPr lang="en-US" sz="1100" dirty="0"/>
          </a:p>
        </p:txBody>
      </p:sp>
      <p:sp>
        <p:nvSpPr>
          <p:cNvPr id="30" name="Shape 27"/>
          <p:cNvSpPr/>
          <p:nvPr/>
        </p:nvSpPr>
        <p:spPr>
          <a:xfrm>
            <a:off x="8046720" y="2011680"/>
            <a:ext cx="1691640" cy="1554480"/>
          </a:xfrm>
          <a:prstGeom prst="roundRect">
            <a:avLst>
              <a:gd name="adj" fmla="val 4706"/>
            </a:avLst>
          </a:prstGeom>
          <a:solidFill>
            <a:srgbClr val="EAF3FA"/>
          </a:solidFill>
          <a:ln/>
        </p:spPr>
      </p:sp>
      <p:sp>
        <p:nvSpPr>
          <p:cNvPr id="31" name="Text 28"/>
          <p:cNvSpPr txBox="1"/>
          <p:nvPr/>
        </p:nvSpPr>
        <p:spPr>
          <a:xfrm>
            <a:off x="8156448" y="2084832"/>
            <a:ext cx="365760" cy="365760"/>
          </a:xfrm>
          <a:prstGeom prst="rect">
            <a:avLst/>
          </a:prstGeom>
          <a:noFill/>
          <a:ln/>
        </p:spPr>
        <p:txBody>
          <a:bodyPr wrap="square" lIns="0" tIns="0" rIns="0" bIns="0" rtlCol="0" anchor="t"/>
          <a:lstStyle/>
          <a:p>
            <a:pPr indent="0" marL="0">
              <a:buNone/>
            </a:pPr>
            <a:r>
              <a:rPr lang="en-US" sz="2200" b="1" dirty="0">
                <a:solidFill>
                  <a:srgbClr val="2B7557"/>
                </a:solidFill>
                <a:latin typeface="Calibri" pitchFamily="34" charset="0"/>
                <a:ea typeface="Calibri" pitchFamily="34" charset="-122"/>
                <a:cs typeface="Calibri" pitchFamily="34" charset="-120"/>
              </a:rPr>
              <a:t>5</a:t>
            </a:r>
            <a:endParaRPr lang="en-US" sz="2200" dirty="0"/>
          </a:p>
        </p:txBody>
      </p:sp>
      <p:sp>
        <p:nvSpPr>
          <p:cNvPr id="32" name="Text 29"/>
          <p:cNvSpPr txBox="1"/>
          <p:nvPr/>
        </p:nvSpPr>
        <p:spPr>
          <a:xfrm>
            <a:off x="8156448" y="2542032"/>
            <a:ext cx="1481328" cy="822960"/>
          </a:xfrm>
          <a:prstGeom prst="rect">
            <a:avLst/>
          </a:prstGeom>
          <a:noFill/>
          <a:ln/>
        </p:spPr>
        <p:txBody>
          <a:bodyPr wrap="square" lIns="0" tIns="0" rIns="0" bIns="0" rtlCol="0" anchor="t"/>
          <a:lstStyle/>
          <a:p>
            <a:pPr indent="0" marL="0">
              <a:buNone/>
            </a:pPr>
            <a:r>
              <a:rPr lang="en-US" sz="1500" b="1" dirty="0">
                <a:solidFill>
                  <a:srgbClr val="102B4E"/>
                </a:solidFill>
                <a:latin typeface="Calibri" pitchFamily="34" charset="0"/>
                <a:ea typeface="Calibri" pitchFamily="34" charset="-122"/>
                <a:cs typeface="Calibri" pitchFamily="34" charset="-120"/>
              </a:rPr>
              <a:t>Independent validation</a:t>
            </a:r>
            <a:endParaRPr lang="en-US" sz="1500" dirty="0"/>
          </a:p>
        </p:txBody>
      </p:sp>
      <p:sp>
        <p:nvSpPr>
          <p:cNvPr id="33" name="Shape 30"/>
          <p:cNvSpPr/>
          <p:nvPr/>
        </p:nvSpPr>
        <p:spPr>
          <a:xfrm>
            <a:off x="9765792" y="2788920"/>
            <a:ext cx="146304" cy="0"/>
          </a:xfrm>
          <a:prstGeom prst="line">
            <a:avLst/>
          </a:prstGeom>
          <a:noFill/>
          <a:ln w="25400">
            <a:solidFill>
              <a:srgbClr val="255E99"/>
            </a:solidFill>
            <a:prstDash val="solid"/>
            <a:tailEnd type="triangle"/>
          </a:ln>
        </p:spPr>
      </p:sp>
      <p:sp>
        <p:nvSpPr>
          <p:cNvPr id="34" name="Text 31"/>
          <p:cNvSpPr txBox="1"/>
          <p:nvPr/>
        </p:nvSpPr>
        <p:spPr>
          <a:xfrm>
            <a:off x="8046720" y="3749040"/>
            <a:ext cx="1691640" cy="914400"/>
          </a:xfrm>
          <a:prstGeom prst="rect">
            <a:avLst/>
          </a:prstGeom>
          <a:noFill/>
          <a:ln/>
        </p:spPr>
        <p:txBody>
          <a:bodyPr wrap="square" lIns="0" tIns="0" rIns="0" bIns="0" rtlCol="0" anchor="t"/>
          <a:lstStyle/>
          <a:p>
            <a:pPr indent="0" marL="0">
              <a:buNone/>
            </a:pPr>
            <a:r>
              <a:rPr lang="en-US" sz="1200" dirty="0">
                <a:solidFill>
                  <a:srgbClr val="1B2533"/>
                </a:solidFill>
                <a:latin typeface="Calibri" pitchFamily="34" charset="0"/>
                <a:ea typeface="Calibri" pitchFamily="34" charset="-122"/>
                <a:cs typeface="Calibri" pitchFamily="34" charset="-120"/>
              </a:rPr>
              <a:t>56 checks · 18 rules · 0 violations</a:t>
            </a:r>
            <a:endParaRPr lang="en-US" sz="1200" dirty="0"/>
          </a:p>
        </p:txBody>
      </p:sp>
      <p:sp>
        <p:nvSpPr>
          <p:cNvPr id="35" name="Text 32"/>
          <p:cNvSpPr/>
          <p:nvPr/>
        </p:nvSpPr>
        <p:spPr>
          <a:xfrm>
            <a:off x="9921240" y="1600200"/>
            <a:ext cx="1691640" cy="310896"/>
          </a:xfrm>
          <a:prstGeom prst="roundRect">
            <a:avLst/>
          </a:prstGeom>
          <a:solidFill>
            <a:srgbClr val="47789F"/>
          </a:solidFill>
          <a:ln/>
        </p:spPr>
        <p:txBody>
          <a:bodyPr wrap="square" lIns="0" tIns="76200" rIns="7620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HUMAN</a:t>
            </a:r>
            <a:endParaRPr lang="en-US" sz="1100" dirty="0"/>
          </a:p>
        </p:txBody>
      </p:sp>
      <p:sp>
        <p:nvSpPr>
          <p:cNvPr id="36" name="Shape 33"/>
          <p:cNvSpPr/>
          <p:nvPr/>
        </p:nvSpPr>
        <p:spPr>
          <a:xfrm>
            <a:off x="9921240" y="2011680"/>
            <a:ext cx="1691640" cy="1554480"/>
          </a:xfrm>
          <a:prstGeom prst="roundRect">
            <a:avLst>
              <a:gd name="adj" fmla="val 4706"/>
            </a:avLst>
          </a:prstGeom>
          <a:solidFill>
            <a:srgbClr val="EAF3FA"/>
          </a:solidFill>
          <a:ln/>
        </p:spPr>
      </p:sp>
      <p:sp>
        <p:nvSpPr>
          <p:cNvPr id="37" name="Text 34"/>
          <p:cNvSpPr txBox="1"/>
          <p:nvPr/>
        </p:nvSpPr>
        <p:spPr>
          <a:xfrm>
            <a:off x="10030968" y="2084832"/>
            <a:ext cx="365760" cy="365760"/>
          </a:xfrm>
          <a:prstGeom prst="rect">
            <a:avLst/>
          </a:prstGeom>
          <a:noFill/>
          <a:ln/>
        </p:spPr>
        <p:txBody>
          <a:bodyPr wrap="square" lIns="0" tIns="0" rIns="0" bIns="0" rtlCol="0" anchor="t"/>
          <a:lstStyle/>
          <a:p>
            <a:pPr indent="0" marL="0">
              <a:buNone/>
            </a:pPr>
            <a:r>
              <a:rPr lang="en-US" sz="2200" b="1" dirty="0">
                <a:solidFill>
                  <a:srgbClr val="47789F"/>
                </a:solidFill>
                <a:latin typeface="Calibri" pitchFamily="34" charset="0"/>
                <a:ea typeface="Calibri" pitchFamily="34" charset="-122"/>
                <a:cs typeface="Calibri" pitchFamily="34" charset="-120"/>
              </a:rPr>
              <a:t>6</a:t>
            </a:r>
            <a:endParaRPr lang="en-US" sz="2200" dirty="0"/>
          </a:p>
        </p:txBody>
      </p:sp>
      <p:sp>
        <p:nvSpPr>
          <p:cNvPr id="38" name="Text 35"/>
          <p:cNvSpPr txBox="1"/>
          <p:nvPr/>
        </p:nvSpPr>
        <p:spPr>
          <a:xfrm>
            <a:off x="10030968" y="2542032"/>
            <a:ext cx="1481328" cy="822960"/>
          </a:xfrm>
          <a:prstGeom prst="rect">
            <a:avLst/>
          </a:prstGeom>
          <a:noFill/>
          <a:ln/>
        </p:spPr>
        <p:txBody>
          <a:bodyPr wrap="square" lIns="0" tIns="0" rIns="0" bIns="0" rtlCol="0" anchor="t"/>
          <a:lstStyle/>
          <a:p>
            <a:pPr indent="0" marL="0">
              <a:buNone/>
            </a:pPr>
            <a:r>
              <a:rPr lang="en-US" sz="1500" b="1" dirty="0">
                <a:solidFill>
                  <a:srgbClr val="102B4E"/>
                </a:solidFill>
                <a:latin typeface="Calibri" pitchFamily="34" charset="0"/>
                <a:ea typeface="Calibri" pitchFamily="34" charset="-122"/>
                <a:cs typeface="Calibri" pitchFamily="34" charset="-120"/>
              </a:rPr>
              <a:t>Recovery review</a:t>
            </a:r>
            <a:endParaRPr lang="en-US" sz="1500" dirty="0"/>
          </a:p>
        </p:txBody>
      </p:sp>
      <p:sp>
        <p:nvSpPr>
          <p:cNvPr id="39" name="Text 36"/>
          <p:cNvSpPr txBox="1"/>
          <p:nvPr/>
        </p:nvSpPr>
        <p:spPr>
          <a:xfrm>
            <a:off x="9921240" y="3749040"/>
            <a:ext cx="1691640" cy="914400"/>
          </a:xfrm>
          <a:prstGeom prst="rect">
            <a:avLst/>
          </a:prstGeom>
          <a:noFill/>
          <a:ln/>
        </p:spPr>
        <p:txBody>
          <a:bodyPr wrap="square" lIns="0" tIns="0" rIns="0" bIns="0" rtlCol="0" anchor="t"/>
          <a:lstStyle/>
          <a:p>
            <a:pPr indent="0" marL="0">
              <a:buNone/>
            </a:pPr>
            <a:r>
              <a:rPr lang="en-US" sz="1200" dirty="0">
                <a:solidFill>
                  <a:srgbClr val="1B2533"/>
                </a:solidFill>
                <a:latin typeface="Calibri" pitchFamily="34" charset="0"/>
                <a:ea typeface="Calibri" pitchFamily="34" charset="-122"/>
                <a:cs typeface="Calibri" pitchFamily="34" charset="-120"/>
              </a:rPr>
              <a:t>approval needed · pickup consent pending</a:t>
            </a:r>
            <a:endParaRPr lang="en-US" sz="1200" dirty="0"/>
          </a:p>
        </p:txBody>
      </p:sp>
      <p:sp>
        <p:nvSpPr>
          <p:cNvPr id="40" name="Shape 37"/>
          <p:cNvSpPr/>
          <p:nvPr/>
        </p:nvSpPr>
        <p:spPr>
          <a:xfrm>
            <a:off x="548640" y="4892040"/>
            <a:ext cx="11064240" cy="1051560"/>
          </a:xfrm>
          <a:prstGeom prst="roundRect">
            <a:avLst>
              <a:gd name="adj" fmla="val 6957"/>
            </a:avLst>
          </a:prstGeom>
          <a:solidFill>
            <a:srgbClr val="102B4E"/>
          </a:solidFill>
          <a:ln/>
        </p:spPr>
      </p:sp>
      <p:sp>
        <p:nvSpPr>
          <p:cNvPr id="41" name="Text 38"/>
          <p:cNvSpPr txBox="1"/>
          <p:nvPr/>
        </p:nvSpPr>
        <p:spPr>
          <a:xfrm>
            <a:off x="822960" y="5029200"/>
            <a:ext cx="1051560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The language model never sees the solver.   The solver never marks its own homework.</a:t>
            </a:r>
            <a:endParaRPr lang="en-US" sz="2000" dirty="0"/>
          </a:p>
        </p:txBody>
      </p:sp>
      <p:sp>
        <p:nvSpPr>
          <p:cNvPr id="42" name="Text 39"/>
          <p:cNvSpPr txBox="1"/>
          <p:nvPr/>
        </p:nvSpPr>
        <p:spPr>
          <a:xfrm>
            <a:off x="822960" y="5486400"/>
            <a:ext cx="10515600" cy="320040"/>
          </a:xfrm>
          <a:prstGeom prst="rect">
            <a:avLst/>
          </a:prstGeom>
          <a:noFill/>
          <a:ln/>
        </p:spPr>
        <p:txBody>
          <a:bodyPr wrap="square" lIns="0" tIns="0" rIns="0" bIns="0" rtlCol="0" anchor="t"/>
          <a:lstStyle/>
          <a:p>
            <a:pPr indent="0" marL="0">
              <a:buNone/>
            </a:pPr>
            <a:r>
              <a:rPr lang="en-US" sz="1300" dirty="0">
                <a:solidFill>
                  <a:srgbClr val="82B2D6"/>
                </a:solidFill>
                <a:latin typeface="Calibri" pitchFamily="34" charset="0"/>
                <a:ea typeface="Calibri" pitchFamily="34" charset="-122"/>
                <a:cs typeface="Calibri" pitchFamily="34" charset="-120"/>
              </a:rPr>
              <a:t>Language AI interprets text only. Everything that decides or checks an assignment is deterministic, tested code.</a:t>
            </a:r>
            <a:endParaRPr lang="en-US" sz="1300" dirty="0"/>
          </a:p>
        </p:txBody>
      </p:sp>
      <p:sp>
        <p:nvSpPr>
          <p:cNvPr id="43"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live flagship run (POST /v1/recovery-plans), 28 Oct 2026. Counts are measured outputs, not targets.</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II · THE INTELLIGENCE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What makes DOMINO distinctive</a:t>
            </a:r>
            <a:endParaRPr lang="en-US" sz="3200" dirty="0"/>
          </a:p>
        </p:txBody>
      </p:sp>
      <p:sp>
        <p:nvSpPr>
          <p:cNvPr id="5" name="Shape 2"/>
          <p:cNvSpPr/>
          <p:nvPr/>
        </p:nvSpPr>
        <p:spPr>
          <a:xfrm>
            <a:off x="548640" y="1463040"/>
            <a:ext cx="3977640" cy="2103120"/>
          </a:xfrm>
          <a:prstGeom prst="roundRect">
            <a:avLst>
              <a:gd name="adj" fmla="val 3478"/>
            </a:avLst>
          </a:prstGeom>
          <a:solidFill>
            <a:srgbClr val="FFFFFF"/>
          </a:solidFill>
          <a:ln w="12700">
            <a:solidFill>
              <a:srgbClr val="D3DDE8"/>
            </a:solidFill>
            <a:prstDash val="solid"/>
          </a:ln>
          <a:effectLst>
            <a:outerShdw sx="100000" sy="100000" kx="0" ky="0" algn="bl" rotWithShape="0" blurRad="101600" dist="25400" dir="5400000">
              <a:srgbClr val="000000">
                <a:alpha val="12000"/>
              </a:srgbClr>
            </a:outerShdw>
          </a:effectLst>
        </p:spPr>
      </p:sp>
      <p:sp>
        <p:nvSpPr>
          <p:cNvPr id="6" name="Text 3"/>
          <p:cNvSpPr txBox="1"/>
          <p:nvPr/>
        </p:nvSpPr>
        <p:spPr>
          <a:xfrm>
            <a:off x="777240" y="1627632"/>
            <a:ext cx="548640" cy="640080"/>
          </a:xfrm>
          <a:prstGeom prst="rect">
            <a:avLst/>
          </a:prstGeom>
          <a:noFill/>
          <a:ln/>
        </p:spPr>
        <p:txBody>
          <a:bodyPr wrap="square" lIns="0" tIns="0" rIns="0" bIns="0" rtlCol="0" anchor="t"/>
          <a:lstStyle/>
          <a:p>
            <a:pPr indent="0" marL="0">
              <a:buNone/>
            </a:pPr>
            <a:r>
              <a:rPr lang="en-US" sz="4000" b="1" dirty="0">
                <a:solidFill>
                  <a:srgbClr val="255E99"/>
                </a:solidFill>
                <a:latin typeface="Calibri" pitchFamily="34" charset="0"/>
                <a:ea typeface="Calibri" pitchFamily="34" charset="-122"/>
                <a:cs typeface="Calibri" pitchFamily="34" charset="-120"/>
              </a:rPr>
              <a:t>1</a:t>
            </a:r>
            <a:endParaRPr lang="en-US" sz="4000" dirty="0"/>
          </a:p>
        </p:txBody>
      </p:sp>
      <p:sp>
        <p:nvSpPr>
          <p:cNvPr id="7" name="Text 4"/>
          <p:cNvSpPr txBox="1"/>
          <p:nvPr/>
        </p:nvSpPr>
        <p:spPr>
          <a:xfrm>
            <a:off x="1417320" y="1691640"/>
            <a:ext cx="2971800" cy="640080"/>
          </a:xfrm>
          <a:prstGeom prst="rect">
            <a:avLst/>
          </a:prstGeom>
          <a:noFill/>
          <a:ln/>
        </p:spPr>
        <p:txBody>
          <a:bodyPr wrap="square" lIns="0" tIns="0" rIns="0" bIns="0" rtlCol="0" anchor="t"/>
          <a:lstStyle/>
          <a:p>
            <a:pPr indent="0" marL="0">
              <a:buNone/>
            </a:pPr>
            <a:r>
              <a:rPr lang="en-US" sz="1700" b="1" dirty="0">
                <a:solidFill>
                  <a:srgbClr val="102B4E"/>
                </a:solidFill>
                <a:latin typeface="Calibri" pitchFamily="34" charset="0"/>
                <a:ea typeface="Calibri" pitchFamily="34" charset="-122"/>
                <a:cs typeface="Calibri" pitchFamily="34" charset="-120"/>
              </a:rPr>
              <a:t>Structured family digital twin</a:t>
            </a:r>
            <a:endParaRPr lang="en-US" sz="1700" dirty="0"/>
          </a:p>
        </p:txBody>
      </p:sp>
      <p:sp>
        <p:nvSpPr>
          <p:cNvPr id="8" name="Text 5"/>
          <p:cNvSpPr txBox="1"/>
          <p:nvPr/>
        </p:nvSpPr>
        <p:spPr>
          <a:xfrm>
            <a:off x="777240" y="2468880"/>
            <a:ext cx="3566160" cy="100584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Members, skills, explicit permissions, time windows, resources and milestones as validated data.</a:t>
            </a:r>
            <a:endParaRPr lang="en-US" sz="1300" dirty="0"/>
          </a:p>
        </p:txBody>
      </p:sp>
      <p:sp>
        <p:nvSpPr>
          <p:cNvPr id="9" name="Shape 6"/>
          <p:cNvSpPr/>
          <p:nvPr/>
        </p:nvSpPr>
        <p:spPr>
          <a:xfrm>
            <a:off x="7635240" y="1463040"/>
            <a:ext cx="3977640" cy="2103120"/>
          </a:xfrm>
          <a:prstGeom prst="roundRect">
            <a:avLst>
              <a:gd name="adj" fmla="val 3478"/>
            </a:avLst>
          </a:prstGeom>
          <a:solidFill>
            <a:srgbClr val="FFFFFF"/>
          </a:solidFill>
          <a:ln w="12700">
            <a:solidFill>
              <a:srgbClr val="D3DDE8"/>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7863840" y="1627632"/>
            <a:ext cx="548640" cy="640080"/>
          </a:xfrm>
          <a:prstGeom prst="rect">
            <a:avLst/>
          </a:prstGeom>
          <a:noFill/>
          <a:ln/>
        </p:spPr>
        <p:txBody>
          <a:bodyPr wrap="square" lIns="0" tIns="0" rIns="0" bIns="0" rtlCol="0" anchor="t"/>
          <a:lstStyle/>
          <a:p>
            <a:pPr indent="0" marL="0">
              <a:buNone/>
            </a:pPr>
            <a:r>
              <a:rPr lang="en-US" sz="4000" b="1" dirty="0">
                <a:solidFill>
                  <a:srgbClr val="255E99"/>
                </a:solidFill>
                <a:latin typeface="Calibri" pitchFamily="34" charset="0"/>
                <a:ea typeface="Calibri" pitchFamily="34" charset="-122"/>
                <a:cs typeface="Calibri" pitchFamily="34" charset="-120"/>
              </a:rPr>
              <a:t>2</a:t>
            </a:r>
            <a:endParaRPr lang="en-US" sz="4000" dirty="0"/>
          </a:p>
        </p:txBody>
      </p:sp>
      <p:sp>
        <p:nvSpPr>
          <p:cNvPr id="11" name="Text 8"/>
          <p:cNvSpPr txBox="1"/>
          <p:nvPr/>
        </p:nvSpPr>
        <p:spPr>
          <a:xfrm>
            <a:off x="8503920" y="1691640"/>
            <a:ext cx="2971800" cy="640080"/>
          </a:xfrm>
          <a:prstGeom prst="rect">
            <a:avLst/>
          </a:prstGeom>
          <a:noFill/>
          <a:ln/>
        </p:spPr>
        <p:txBody>
          <a:bodyPr wrap="square" lIns="0" tIns="0" rIns="0" bIns="0" rtlCol="0" anchor="t"/>
          <a:lstStyle/>
          <a:p>
            <a:pPr indent="0" marL="0">
              <a:buNone/>
            </a:pPr>
            <a:r>
              <a:rPr lang="en-US" sz="1700" b="1" dirty="0">
                <a:solidFill>
                  <a:srgbClr val="102B4E"/>
                </a:solidFill>
                <a:latin typeface="Calibri" pitchFamily="34" charset="0"/>
                <a:ea typeface="Calibri" pitchFamily="34" charset="-122"/>
                <a:cs typeface="Calibri" pitchFamily="34" charset="-120"/>
              </a:rPr>
              <a:t>Graph-based cascade analysis</a:t>
            </a:r>
            <a:endParaRPr lang="en-US" sz="1700" dirty="0"/>
          </a:p>
        </p:txBody>
      </p:sp>
      <p:sp>
        <p:nvSpPr>
          <p:cNvPr id="12" name="Text 9"/>
          <p:cNvSpPr txBox="1"/>
          <p:nvPr/>
        </p:nvSpPr>
        <p:spPr>
          <a:xfrm>
            <a:off x="7863840" y="2468880"/>
            <a:ext cx="3566160" cy="100584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Typed edges show what a change touches directly and downstream, with causal paths.</a:t>
            </a:r>
            <a:endParaRPr lang="en-US" sz="1300" dirty="0"/>
          </a:p>
        </p:txBody>
      </p:sp>
      <p:sp>
        <p:nvSpPr>
          <p:cNvPr id="13" name="Shape 10"/>
          <p:cNvSpPr/>
          <p:nvPr/>
        </p:nvSpPr>
        <p:spPr>
          <a:xfrm>
            <a:off x="548640" y="3749040"/>
            <a:ext cx="3977640" cy="2103120"/>
          </a:xfrm>
          <a:prstGeom prst="roundRect">
            <a:avLst>
              <a:gd name="adj" fmla="val 3478"/>
            </a:avLst>
          </a:prstGeom>
          <a:solidFill>
            <a:srgbClr val="FFFFFF"/>
          </a:solidFill>
          <a:ln w="12700">
            <a:solidFill>
              <a:srgbClr val="D3DDE8"/>
            </a:solidFill>
            <a:prstDash val="solid"/>
          </a:ln>
          <a:effectLst>
            <a:outerShdw sx="100000" sy="100000" kx="0" ky="0" algn="bl" rotWithShape="0" blurRad="101600" dist="25400" dir="5400000">
              <a:srgbClr val="000000">
                <a:alpha val="12000"/>
              </a:srgbClr>
            </a:outerShdw>
          </a:effectLst>
        </p:spPr>
      </p:sp>
      <p:sp>
        <p:nvSpPr>
          <p:cNvPr id="14" name="Text 11"/>
          <p:cNvSpPr txBox="1"/>
          <p:nvPr/>
        </p:nvSpPr>
        <p:spPr>
          <a:xfrm>
            <a:off x="777240" y="3913632"/>
            <a:ext cx="548640" cy="640080"/>
          </a:xfrm>
          <a:prstGeom prst="rect">
            <a:avLst/>
          </a:prstGeom>
          <a:noFill/>
          <a:ln/>
        </p:spPr>
        <p:txBody>
          <a:bodyPr wrap="square" lIns="0" tIns="0" rIns="0" bIns="0" rtlCol="0" anchor="t"/>
          <a:lstStyle/>
          <a:p>
            <a:pPr indent="0" marL="0">
              <a:buNone/>
            </a:pPr>
            <a:r>
              <a:rPr lang="en-US" sz="4000" b="1" dirty="0">
                <a:solidFill>
                  <a:srgbClr val="255E99"/>
                </a:solidFill>
                <a:latin typeface="Calibri" pitchFamily="34" charset="0"/>
                <a:ea typeface="Calibri" pitchFamily="34" charset="-122"/>
                <a:cs typeface="Calibri" pitchFamily="34" charset="-120"/>
              </a:rPr>
              <a:t>3</a:t>
            </a:r>
            <a:endParaRPr lang="en-US" sz="4000" dirty="0"/>
          </a:p>
        </p:txBody>
      </p:sp>
      <p:sp>
        <p:nvSpPr>
          <p:cNvPr id="15" name="Text 12"/>
          <p:cNvSpPr txBox="1"/>
          <p:nvPr/>
        </p:nvSpPr>
        <p:spPr>
          <a:xfrm>
            <a:off x="1417320" y="3977640"/>
            <a:ext cx="2971800" cy="640080"/>
          </a:xfrm>
          <a:prstGeom prst="rect">
            <a:avLst/>
          </a:prstGeom>
          <a:noFill/>
          <a:ln/>
        </p:spPr>
        <p:txBody>
          <a:bodyPr wrap="square" lIns="0" tIns="0" rIns="0" bIns="0" rtlCol="0" anchor="t"/>
          <a:lstStyle/>
          <a:p>
            <a:pPr indent="0" marL="0">
              <a:buNone/>
            </a:pPr>
            <a:r>
              <a:rPr lang="en-US" sz="1700" b="1" dirty="0">
                <a:solidFill>
                  <a:srgbClr val="102B4E"/>
                </a:solidFill>
                <a:latin typeface="Calibri" pitchFamily="34" charset="0"/>
                <a:ea typeface="Calibri" pitchFamily="34" charset="-122"/>
                <a:cs typeface="Calibri" pitchFamily="34" charset="-120"/>
              </a:rPr>
              <a:t>Mathematical recovery optimization</a:t>
            </a:r>
            <a:endParaRPr lang="en-US" sz="1700" dirty="0"/>
          </a:p>
        </p:txBody>
      </p:sp>
      <p:sp>
        <p:nvSpPr>
          <p:cNvPr id="16" name="Text 13"/>
          <p:cNvSpPr txBox="1"/>
          <p:nvPr/>
        </p:nvSpPr>
        <p:spPr>
          <a:xfrm>
            <a:off x="777240" y="4754880"/>
            <a:ext cx="3566160" cy="100584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CP-SAT searches legal arrangements; essential responsibilities are protected first.</a:t>
            </a:r>
            <a:endParaRPr lang="en-US" sz="1300" dirty="0"/>
          </a:p>
        </p:txBody>
      </p:sp>
      <p:sp>
        <p:nvSpPr>
          <p:cNvPr id="17" name="Shape 14"/>
          <p:cNvSpPr/>
          <p:nvPr/>
        </p:nvSpPr>
        <p:spPr>
          <a:xfrm>
            <a:off x="7635240" y="3749040"/>
            <a:ext cx="3977640" cy="2103120"/>
          </a:xfrm>
          <a:prstGeom prst="roundRect">
            <a:avLst>
              <a:gd name="adj" fmla="val 3478"/>
            </a:avLst>
          </a:prstGeom>
          <a:solidFill>
            <a:srgbClr val="FFFFFF"/>
          </a:solidFill>
          <a:ln w="12700">
            <a:solidFill>
              <a:srgbClr val="D3DDE8"/>
            </a:solidFill>
            <a:prstDash val="solid"/>
          </a:ln>
          <a:effectLst>
            <a:outerShdw sx="100000" sy="100000" kx="0" ky="0" algn="bl" rotWithShape="0" blurRad="101600" dist="25400" dir="5400000">
              <a:srgbClr val="000000">
                <a:alpha val="12000"/>
              </a:srgbClr>
            </a:outerShdw>
          </a:effectLst>
        </p:spPr>
      </p:sp>
      <p:sp>
        <p:nvSpPr>
          <p:cNvPr id="18" name="Text 15"/>
          <p:cNvSpPr txBox="1"/>
          <p:nvPr/>
        </p:nvSpPr>
        <p:spPr>
          <a:xfrm>
            <a:off x="7863840" y="3913632"/>
            <a:ext cx="548640" cy="640080"/>
          </a:xfrm>
          <a:prstGeom prst="rect">
            <a:avLst/>
          </a:prstGeom>
          <a:noFill/>
          <a:ln/>
        </p:spPr>
        <p:txBody>
          <a:bodyPr wrap="square" lIns="0" tIns="0" rIns="0" bIns="0" rtlCol="0" anchor="t"/>
          <a:lstStyle/>
          <a:p>
            <a:pPr indent="0" marL="0">
              <a:buNone/>
            </a:pPr>
            <a:r>
              <a:rPr lang="en-US" sz="4000" b="1" dirty="0">
                <a:solidFill>
                  <a:srgbClr val="255E99"/>
                </a:solidFill>
                <a:latin typeface="Calibri" pitchFamily="34" charset="0"/>
                <a:ea typeface="Calibri" pitchFamily="34" charset="-122"/>
                <a:cs typeface="Calibri" pitchFamily="34" charset="-120"/>
              </a:rPr>
              <a:t>4</a:t>
            </a:r>
            <a:endParaRPr lang="en-US" sz="4000" dirty="0"/>
          </a:p>
        </p:txBody>
      </p:sp>
      <p:sp>
        <p:nvSpPr>
          <p:cNvPr id="19" name="Text 16"/>
          <p:cNvSpPr txBox="1"/>
          <p:nvPr/>
        </p:nvSpPr>
        <p:spPr>
          <a:xfrm>
            <a:off x="8503920" y="3977640"/>
            <a:ext cx="2971800" cy="640080"/>
          </a:xfrm>
          <a:prstGeom prst="rect">
            <a:avLst/>
          </a:prstGeom>
          <a:noFill/>
          <a:ln/>
        </p:spPr>
        <p:txBody>
          <a:bodyPr wrap="square" lIns="0" tIns="0" rIns="0" bIns="0" rtlCol="0" anchor="t"/>
          <a:lstStyle/>
          <a:p>
            <a:pPr indent="0" marL="0">
              <a:buNone/>
            </a:pPr>
            <a:r>
              <a:rPr lang="en-US" sz="1700" b="1" dirty="0">
                <a:solidFill>
                  <a:srgbClr val="102B4E"/>
                </a:solidFill>
                <a:latin typeface="Calibri" pitchFamily="34" charset="0"/>
                <a:ea typeface="Calibri" pitchFamily="34" charset="-122"/>
                <a:cs typeface="Calibri" pitchFamily="34" charset="-120"/>
              </a:rPr>
              <a:t>Independently verified decisions</a:t>
            </a:r>
            <a:endParaRPr lang="en-US" sz="1700" dirty="0"/>
          </a:p>
        </p:txBody>
      </p:sp>
      <p:sp>
        <p:nvSpPr>
          <p:cNvPr id="20" name="Text 17"/>
          <p:cNvSpPr txBox="1"/>
          <p:nvPr/>
        </p:nvSpPr>
        <p:spPr>
          <a:xfrm>
            <a:off x="7863840" y="4754880"/>
            <a:ext cx="3566160" cy="100584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A separate validator re-checks every rule; unresolved tasks stay visible.</a:t>
            </a:r>
            <a:endParaRPr lang="en-US" sz="1300" dirty="0"/>
          </a:p>
        </p:txBody>
      </p:sp>
      <p:sp>
        <p:nvSpPr>
          <p:cNvPr id="21" name="Text 18"/>
          <p:cNvSpPr/>
          <p:nvPr/>
        </p:nvSpPr>
        <p:spPr>
          <a:xfrm>
            <a:off x="4937760" y="2743200"/>
            <a:ext cx="2331720" cy="1463040"/>
          </a:xfrm>
          <a:prstGeom prst="ellipse">
            <a:avLst/>
          </a:prstGeom>
          <a:solidFill>
            <a:srgbClr val="102B4E"/>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Household</a:t>
            </a:r>
            <a:endParaRPr lang="en-US" sz="1800" dirty="0"/>
          </a:p>
          <a:p>
            <a:pPr algn="ctr" indent="0" marL="0">
              <a:buNone/>
            </a:pPr>
            <a:r>
              <a:rPr lang="en-US" sz="1800" b="1" dirty="0">
                <a:solidFill>
                  <a:srgbClr val="FFFFFF"/>
                </a:solidFill>
                <a:latin typeface="Calibri" pitchFamily="34" charset="0"/>
                <a:ea typeface="Calibri" pitchFamily="34" charset="-122"/>
                <a:cs typeface="Calibri" pitchFamily="34" charset="-120"/>
              </a:rPr>
              <a:t>digital twin</a:t>
            </a:r>
            <a:endParaRPr lang="en-US" sz="1800" dirty="0"/>
          </a:p>
        </p:txBody>
      </p:sp>
      <p:sp>
        <p:nvSpPr>
          <p:cNvPr id="22" name="Shape 19"/>
          <p:cNvSpPr/>
          <p:nvPr/>
        </p:nvSpPr>
        <p:spPr>
          <a:xfrm>
            <a:off x="4526280" y="2514600"/>
            <a:ext cx="594360" cy="594360"/>
          </a:xfrm>
          <a:prstGeom prst="line">
            <a:avLst/>
          </a:prstGeom>
          <a:noFill/>
          <a:ln w="19050">
            <a:solidFill>
              <a:srgbClr val="47789F"/>
            </a:solidFill>
            <a:prstDash val="solid"/>
          </a:ln>
        </p:spPr>
      </p:sp>
      <p:sp>
        <p:nvSpPr>
          <p:cNvPr id="23" name="Shape 20"/>
          <p:cNvSpPr/>
          <p:nvPr/>
        </p:nvSpPr>
        <p:spPr>
          <a:xfrm flipH="1">
            <a:off x="7086600" y="2514600"/>
            <a:ext cx="548640" cy="594360"/>
          </a:xfrm>
          <a:prstGeom prst="line">
            <a:avLst/>
          </a:prstGeom>
          <a:noFill/>
          <a:ln w="19050">
            <a:solidFill>
              <a:srgbClr val="47789F"/>
            </a:solidFill>
            <a:prstDash val="solid"/>
          </a:ln>
        </p:spPr>
      </p:sp>
      <p:sp>
        <p:nvSpPr>
          <p:cNvPr id="24" name="Shape 21"/>
          <p:cNvSpPr/>
          <p:nvPr/>
        </p:nvSpPr>
        <p:spPr>
          <a:xfrm flipV="1">
            <a:off x="4526280" y="3840480"/>
            <a:ext cx="594360" cy="411480"/>
          </a:xfrm>
          <a:prstGeom prst="line">
            <a:avLst/>
          </a:prstGeom>
          <a:noFill/>
          <a:ln w="19050">
            <a:solidFill>
              <a:srgbClr val="47789F"/>
            </a:solidFill>
            <a:prstDash val="solid"/>
          </a:ln>
        </p:spPr>
      </p:sp>
      <p:sp>
        <p:nvSpPr>
          <p:cNvPr id="25" name="Shape 22"/>
          <p:cNvSpPr/>
          <p:nvPr/>
        </p:nvSpPr>
        <p:spPr>
          <a:xfrm flipH="1" flipV="1">
            <a:off x="7086600" y="3840480"/>
            <a:ext cx="548640" cy="411480"/>
          </a:xfrm>
          <a:prstGeom prst="line">
            <a:avLst/>
          </a:prstGeom>
          <a:noFill/>
          <a:ln w="19050">
            <a:solidFill>
              <a:srgbClr val="47789F"/>
            </a:solidFill>
            <a:prstDash val="solid"/>
          </a:ln>
        </p:spPr>
      </p:sp>
      <p:sp>
        <p:nvSpPr>
          <p:cNvPr id="26" name="Text 23"/>
          <p:cNvSpPr txBox="1"/>
          <p:nvPr/>
        </p:nvSpPr>
        <p:spPr>
          <a:xfrm>
            <a:off x="548640" y="5897880"/>
            <a:ext cx="1106424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The value is in the combination: a chatbot cannot guarantee a permission; a solver without a model does not know what to re-plan.</a:t>
            </a:r>
            <a:endParaRPr lang="en-US" sz="12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II · THE INTELLIGENCE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System architecture</a:t>
            </a:r>
            <a:endParaRPr lang="en-US" sz="3200" dirty="0"/>
          </a:p>
        </p:txBody>
      </p:sp>
      <p:sp>
        <p:nvSpPr>
          <p:cNvPr id="5" name="Shape 2"/>
          <p:cNvSpPr/>
          <p:nvPr/>
        </p:nvSpPr>
        <p:spPr>
          <a:xfrm>
            <a:off x="548640" y="1417320"/>
            <a:ext cx="3063240" cy="4526280"/>
          </a:xfrm>
          <a:prstGeom prst="roundRect">
            <a:avLst>
              <a:gd name="adj" fmla="val 2388"/>
            </a:avLst>
          </a:prstGeom>
          <a:solidFill>
            <a:srgbClr val="EAF3FA"/>
          </a:solidFill>
          <a:ln w="12700">
            <a:solidFill>
              <a:srgbClr val="D3DDE8"/>
            </a:solidFill>
            <a:prstDash val="solid"/>
          </a:ln>
        </p:spPr>
      </p:sp>
      <p:sp>
        <p:nvSpPr>
          <p:cNvPr id="6" name="Text 3"/>
          <p:cNvSpPr txBox="1"/>
          <p:nvPr/>
        </p:nvSpPr>
        <p:spPr>
          <a:xfrm>
            <a:off x="731520" y="1508760"/>
            <a:ext cx="2743200" cy="320040"/>
          </a:xfrm>
          <a:prstGeom prst="rect">
            <a:avLst/>
          </a:prstGeom>
          <a:noFill/>
          <a:ln/>
        </p:spPr>
        <p:txBody>
          <a:bodyPr wrap="square" lIns="0" tIns="0" rIns="0" bIns="0" rtlCol="0" anchor="t"/>
          <a:lstStyle/>
          <a:p>
            <a:pPr indent="0" marL="0">
              <a:buNone/>
            </a:pPr>
            <a:r>
              <a:rPr lang="en-US" sz="1600" b="1" dirty="0">
                <a:solidFill>
                  <a:srgbClr val="102B4E"/>
                </a:solidFill>
                <a:latin typeface="Calibri" pitchFamily="34" charset="0"/>
                <a:ea typeface="Calibri" pitchFamily="34" charset="-122"/>
                <a:cs typeface="Calibri" pitchFamily="34" charset="-120"/>
              </a:rPr>
              <a:t>Browser</a:t>
            </a:r>
            <a:endParaRPr lang="en-US" sz="1600" dirty="0"/>
          </a:p>
        </p:txBody>
      </p:sp>
      <p:sp>
        <p:nvSpPr>
          <p:cNvPr id="7" name="Text 4"/>
          <p:cNvSpPr txBox="1"/>
          <p:nvPr/>
        </p:nvSpPr>
        <p:spPr>
          <a:xfrm>
            <a:off x="731520" y="1920240"/>
            <a:ext cx="2743200" cy="3840480"/>
          </a:xfrm>
          <a:prstGeom prst="rect">
            <a:avLst/>
          </a:prstGeom>
          <a:noFill/>
          <a:ln/>
        </p:spPr>
        <p:txBody>
          <a:bodyPr wrap="square" lIns="0" tIns="0" rIns="0" bIns="0" rtlCol="0" anchor="t"/>
          <a:lstStyle/>
          <a:p>
            <a:pPr indent="0" marL="0">
              <a:spcAft>
                <a:spcPts val="1400"/>
              </a:spcAft>
              <a:buNone/>
            </a:pPr>
            <a:r>
              <a:rPr lang="en-US" sz="1400" dirty="0">
                <a:solidFill>
                  <a:srgbClr val="1B2533"/>
                </a:solidFill>
                <a:latin typeface="Calibri" pitchFamily="34" charset="0"/>
                <a:ea typeface="Calibri" pitchFamily="34" charset="-122"/>
                <a:cs typeface="Calibri" pitchFamily="34" charset="-120"/>
              </a:rPr>
              <a:t>React + TypeScript + Vite</a:t>
            </a:r>
            <a:endParaRPr lang="en-US" sz="1400" dirty="0"/>
          </a:p>
          <a:p>
            <a:pPr indent="0" marL="0">
              <a:spcAft>
                <a:spcPts val="1400"/>
              </a:spcAft>
              <a:buNone/>
            </a:pPr>
            <a:r>
              <a:rPr lang="en-US" sz="1400" dirty="0">
                <a:solidFill>
                  <a:srgbClr val="1B2533"/>
                </a:solidFill>
                <a:latin typeface="Calibri" pitchFamily="34" charset="0"/>
                <a:ea typeface="Calibri" pitchFamily="34" charset="-122"/>
                <a:cs typeface="Calibri" pitchFamily="34" charset="-120"/>
              </a:rPr>
              <a:t>React Flow graph (custom nodes)</a:t>
            </a:r>
            <a:endParaRPr lang="en-US" sz="1400" dirty="0"/>
          </a:p>
          <a:p>
            <a:pPr indent="0" marL="0">
              <a:spcAft>
                <a:spcPts val="1400"/>
              </a:spcAft>
              <a:buNone/>
            </a:pPr>
            <a:r>
              <a:rPr lang="en-US" sz="1400" dirty="0">
                <a:solidFill>
                  <a:srgbClr val="1B2533"/>
                </a:solidFill>
                <a:latin typeface="Calibri" pitchFamily="34" charset="0"/>
                <a:ea typeface="Calibri" pitchFamily="34" charset="-122"/>
                <a:cs typeface="Calibri" pitchFamily="34" charset="-120"/>
              </a:rPr>
              <a:t>Motion layout transitions</a:t>
            </a:r>
            <a:endParaRPr lang="en-US" sz="1400" dirty="0"/>
          </a:p>
          <a:p>
            <a:pPr indent="0" marL="0">
              <a:spcAft>
                <a:spcPts val="1400"/>
              </a:spcAft>
              <a:buNone/>
            </a:pPr>
            <a:r>
              <a:rPr lang="en-US" sz="1400" dirty="0">
                <a:solidFill>
                  <a:srgbClr val="1B2533"/>
                </a:solidFill>
                <a:latin typeface="Calibri" pitchFamily="34" charset="0"/>
                <a:ea typeface="Calibri" pitchFamily="34" charset="-122"/>
                <a:cs typeface="Calibri" pitchFamily="34" charset="-120"/>
              </a:rPr>
              <a:t>Zustand store: household + scenario versions, abort, stale-response discard</a:t>
            </a:r>
            <a:endParaRPr lang="en-US" sz="1400" dirty="0"/>
          </a:p>
          <a:p>
            <a:pPr indent="0" marL="0">
              <a:spcAft>
                <a:spcPts val="1400"/>
              </a:spcAft>
              <a:buNone/>
            </a:pPr>
            <a:r>
              <a:rPr lang="en-US" sz="1400" dirty="0">
                <a:solidFill>
                  <a:srgbClr val="1B2533"/>
                </a:solidFill>
                <a:latin typeface="Calibri" pitchFamily="34" charset="0"/>
                <a:ea typeface="Calibri" pitchFamily="34" charset="-122"/>
                <a:cs typeface="Calibri" pitchFamily="34" charset="-120"/>
              </a:rPr>
              <a:t>Hosted on GitHub Pages</a:t>
            </a:r>
            <a:endParaRPr lang="en-US" sz="1400" dirty="0"/>
          </a:p>
        </p:txBody>
      </p:sp>
      <p:sp>
        <p:nvSpPr>
          <p:cNvPr id="8" name="Text 5"/>
          <p:cNvSpPr txBox="1"/>
          <p:nvPr/>
        </p:nvSpPr>
        <p:spPr>
          <a:xfrm>
            <a:off x="3657600" y="3310128"/>
            <a:ext cx="1371600" cy="228600"/>
          </a:xfrm>
          <a:prstGeom prst="rect">
            <a:avLst/>
          </a:prstGeom>
          <a:noFill/>
          <a:ln/>
        </p:spPr>
        <p:txBody>
          <a:bodyPr wrap="square" lIns="0" tIns="0" rIns="0" bIns="0" rtlCol="0" anchor="t"/>
          <a:lstStyle/>
          <a:p>
            <a:pPr algn="ctr" indent="0" marL="0">
              <a:buNone/>
            </a:pPr>
            <a:r>
              <a:rPr lang="en-US" sz="1000" dirty="0">
                <a:solidFill>
                  <a:srgbClr val="47789F"/>
                </a:solidFill>
                <a:latin typeface="Consolas" pitchFamily="34" charset="0"/>
                <a:ea typeface="Consolas" pitchFamily="34" charset="-122"/>
                <a:cs typeface="Consolas" pitchFamily="34" charset="-120"/>
              </a:rPr>
              <a:t>HTTPS · JSON</a:t>
            </a:r>
            <a:endParaRPr lang="en-US" sz="1000" dirty="0"/>
          </a:p>
        </p:txBody>
      </p:sp>
      <p:sp>
        <p:nvSpPr>
          <p:cNvPr id="9" name="Shape 6"/>
          <p:cNvSpPr/>
          <p:nvPr/>
        </p:nvSpPr>
        <p:spPr>
          <a:xfrm>
            <a:off x="3639312" y="3611880"/>
            <a:ext cx="1389888" cy="0"/>
          </a:xfrm>
          <a:prstGeom prst="line">
            <a:avLst/>
          </a:prstGeom>
          <a:noFill/>
          <a:ln w="25400">
            <a:solidFill>
              <a:srgbClr val="255E99"/>
            </a:solidFill>
            <a:prstDash val="solid"/>
            <a:tailEnd type="triangle"/>
          </a:ln>
        </p:spPr>
      </p:sp>
      <p:sp>
        <p:nvSpPr>
          <p:cNvPr id="10" name="Shape 7"/>
          <p:cNvSpPr/>
          <p:nvPr/>
        </p:nvSpPr>
        <p:spPr>
          <a:xfrm flipH="1">
            <a:off x="3639312" y="3794760"/>
            <a:ext cx="1389888" cy="0"/>
          </a:xfrm>
          <a:prstGeom prst="line">
            <a:avLst/>
          </a:prstGeom>
          <a:noFill/>
          <a:ln w="25400">
            <a:solidFill>
              <a:srgbClr val="255E99"/>
            </a:solidFill>
            <a:prstDash val="solid"/>
            <a:tailEnd type="triangle"/>
          </a:ln>
        </p:spPr>
      </p:sp>
      <p:sp>
        <p:nvSpPr>
          <p:cNvPr id="11" name="Shape 8"/>
          <p:cNvSpPr/>
          <p:nvPr/>
        </p:nvSpPr>
        <p:spPr>
          <a:xfrm>
            <a:off x="5029200" y="1417320"/>
            <a:ext cx="4709160" cy="4526280"/>
          </a:xfrm>
          <a:prstGeom prst="roundRect">
            <a:avLst>
              <a:gd name="adj" fmla="val 1616"/>
            </a:avLst>
          </a:prstGeom>
          <a:solidFill>
            <a:srgbClr val="FFFFFF"/>
          </a:solidFill>
          <a:ln w="19050">
            <a:solidFill>
              <a:srgbClr val="255E99"/>
            </a:solidFill>
            <a:prstDash val="solid"/>
          </a:ln>
        </p:spPr>
      </p:sp>
      <p:sp>
        <p:nvSpPr>
          <p:cNvPr id="12" name="Text 9"/>
          <p:cNvSpPr txBox="1"/>
          <p:nvPr/>
        </p:nvSpPr>
        <p:spPr>
          <a:xfrm>
            <a:off x="5166360" y="1481328"/>
            <a:ext cx="4480560" cy="274320"/>
          </a:xfrm>
          <a:prstGeom prst="rect">
            <a:avLst/>
          </a:prstGeom>
          <a:noFill/>
          <a:ln/>
        </p:spPr>
        <p:txBody>
          <a:bodyPr wrap="square" lIns="0" tIns="0" rIns="0" bIns="0" rtlCol="0" anchor="t"/>
          <a:lstStyle/>
          <a:p>
            <a:pPr indent="0" marL="0">
              <a:buNone/>
            </a:pPr>
            <a:r>
              <a:rPr lang="en-US" sz="1200" b="1" dirty="0">
                <a:solidFill>
                  <a:srgbClr val="102B4E"/>
                </a:solidFill>
                <a:latin typeface="Calibri" pitchFamily="34" charset="0"/>
                <a:ea typeface="Calibri" pitchFamily="34" charset="-122"/>
                <a:cs typeface="Calibri" pitchFamily="34" charset="-120"/>
              </a:rPr>
              <a:t>FastAPI backend (Python)  ·  Pydantic validation  ·  Docker on Render</a:t>
            </a:r>
            <a:endParaRPr lang="en-US" sz="1200" dirty="0"/>
          </a:p>
        </p:txBody>
      </p:sp>
      <p:sp>
        <p:nvSpPr>
          <p:cNvPr id="13" name="Text 10"/>
          <p:cNvSpPr/>
          <p:nvPr/>
        </p:nvSpPr>
        <p:spPr>
          <a:xfrm>
            <a:off x="5212080" y="1874520"/>
            <a:ext cx="2194560" cy="868680"/>
          </a:xfrm>
          <a:prstGeom prst="roundRect">
            <a:avLst>
              <a:gd name="adj" fmla="val 8421"/>
            </a:avLst>
          </a:prstGeom>
          <a:solidFill>
            <a:srgbClr val="82B2D6"/>
          </a:solidFill>
          <a:ln w="12700">
            <a:solidFill>
              <a:srgbClr val="102B4E"/>
            </a:solidFill>
          </a:ln>
        </p:spPr>
        <p:txBody>
          <a:bodyPr wrap="square" lIns="50800" tIns="101600" rIns="101600" bIns="50800" rtlCol="0" anchor="ctr"/>
          <a:lstStyle/>
          <a:p>
            <a:pPr algn="l" indent="0" marL="0">
              <a:buNone/>
            </a:pPr>
            <a:r>
              <a:rPr lang="en-US" sz="1200" b="1" dirty="0">
                <a:solidFill>
                  <a:srgbClr val="102B4E"/>
                </a:solidFill>
                <a:latin typeface="Calibri" pitchFamily="34" charset="0"/>
                <a:ea typeface="Calibri" pitchFamily="34" charset="-122"/>
                <a:cs typeface="Calibri" pitchFamily="34" charset="-120"/>
              </a:rPr>
              <a:t>Interpreter</a:t>
            </a:r>
            <a:endParaRPr lang="en-US" sz="1200" dirty="0"/>
          </a:p>
          <a:p>
            <a:pPr algn="l" indent="0" marL="0">
              <a:buNone/>
            </a:pPr>
            <a:r>
              <a:rPr lang="en-US" sz="1000" dirty="0">
                <a:solidFill>
                  <a:srgbClr val="102B4E"/>
                </a:solidFill>
                <a:latin typeface="Calibri" pitchFamily="34" charset="0"/>
                <a:ea typeface="Calibri" pitchFamily="34" charset="-122"/>
                <a:cs typeface="Calibri" pitchFamily="34" charset="-120"/>
              </a:rPr>
              <a:t>LANGUAGE AI · Gemini + rule parser</a:t>
            </a:r>
            <a:endParaRPr lang="en-US" sz="1200" dirty="0"/>
          </a:p>
        </p:txBody>
      </p:sp>
      <p:sp>
        <p:nvSpPr>
          <p:cNvPr id="14" name="Text 11"/>
          <p:cNvSpPr/>
          <p:nvPr/>
        </p:nvSpPr>
        <p:spPr>
          <a:xfrm>
            <a:off x="7406640" y="1874520"/>
            <a:ext cx="2194560" cy="868680"/>
          </a:xfrm>
          <a:prstGeom prst="roundRect">
            <a:avLst>
              <a:gd name="adj" fmla="val 8421"/>
            </a:avLst>
          </a:prstGeom>
          <a:solidFill>
            <a:srgbClr val="EAF3FA"/>
          </a:solidFill>
          <a:ln w="12700">
            <a:solidFill>
              <a:srgbClr val="255E99"/>
            </a:solidFill>
          </a:ln>
        </p:spPr>
        <p:txBody>
          <a:bodyPr wrap="square" lIns="50800" tIns="101600" rIns="101600" bIns="50800" rtlCol="0" anchor="ctr"/>
          <a:lstStyle/>
          <a:p>
            <a:pPr algn="l" indent="0" marL="0">
              <a:buNone/>
            </a:pPr>
            <a:r>
              <a:rPr lang="en-US" sz="1200" b="1" dirty="0">
                <a:solidFill>
                  <a:srgbClr val="1B2533"/>
                </a:solidFill>
                <a:latin typeface="Calibri" pitchFamily="34" charset="0"/>
                <a:ea typeface="Calibri" pitchFamily="34" charset="-122"/>
                <a:cs typeface="Calibri" pitchFamily="34" charset="-120"/>
              </a:rPr>
              <a:t>Household model</a:t>
            </a:r>
            <a:endParaRPr lang="en-US" sz="1200" dirty="0"/>
          </a:p>
          <a:p>
            <a:pPr algn="l" indent="0" marL="0">
              <a:buNone/>
            </a:pPr>
            <a:r>
              <a:rPr lang="en-US" sz="1000" dirty="0">
                <a:solidFill>
                  <a:srgbClr val="1B2533"/>
                </a:solidFill>
                <a:latin typeface="Calibri" pitchFamily="34" charset="0"/>
                <a:ea typeface="Calibri" pitchFamily="34" charset="-122"/>
                <a:cs typeface="Calibri" pitchFamily="34" charset="-120"/>
              </a:rPr>
              <a:t>Pydantic schemas · integrity checks</a:t>
            </a:r>
            <a:endParaRPr lang="en-US" sz="1200" dirty="0"/>
          </a:p>
        </p:txBody>
      </p:sp>
      <p:sp>
        <p:nvSpPr>
          <p:cNvPr id="15" name="Text 12"/>
          <p:cNvSpPr/>
          <p:nvPr/>
        </p:nvSpPr>
        <p:spPr>
          <a:xfrm>
            <a:off x="5212080" y="2880360"/>
            <a:ext cx="2194560" cy="868680"/>
          </a:xfrm>
          <a:prstGeom prst="roundRect">
            <a:avLst>
              <a:gd name="adj" fmla="val 8421"/>
            </a:avLst>
          </a:prstGeom>
          <a:solidFill>
            <a:srgbClr val="EAF3FA"/>
          </a:solidFill>
          <a:ln w="12700">
            <a:solidFill>
              <a:srgbClr val="255E99"/>
            </a:solidFill>
          </a:ln>
        </p:spPr>
        <p:txBody>
          <a:bodyPr wrap="square" lIns="50800" tIns="101600" rIns="101600" bIns="50800" rtlCol="0" anchor="ctr"/>
          <a:lstStyle/>
          <a:p>
            <a:pPr algn="l" indent="0" marL="0">
              <a:buNone/>
            </a:pPr>
            <a:r>
              <a:rPr lang="en-US" sz="1200" b="1" dirty="0">
                <a:solidFill>
                  <a:srgbClr val="1B2533"/>
                </a:solidFill>
                <a:latin typeface="Calibri" pitchFamily="34" charset="0"/>
                <a:ea typeface="Calibri" pitchFamily="34" charset="-122"/>
                <a:cs typeface="Calibri" pitchFamily="34" charset="-120"/>
              </a:rPr>
              <a:t>Dependency graph</a:t>
            </a:r>
            <a:endParaRPr lang="en-US" sz="1200" dirty="0"/>
          </a:p>
          <a:p>
            <a:pPr algn="l" indent="0" marL="0">
              <a:buNone/>
            </a:pPr>
            <a:r>
              <a:rPr lang="en-US" sz="1000" dirty="0">
                <a:solidFill>
                  <a:srgbClr val="1B2533"/>
                </a:solidFill>
                <a:latin typeface="Calibri" pitchFamily="34" charset="0"/>
                <a:ea typeface="Calibri" pitchFamily="34" charset="-122"/>
                <a:cs typeface="Calibri" pitchFamily="34" charset="-120"/>
              </a:rPr>
              <a:t>NetworkX · typed edges · BFS</a:t>
            </a:r>
            <a:endParaRPr lang="en-US" sz="1200" dirty="0"/>
          </a:p>
        </p:txBody>
      </p:sp>
      <p:sp>
        <p:nvSpPr>
          <p:cNvPr id="16" name="Text 13"/>
          <p:cNvSpPr/>
          <p:nvPr/>
        </p:nvSpPr>
        <p:spPr>
          <a:xfrm>
            <a:off x="7406640" y="2880360"/>
            <a:ext cx="2194560" cy="868680"/>
          </a:xfrm>
          <a:prstGeom prst="roundRect">
            <a:avLst>
              <a:gd name="adj" fmla="val 8421"/>
            </a:avLst>
          </a:prstGeom>
          <a:solidFill>
            <a:srgbClr val="EAF3FA"/>
          </a:solidFill>
          <a:ln w="12700">
            <a:solidFill>
              <a:srgbClr val="255E99"/>
            </a:solidFill>
          </a:ln>
        </p:spPr>
        <p:txBody>
          <a:bodyPr wrap="square" lIns="50800" tIns="101600" rIns="101600" bIns="50800" rtlCol="0" anchor="ctr"/>
          <a:lstStyle/>
          <a:p>
            <a:pPr algn="l" indent="0" marL="0">
              <a:buNone/>
            </a:pPr>
            <a:r>
              <a:rPr lang="en-US" sz="1200" b="1" dirty="0">
                <a:solidFill>
                  <a:srgbClr val="1B2533"/>
                </a:solidFill>
                <a:latin typeface="Calibri" pitchFamily="34" charset="0"/>
                <a:ea typeface="Calibri" pitchFamily="34" charset="-122"/>
                <a:cs typeface="Calibri" pitchFamily="34" charset="-120"/>
              </a:rPr>
              <a:t>Candidate generation</a:t>
            </a:r>
            <a:endParaRPr lang="en-US" sz="1200" dirty="0"/>
          </a:p>
          <a:p>
            <a:pPr algn="l" indent="0" marL="0">
              <a:buNone/>
            </a:pPr>
            <a:r>
              <a:rPr lang="en-US" sz="1000" dirty="0">
                <a:solidFill>
                  <a:srgbClr val="1B2533"/>
                </a:solidFill>
                <a:latin typeface="Calibri" pitchFamily="34" charset="0"/>
                <a:ea typeface="Calibri" pitchFamily="34" charset="-122"/>
                <a:cs typeface="Calibri" pitchFamily="34" charset="-120"/>
              </a:rPr>
              <a:t>skills · permissions · windows</a:t>
            </a:r>
            <a:endParaRPr lang="en-US" sz="1200" dirty="0"/>
          </a:p>
        </p:txBody>
      </p:sp>
      <p:sp>
        <p:nvSpPr>
          <p:cNvPr id="17" name="Text 14"/>
          <p:cNvSpPr/>
          <p:nvPr/>
        </p:nvSpPr>
        <p:spPr>
          <a:xfrm>
            <a:off x="5212080" y="3886200"/>
            <a:ext cx="2194560" cy="868680"/>
          </a:xfrm>
          <a:prstGeom prst="roundRect">
            <a:avLst>
              <a:gd name="adj" fmla="val 8421"/>
            </a:avLst>
          </a:prstGeom>
          <a:solidFill>
            <a:srgbClr val="255E99"/>
          </a:solidFill>
          <a:ln w="12700">
            <a:solidFill>
              <a:srgbClr val="255E99"/>
            </a:solidFill>
          </a:ln>
        </p:spPr>
        <p:txBody>
          <a:bodyPr wrap="square" lIns="50800" tIns="101600" rIns="101600" bIns="508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CP-SAT optimizer</a:t>
            </a:r>
            <a:endParaRPr lang="en-US" sz="1200" dirty="0"/>
          </a:p>
          <a:p>
            <a:pPr algn="l" indent="0" marL="0">
              <a:buNone/>
            </a:pPr>
            <a:r>
              <a:rPr lang="en-US" sz="1000" dirty="0">
                <a:solidFill>
                  <a:srgbClr val="FFFFFF"/>
                </a:solidFill>
                <a:latin typeface="Calibri" pitchFamily="34" charset="0"/>
                <a:ea typeface="Calibri" pitchFamily="34" charset="-122"/>
                <a:cs typeface="Calibri" pitchFamily="34" charset="-120"/>
              </a:rPr>
              <a:t>Google OR-Tools · lexicographic</a:t>
            </a:r>
            <a:endParaRPr lang="en-US" sz="1200" dirty="0"/>
          </a:p>
        </p:txBody>
      </p:sp>
      <p:sp>
        <p:nvSpPr>
          <p:cNvPr id="18" name="Text 15"/>
          <p:cNvSpPr/>
          <p:nvPr/>
        </p:nvSpPr>
        <p:spPr>
          <a:xfrm>
            <a:off x="7406640" y="3886200"/>
            <a:ext cx="2194560" cy="868680"/>
          </a:xfrm>
          <a:prstGeom prst="roundRect">
            <a:avLst>
              <a:gd name="adj" fmla="val 8421"/>
            </a:avLst>
          </a:prstGeom>
          <a:solidFill>
            <a:srgbClr val="2B7557"/>
          </a:solidFill>
          <a:ln w="12700">
            <a:solidFill>
              <a:srgbClr val="2B7557"/>
            </a:solidFill>
          </a:ln>
        </p:spPr>
        <p:txBody>
          <a:bodyPr wrap="square" lIns="50800" tIns="101600" rIns="101600" bIns="508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Independent verifier</a:t>
            </a:r>
            <a:endParaRPr lang="en-US" sz="1200" dirty="0"/>
          </a:p>
          <a:p>
            <a:pPr algn="l" indent="0" marL="0">
              <a:buNone/>
            </a:pPr>
            <a:r>
              <a:rPr lang="en-US" sz="1000" dirty="0">
                <a:solidFill>
                  <a:srgbClr val="FFFFFF"/>
                </a:solidFill>
                <a:latin typeface="Calibri" pitchFamily="34" charset="0"/>
                <a:ea typeface="Calibri" pitchFamily="34" charset="-122"/>
                <a:cs typeface="Calibri" pitchFamily="34" charset="-120"/>
              </a:rPr>
              <a:t>no shared code with the optimizer</a:t>
            </a:r>
            <a:endParaRPr lang="en-US" sz="1200" dirty="0"/>
          </a:p>
        </p:txBody>
      </p:sp>
      <p:sp>
        <p:nvSpPr>
          <p:cNvPr id="19" name="Text 16"/>
          <p:cNvSpPr/>
          <p:nvPr/>
        </p:nvSpPr>
        <p:spPr>
          <a:xfrm>
            <a:off x="5212080" y="4892040"/>
            <a:ext cx="2194560" cy="868680"/>
          </a:xfrm>
          <a:prstGeom prst="roundRect">
            <a:avLst>
              <a:gd name="adj" fmla="val 8421"/>
            </a:avLst>
          </a:prstGeom>
          <a:solidFill>
            <a:srgbClr val="EAF3FA"/>
          </a:solidFill>
          <a:ln w="12700">
            <a:solidFill>
              <a:srgbClr val="255E99"/>
            </a:solidFill>
          </a:ln>
        </p:spPr>
        <p:txBody>
          <a:bodyPr wrap="square" lIns="50800" tIns="101600" rIns="101600" bIns="50800" rtlCol="0" anchor="ctr"/>
          <a:lstStyle/>
          <a:p>
            <a:pPr algn="l" indent="0" marL="0">
              <a:buNone/>
            </a:pPr>
            <a:r>
              <a:rPr lang="en-US" sz="1200" b="1" dirty="0">
                <a:solidFill>
                  <a:srgbClr val="1B2533"/>
                </a:solidFill>
                <a:latin typeface="Calibri" pitchFamily="34" charset="0"/>
                <a:ea typeface="Calibri" pitchFamily="34" charset="-122"/>
                <a:cs typeface="Calibri" pitchFamily="34" charset="-120"/>
              </a:rPr>
              <a:t>Explanations</a:t>
            </a:r>
            <a:endParaRPr lang="en-US" sz="1200" dirty="0"/>
          </a:p>
          <a:p>
            <a:pPr algn="l" indent="0" marL="0">
              <a:buNone/>
            </a:pPr>
            <a:r>
              <a:rPr lang="en-US" sz="1000" dirty="0">
                <a:solidFill>
                  <a:srgbClr val="1B2533"/>
                </a:solidFill>
                <a:latin typeface="Calibri" pitchFamily="34" charset="0"/>
                <a:ea typeface="Calibri" pitchFamily="34" charset="-122"/>
                <a:cs typeface="Calibri" pitchFamily="34" charset="-120"/>
              </a:rPr>
              <a:t>generated from computed records</a:t>
            </a:r>
            <a:endParaRPr lang="en-US" sz="1200" dirty="0"/>
          </a:p>
        </p:txBody>
      </p:sp>
      <p:sp>
        <p:nvSpPr>
          <p:cNvPr id="20" name="Text 17"/>
          <p:cNvSpPr/>
          <p:nvPr/>
        </p:nvSpPr>
        <p:spPr>
          <a:xfrm>
            <a:off x="7406640" y="4892040"/>
            <a:ext cx="2194560" cy="868680"/>
          </a:xfrm>
          <a:prstGeom prst="roundRect">
            <a:avLst>
              <a:gd name="adj" fmla="val 8421"/>
            </a:avLst>
          </a:prstGeom>
          <a:solidFill>
            <a:srgbClr val="EAF3FA"/>
          </a:solidFill>
          <a:ln w="12700">
            <a:solidFill>
              <a:srgbClr val="255E99"/>
            </a:solidFill>
          </a:ln>
        </p:spPr>
        <p:txBody>
          <a:bodyPr wrap="square" lIns="50800" tIns="101600" rIns="101600" bIns="50800" rtlCol="0" anchor="ctr"/>
          <a:lstStyle/>
          <a:p>
            <a:pPr algn="l" indent="0" marL="0">
              <a:buNone/>
            </a:pPr>
            <a:r>
              <a:rPr lang="en-US" sz="1200" b="1" dirty="0">
                <a:solidFill>
                  <a:srgbClr val="1B2533"/>
                </a:solidFill>
                <a:latin typeface="Calibri" pitchFamily="34" charset="0"/>
                <a:ea typeface="Calibri" pitchFamily="34" charset="-122"/>
                <a:cs typeface="Calibri" pitchFamily="34" charset="-120"/>
              </a:rPr>
              <a:t>Benchmarks + baselines</a:t>
            </a:r>
            <a:endParaRPr lang="en-US" sz="1200" dirty="0"/>
          </a:p>
          <a:p>
            <a:pPr algn="l" indent="0" marL="0">
              <a:buNone/>
            </a:pPr>
            <a:r>
              <a:rPr lang="en-US" sz="1000" dirty="0">
                <a:solidFill>
                  <a:srgbClr val="1B2533"/>
                </a:solidFill>
                <a:latin typeface="Calibri" pitchFamily="34" charset="0"/>
                <a:ea typeface="Calibri" pitchFamily="34" charset="-122"/>
                <a:cs typeface="Calibri" pitchFamily="34" charset="-120"/>
              </a:rPr>
              <a:t>51 cases · greedy · no-recovery</a:t>
            </a:r>
            <a:endParaRPr lang="en-US" sz="1200" dirty="0"/>
          </a:p>
        </p:txBody>
      </p:sp>
      <p:sp>
        <p:nvSpPr>
          <p:cNvPr id="21" name="Shape 18"/>
          <p:cNvSpPr/>
          <p:nvPr/>
        </p:nvSpPr>
        <p:spPr>
          <a:xfrm>
            <a:off x="10012680" y="1874520"/>
            <a:ext cx="1600200" cy="914400"/>
          </a:xfrm>
          <a:prstGeom prst="roundRect">
            <a:avLst>
              <a:gd name="adj" fmla="val 8000"/>
            </a:avLst>
          </a:prstGeom>
          <a:solidFill>
            <a:srgbClr val="FFFFFF"/>
          </a:solidFill>
          <a:ln w="12700">
            <a:solidFill>
              <a:srgbClr val="47789F"/>
            </a:solidFill>
            <a:prstDash val="dash"/>
          </a:ln>
        </p:spPr>
      </p:sp>
      <p:sp>
        <p:nvSpPr>
          <p:cNvPr id="22" name="Text 19"/>
          <p:cNvSpPr txBox="1"/>
          <p:nvPr/>
        </p:nvSpPr>
        <p:spPr>
          <a:xfrm>
            <a:off x="10076688" y="1965960"/>
            <a:ext cx="1463040" cy="731520"/>
          </a:xfrm>
          <a:prstGeom prst="rect">
            <a:avLst/>
          </a:prstGeom>
          <a:noFill/>
          <a:ln/>
        </p:spPr>
        <p:txBody>
          <a:bodyPr wrap="square" lIns="0" tIns="0" rIns="0" bIns="0" rtlCol="0" anchor="t"/>
          <a:lstStyle/>
          <a:p>
            <a:pPr algn="ctr" indent="0" marL="0">
              <a:buNone/>
            </a:pPr>
            <a:r>
              <a:rPr lang="en-US" sz="1100" b="1" dirty="0">
                <a:solidFill>
                  <a:srgbClr val="102B4E"/>
                </a:solidFill>
                <a:latin typeface="Calibri" pitchFamily="34" charset="0"/>
                <a:ea typeface="Calibri" pitchFamily="34" charset="-122"/>
                <a:cs typeface="Calibri" pitchFamily="34" charset="-120"/>
              </a:rPr>
              <a:t>Google Gemini API</a:t>
            </a:r>
            <a:endParaRPr lang="en-US" sz="1100" dirty="0"/>
          </a:p>
          <a:p>
            <a:pPr algn="ctr" indent="0" marL="0">
              <a:buNone/>
            </a:pPr>
            <a:r>
              <a:rPr lang="en-US" sz="1100" b="1" dirty="0">
                <a:solidFill>
                  <a:srgbClr val="102B4E"/>
                </a:solidFill>
                <a:latin typeface="Calibri" pitchFamily="34" charset="0"/>
                <a:ea typeface="Calibri" pitchFamily="34" charset="-122"/>
                <a:cs typeface="Calibri" pitchFamily="34" charset="-120"/>
              </a:rPr>
              <a:t>structured JSON</a:t>
            </a:r>
            <a:endParaRPr lang="en-US" sz="1100" dirty="0"/>
          </a:p>
        </p:txBody>
      </p:sp>
      <p:sp>
        <p:nvSpPr>
          <p:cNvPr id="23" name="Shape 20"/>
          <p:cNvSpPr/>
          <p:nvPr/>
        </p:nvSpPr>
        <p:spPr>
          <a:xfrm>
            <a:off x="9646920" y="2286000"/>
            <a:ext cx="365760" cy="0"/>
          </a:xfrm>
          <a:prstGeom prst="line">
            <a:avLst/>
          </a:prstGeom>
          <a:noFill/>
          <a:ln w="19050">
            <a:solidFill>
              <a:srgbClr val="47789F"/>
            </a:solidFill>
            <a:prstDash val="dash"/>
            <a:tailEnd type="triangle"/>
          </a:ln>
        </p:spPr>
      </p:sp>
      <p:sp>
        <p:nvSpPr>
          <p:cNvPr id="24" name="Shape 21"/>
          <p:cNvSpPr/>
          <p:nvPr/>
        </p:nvSpPr>
        <p:spPr>
          <a:xfrm>
            <a:off x="10012680" y="3108960"/>
            <a:ext cx="1600200" cy="914400"/>
          </a:xfrm>
          <a:prstGeom prst="roundRect">
            <a:avLst>
              <a:gd name="adj" fmla="val 8000"/>
            </a:avLst>
          </a:prstGeom>
          <a:solidFill>
            <a:srgbClr val="FFFFFF"/>
          </a:solidFill>
          <a:ln w="12700">
            <a:solidFill>
              <a:srgbClr val="47789F"/>
            </a:solidFill>
            <a:prstDash val="solid"/>
          </a:ln>
        </p:spPr>
      </p:sp>
      <p:sp>
        <p:nvSpPr>
          <p:cNvPr id="25" name="Text 22"/>
          <p:cNvSpPr txBox="1"/>
          <p:nvPr/>
        </p:nvSpPr>
        <p:spPr>
          <a:xfrm>
            <a:off x="10076688" y="3200400"/>
            <a:ext cx="1463040" cy="731520"/>
          </a:xfrm>
          <a:prstGeom prst="rect">
            <a:avLst/>
          </a:prstGeom>
          <a:noFill/>
          <a:ln/>
        </p:spPr>
        <p:txBody>
          <a:bodyPr wrap="square" lIns="0" tIns="0" rIns="0" bIns="0" rtlCol="0" anchor="t"/>
          <a:lstStyle/>
          <a:p>
            <a:pPr algn="ctr" indent="0" marL="0">
              <a:buNone/>
            </a:pPr>
            <a:r>
              <a:rPr lang="en-US" sz="1100" b="1" dirty="0">
                <a:solidFill>
                  <a:srgbClr val="102B4E"/>
                </a:solidFill>
                <a:latin typeface="Calibri" pitchFamily="34" charset="0"/>
                <a:ea typeface="Calibri" pitchFamily="34" charset="-122"/>
                <a:cs typeface="Calibri" pitchFamily="34" charset="-120"/>
              </a:rPr>
              <a:t>JSON fixtures</a:t>
            </a:r>
            <a:endParaRPr lang="en-US" sz="1100" dirty="0"/>
          </a:p>
          <a:p>
            <a:pPr algn="ctr" indent="0" marL="0">
              <a:buNone/>
            </a:pPr>
            <a:r>
              <a:rPr lang="en-US" sz="1100" b="1" dirty="0">
                <a:solidFill>
                  <a:srgbClr val="102B4E"/>
                </a:solidFill>
                <a:latin typeface="Calibri" pitchFamily="34" charset="0"/>
                <a:ea typeface="Calibri" pitchFamily="34" charset="-122"/>
                <a:cs typeface="Calibri" pitchFamily="34" charset="-120"/>
              </a:rPr>
              <a:t>3 fictional households</a:t>
            </a:r>
            <a:endParaRPr lang="en-US" sz="1100" dirty="0"/>
          </a:p>
        </p:txBody>
      </p:sp>
      <p:sp>
        <p:nvSpPr>
          <p:cNvPr id="26" name="Text 23"/>
          <p:cNvSpPr/>
          <p:nvPr/>
        </p:nvSpPr>
        <p:spPr>
          <a:xfrm>
            <a:off x="10012680" y="4297680"/>
            <a:ext cx="1600200" cy="292608"/>
          </a:xfrm>
          <a:prstGeom prst="roundRect">
            <a:avLst/>
          </a:prstGeom>
          <a:solidFill>
            <a:srgbClr val="82B2D6"/>
          </a:solidFill>
          <a:ln/>
        </p:spPr>
        <p:txBody>
          <a:bodyPr wrap="square" lIns="0" tIns="76200" rIns="76200" bIns="0" rtlCol="0" anchor="ctr"/>
          <a:lstStyle/>
          <a:p>
            <a:pPr algn="ctr" indent="0" marL="0">
              <a:buNone/>
            </a:pPr>
            <a:r>
              <a:rPr lang="en-US" sz="1000" b="1" dirty="0">
                <a:solidFill>
                  <a:srgbClr val="102B4E"/>
                </a:solidFill>
                <a:latin typeface="Calibri" pitchFamily="34" charset="0"/>
                <a:ea typeface="Calibri" pitchFamily="34" charset="-122"/>
                <a:cs typeface="Calibri" pitchFamily="34" charset="-120"/>
              </a:rPr>
              <a:t>Language AI</a:t>
            </a:r>
            <a:endParaRPr lang="en-US" sz="1000" dirty="0"/>
          </a:p>
        </p:txBody>
      </p:sp>
      <p:sp>
        <p:nvSpPr>
          <p:cNvPr id="27" name="Text 24"/>
          <p:cNvSpPr/>
          <p:nvPr/>
        </p:nvSpPr>
        <p:spPr>
          <a:xfrm>
            <a:off x="10012680" y="4663440"/>
            <a:ext cx="1600200" cy="292608"/>
          </a:xfrm>
          <a:prstGeom prst="roundRect">
            <a:avLst/>
          </a:prstGeom>
          <a:solidFill>
            <a:srgbClr val="255E99"/>
          </a:solidFill>
          <a:ln/>
        </p:spPr>
        <p:txBody>
          <a:bodyPr wrap="square" lIns="0" tIns="76200" rIns="7620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Deterministic</a:t>
            </a:r>
            <a:endParaRPr lang="en-US" sz="1000" dirty="0"/>
          </a:p>
        </p:txBody>
      </p:sp>
      <p:sp>
        <p:nvSpPr>
          <p:cNvPr id="28" name="Text 25"/>
          <p:cNvSpPr/>
          <p:nvPr/>
        </p:nvSpPr>
        <p:spPr>
          <a:xfrm>
            <a:off x="10012680" y="5029200"/>
            <a:ext cx="1600200" cy="292608"/>
          </a:xfrm>
          <a:prstGeom prst="roundRect">
            <a:avLst/>
          </a:prstGeom>
          <a:solidFill>
            <a:srgbClr val="2B7557"/>
          </a:solidFill>
          <a:ln/>
        </p:spPr>
        <p:txBody>
          <a:bodyPr wrap="square" lIns="0" tIns="76200" rIns="7620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Independent check</a:t>
            </a:r>
            <a:endParaRPr lang="en-US" sz="1000" dirty="0"/>
          </a:p>
        </p:txBody>
      </p:sp>
      <p:sp>
        <p:nvSpPr>
          <p:cNvPr id="29"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repository structure (backend/app/services/*, frontend/src/*); deployment per render.yaml and pages.yml. Native, editable diagram.</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II · THE INTELLIGENCE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The household digital twin</a:t>
            </a:r>
            <a:endParaRPr lang="en-US" sz="3200" dirty="0"/>
          </a:p>
        </p:txBody>
      </p:sp>
      <p:sp>
        <p:nvSpPr>
          <p:cNvPr id="5" name="Shape 2"/>
          <p:cNvSpPr/>
          <p:nvPr/>
        </p:nvSpPr>
        <p:spPr>
          <a:xfrm>
            <a:off x="548640" y="1417320"/>
            <a:ext cx="3566160" cy="1874520"/>
          </a:xfrm>
          <a:prstGeom prst="roundRect">
            <a:avLst>
              <a:gd name="adj" fmla="val 3902"/>
            </a:avLst>
          </a:prstGeom>
          <a:solidFill>
            <a:srgbClr val="FFFFFF"/>
          </a:solidFill>
          <a:ln w="19050">
            <a:solidFill>
              <a:srgbClr val="255E99"/>
            </a:solidFill>
            <a:prstDash val="solid"/>
          </a:ln>
        </p:spPr>
      </p:sp>
      <p:sp>
        <p:nvSpPr>
          <p:cNvPr id="6" name="Text 3"/>
          <p:cNvSpPr/>
          <p:nvPr/>
        </p:nvSpPr>
        <p:spPr>
          <a:xfrm>
            <a:off x="548640" y="1417320"/>
            <a:ext cx="3566160" cy="365760"/>
          </a:xfrm>
          <a:prstGeom prst="roundRect">
            <a:avLst>
              <a:gd name="adj" fmla="val 20000"/>
            </a:avLst>
          </a:prstGeom>
          <a:solidFill>
            <a:srgbClr val="255E99"/>
          </a:solidFill>
          <a:ln/>
        </p:spPr>
        <p:txBody>
          <a:bodyPr wrap="square" lIns="0" tIns="127000" rIns="12700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FamilyMember</a:t>
            </a:r>
            <a:endParaRPr lang="en-US" sz="1300" dirty="0"/>
          </a:p>
        </p:txBody>
      </p:sp>
      <p:sp>
        <p:nvSpPr>
          <p:cNvPr id="7" name="Text 4"/>
          <p:cNvSpPr txBox="1"/>
          <p:nvPr/>
        </p:nvSpPr>
        <p:spPr>
          <a:xfrm>
            <a:off x="685800" y="1874520"/>
            <a:ext cx="3291840" cy="1371600"/>
          </a:xfrm>
          <a:prstGeom prst="rect">
            <a:avLst/>
          </a:prstGeom>
          <a:noFill/>
          <a:ln/>
        </p:spPr>
        <p:txBody>
          <a:bodyPr wrap="square" lIns="0" tIns="0" rIns="0" bIns="0" rtlCol="0" anchor="t"/>
          <a:lstStyle/>
          <a:p>
            <a:pPr indent="0" marL="0">
              <a:buNone/>
            </a:pPr>
            <a:r>
              <a:rPr lang="en-US" sz="1050" dirty="0">
                <a:solidFill>
                  <a:srgbClr val="1B2533"/>
                </a:solidFill>
                <a:latin typeface="Consolas" pitchFamily="34" charset="0"/>
                <a:ea typeface="Consolas" pitchFamily="34" charset="-122"/>
                <a:cs typeface="Consolas" pitchFamily="34" charset="-120"/>
              </a:rPr>
              <a:t>id · name · age · role · isDependent</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skills[] · permissions[] · restrictions[]</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availability[ {startMin,endMin} ]</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authorizedDependentIds[]</a:t>
            </a:r>
            <a:endParaRPr lang="en-US" sz="1050" dirty="0"/>
          </a:p>
        </p:txBody>
      </p:sp>
      <p:sp>
        <p:nvSpPr>
          <p:cNvPr id="8" name="Shape 5"/>
          <p:cNvSpPr/>
          <p:nvPr/>
        </p:nvSpPr>
        <p:spPr>
          <a:xfrm>
            <a:off x="4297680" y="1417320"/>
            <a:ext cx="3566160" cy="1874520"/>
          </a:xfrm>
          <a:prstGeom prst="roundRect">
            <a:avLst>
              <a:gd name="adj" fmla="val 3902"/>
            </a:avLst>
          </a:prstGeom>
          <a:solidFill>
            <a:srgbClr val="FFFFFF"/>
          </a:solidFill>
          <a:ln w="19050">
            <a:solidFill>
              <a:srgbClr val="255E99"/>
            </a:solidFill>
            <a:prstDash val="solid"/>
          </a:ln>
        </p:spPr>
      </p:sp>
      <p:sp>
        <p:nvSpPr>
          <p:cNvPr id="9" name="Text 6"/>
          <p:cNvSpPr/>
          <p:nvPr/>
        </p:nvSpPr>
        <p:spPr>
          <a:xfrm>
            <a:off x="4297680" y="1417320"/>
            <a:ext cx="3566160" cy="365760"/>
          </a:xfrm>
          <a:prstGeom prst="roundRect">
            <a:avLst>
              <a:gd name="adj" fmla="val 20000"/>
            </a:avLst>
          </a:prstGeom>
          <a:solidFill>
            <a:srgbClr val="255E99"/>
          </a:solidFill>
          <a:ln/>
        </p:spPr>
        <p:txBody>
          <a:bodyPr wrap="square" lIns="0" tIns="127000" rIns="12700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HouseholdTask</a:t>
            </a:r>
            <a:endParaRPr lang="en-US" sz="1300" dirty="0"/>
          </a:p>
        </p:txBody>
      </p:sp>
      <p:sp>
        <p:nvSpPr>
          <p:cNvPr id="10" name="Text 7"/>
          <p:cNvSpPr txBox="1"/>
          <p:nvPr/>
        </p:nvSpPr>
        <p:spPr>
          <a:xfrm>
            <a:off x="4434840" y="1874520"/>
            <a:ext cx="3291840" cy="1371600"/>
          </a:xfrm>
          <a:prstGeom prst="rect">
            <a:avLst/>
          </a:prstGeom>
          <a:noFill/>
          <a:ln/>
        </p:spPr>
        <p:txBody>
          <a:bodyPr wrap="square" lIns="0" tIns="0" rIns="0" bIns="0" rtlCol="0" anchor="t"/>
          <a:lstStyle/>
          <a:p>
            <a:pPr indent="0" marL="0">
              <a:buNone/>
            </a:pPr>
            <a:r>
              <a:rPr lang="en-US" sz="1050" dirty="0">
                <a:solidFill>
                  <a:srgbClr val="1B2533"/>
                </a:solidFill>
                <a:latin typeface="Consolas" pitchFamily="34" charset="0"/>
                <a:ea typeface="Consolas" pitchFamily="34" charset="-122"/>
                <a:cs typeface="Consolas" pitchFamily="34" charset="-120"/>
              </a:rPr>
              <a:t>id · tier 0–3 · priorityWeight · durationMin</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earliestStart · latestEnd · fixedStart?</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requiredSkills[] · requiredPermissions[]</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requiredResourceTypes[] · requiredConsent</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predecessorTaskIds[] · requiredMilestoneIds[]</a:t>
            </a:r>
            <a:endParaRPr lang="en-US" sz="1050" dirty="0"/>
          </a:p>
        </p:txBody>
      </p:sp>
      <p:sp>
        <p:nvSpPr>
          <p:cNvPr id="11" name="Shape 8"/>
          <p:cNvSpPr/>
          <p:nvPr/>
        </p:nvSpPr>
        <p:spPr>
          <a:xfrm>
            <a:off x="8046720" y="1417320"/>
            <a:ext cx="3566160" cy="1874520"/>
          </a:xfrm>
          <a:prstGeom prst="roundRect">
            <a:avLst>
              <a:gd name="adj" fmla="val 3902"/>
            </a:avLst>
          </a:prstGeom>
          <a:solidFill>
            <a:srgbClr val="FFFFFF"/>
          </a:solidFill>
          <a:ln w="19050">
            <a:solidFill>
              <a:srgbClr val="47789F"/>
            </a:solidFill>
            <a:prstDash val="solid"/>
          </a:ln>
        </p:spPr>
      </p:sp>
      <p:sp>
        <p:nvSpPr>
          <p:cNvPr id="12" name="Text 9"/>
          <p:cNvSpPr/>
          <p:nvPr/>
        </p:nvSpPr>
        <p:spPr>
          <a:xfrm>
            <a:off x="8046720" y="1417320"/>
            <a:ext cx="3566160" cy="365760"/>
          </a:xfrm>
          <a:prstGeom prst="roundRect">
            <a:avLst>
              <a:gd name="adj" fmla="val 20000"/>
            </a:avLst>
          </a:prstGeom>
          <a:solidFill>
            <a:srgbClr val="47789F"/>
          </a:solidFill>
          <a:ln/>
        </p:spPr>
        <p:txBody>
          <a:bodyPr wrap="square" lIns="0" tIns="127000" rIns="12700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HouseholdResource</a:t>
            </a:r>
            <a:endParaRPr lang="en-US" sz="1300" dirty="0"/>
          </a:p>
        </p:txBody>
      </p:sp>
      <p:sp>
        <p:nvSpPr>
          <p:cNvPr id="13" name="Text 10"/>
          <p:cNvSpPr txBox="1"/>
          <p:nvPr/>
        </p:nvSpPr>
        <p:spPr>
          <a:xfrm>
            <a:off x="8183880" y="1874520"/>
            <a:ext cx="3291840" cy="1371600"/>
          </a:xfrm>
          <a:prstGeom prst="rect">
            <a:avLst/>
          </a:prstGeom>
          <a:noFill/>
          <a:ln/>
        </p:spPr>
        <p:txBody>
          <a:bodyPr wrap="square" lIns="0" tIns="0" rIns="0" bIns="0" rtlCol="0" anchor="t"/>
          <a:lstStyle/>
          <a:p>
            <a:pPr indent="0" marL="0">
              <a:buNone/>
            </a:pPr>
            <a:r>
              <a:rPr lang="en-US" sz="1050" dirty="0">
                <a:solidFill>
                  <a:srgbClr val="1B2533"/>
                </a:solidFill>
                <a:latin typeface="Consolas" pitchFamily="34" charset="0"/>
                <a:ea typeface="Consolas" pitchFamily="34" charset="-122"/>
                <a:cs typeface="Consolas" pitchFamily="34" charset="-120"/>
              </a:rPr>
              <a:t>id · name · type · capacity · exclusive</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availability[] · unavailableWindows[]</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allowedMemberIds?  (vehicle, kitchen, …)</a:t>
            </a:r>
            <a:endParaRPr lang="en-US" sz="1050" dirty="0"/>
          </a:p>
        </p:txBody>
      </p:sp>
      <p:sp>
        <p:nvSpPr>
          <p:cNvPr id="14" name="Shape 11"/>
          <p:cNvSpPr/>
          <p:nvPr/>
        </p:nvSpPr>
        <p:spPr>
          <a:xfrm>
            <a:off x="548640" y="3520440"/>
            <a:ext cx="3566160" cy="1874520"/>
          </a:xfrm>
          <a:prstGeom prst="roundRect">
            <a:avLst>
              <a:gd name="adj" fmla="val 3902"/>
            </a:avLst>
          </a:prstGeom>
          <a:solidFill>
            <a:srgbClr val="FFFFFF"/>
          </a:solidFill>
          <a:ln w="19050">
            <a:solidFill>
              <a:srgbClr val="102B4E"/>
            </a:solidFill>
            <a:prstDash val="solid"/>
          </a:ln>
        </p:spPr>
      </p:sp>
      <p:sp>
        <p:nvSpPr>
          <p:cNvPr id="15" name="Text 12"/>
          <p:cNvSpPr/>
          <p:nvPr/>
        </p:nvSpPr>
        <p:spPr>
          <a:xfrm>
            <a:off x="548640" y="3520440"/>
            <a:ext cx="3566160" cy="365760"/>
          </a:xfrm>
          <a:prstGeom prst="roundRect">
            <a:avLst>
              <a:gd name="adj" fmla="val 20000"/>
            </a:avLst>
          </a:prstGeom>
          <a:solidFill>
            <a:srgbClr val="102B4E"/>
          </a:solidFill>
          <a:ln/>
        </p:spPr>
        <p:txBody>
          <a:bodyPr wrap="square" lIns="0" tIns="127000" rIns="12700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Assignment</a:t>
            </a:r>
            <a:endParaRPr lang="en-US" sz="1300" dirty="0"/>
          </a:p>
        </p:txBody>
      </p:sp>
      <p:sp>
        <p:nvSpPr>
          <p:cNvPr id="16" name="Text 13"/>
          <p:cNvSpPr txBox="1"/>
          <p:nvPr/>
        </p:nvSpPr>
        <p:spPr>
          <a:xfrm>
            <a:off x="685800" y="3977640"/>
            <a:ext cx="3291840" cy="1371600"/>
          </a:xfrm>
          <a:prstGeom prst="rect">
            <a:avLst/>
          </a:prstGeom>
          <a:noFill/>
          <a:ln/>
        </p:spPr>
        <p:txBody>
          <a:bodyPr wrap="square" lIns="0" tIns="0" rIns="0" bIns="0" rtlCol="0" anchor="t"/>
          <a:lstStyle/>
          <a:p>
            <a:pPr indent="0" marL="0">
              <a:buNone/>
            </a:pPr>
            <a:r>
              <a:rPr lang="en-US" sz="1050" dirty="0">
                <a:solidFill>
                  <a:srgbClr val="1B2533"/>
                </a:solidFill>
                <a:latin typeface="Consolas" pitchFamily="34" charset="0"/>
                <a:ea typeface="Consolas" pitchFamily="34" charset="-122"/>
                <a:cs typeface="Consolas" pitchFamily="34" charset="-120"/>
              </a:rPr>
              <a:t>taskId → memberId</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startMin · endMin · resourceIds[]</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changedFromBaseline</a:t>
            </a:r>
            <a:endParaRPr lang="en-US" sz="1050" dirty="0"/>
          </a:p>
        </p:txBody>
      </p:sp>
      <p:sp>
        <p:nvSpPr>
          <p:cNvPr id="17" name="Shape 14"/>
          <p:cNvSpPr/>
          <p:nvPr/>
        </p:nvSpPr>
        <p:spPr>
          <a:xfrm>
            <a:off x="4297680" y="3520440"/>
            <a:ext cx="3566160" cy="1874520"/>
          </a:xfrm>
          <a:prstGeom prst="roundRect">
            <a:avLst>
              <a:gd name="adj" fmla="val 3902"/>
            </a:avLst>
          </a:prstGeom>
          <a:solidFill>
            <a:srgbClr val="FFFFFF"/>
          </a:solidFill>
          <a:ln w="19050">
            <a:solidFill>
              <a:srgbClr val="47789F"/>
            </a:solidFill>
            <a:prstDash val="solid"/>
          </a:ln>
        </p:spPr>
      </p:sp>
      <p:sp>
        <p:nvSpPr>
          <p:cNvPr id="18" name="Text 15"/>
          <p:cNvSpPr/>
          <p:nvPr/>
        </p:nvSpPr>
        <p:spPr>
          <a:xfrm>
            <a:off x="4297680" y="3520440"/>
            <a:ext cx="3566160" cy="365760"/>
          </a:xfrm>
          <a:prstGeom prst="roundRect">
            <a:avLst>
              <a:gd name="adj" fmla="val 20000"/>
            </a:avLst>
          </a:prstGeom>
          <a:solidFill>
            <a:srgbClr val="47789F"/>
          </a:solidFill>
          <a:ln/>
        </p:spPr>
        <p:txBody>
          <a:bodyPr wrap="square" lIns="0" tIns="127000" rIns="12700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Milestone</a:t>
            </a:r>
            <a:endParaRPr lang="en-US" sz="1300" dirty="0"/>
          </a:p>
        </p:txBody>
      </p:sp>
      <p:sp>
        <p:nvSpPr>
          <p:cNvPr id="19" name="Text 16"/>
          <p:cNvSpPr txBox="1"/>
          <p:nvPr/>
        </p:nvSpPr>
        <p:spPr>
          <a:xfrm>
            <a:off x="4434840" y="3977640"/>
            <a:ext cx="3291840" cy="1371600"/>
          </a:xfrm>
          <a:prstGeom prst="rect">
            <a:avLst/>
          </a:prstGeom>
          <a:noFill/>
          <a:ln/>
        </p:spPr>
        <p:txBody>
          <a:bodyPr wrap="square" lIns="0" tIns="0" rIns="0" bIns="0" rtlCol="0" anchor="t"/>
          <a:lstStyle/>
          <a:p>
            <a:pPr indent="0" marL="0">
              <a:buNone/>
            </a:pPr>
            <a:r>
              <a:rPr lang="en-US" sz="1050" dirty="0">
                <a:solidFill>
                  <a:srgbClr val="1B2533"/>
                </a:solidFill>
                <a:latin typeface="Consolas" pitchFamily="34" charset="0"/>
                <a:ea typeface="Consolas" pitchFamily="34" charset="-122"/>
                <a:cs typeface="Consolas" pitchFamily="34" charset="-120"/>
              </a:rPr>
              <a:t>id · title</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enabledByTaskIds[]</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dependentId?   e.g. “Yusuf arrived home”</a:t>
            </a:r>
            <a:endParaRPr lang="en-US" sz="1050" dirty="0"/>
          </a:p>
        </p:txBody>
      </p:sp>
      <p:sp>
        <p:nvSpPr>
          <p:cNvPr id="20" name="Shape 17"/>
          <p:cNvSpPr/>
          <p:nvPr/>
        </p:nvSpPr>
        <p:spPr>
          <a:xfrm>
            <a:off x="8046720" y="3520440"/>
            <a:ext cx="3566160" cy="1874520"/>
          </a:xfrm>
          <a:prstGeom prst="roundRect">
            <a:avLst>
              <a:gd name="adj" fmla="val 3902"/>
            </a:avLst>
          </a:prstGeom>
          <a:solidFill>
            <a:srgbClr val="FFFFFF"/>
          </a:solidFill>
          <a:ln w="19050">
            <a:solidFill>
              <a:srgbClr val="A23A3D"/>
            </a:solidFill>
            <a:prstDash val="solid"/>
          </a:ln>
        </p:spPr>
      </p:sp>
      <p:sp>
        <p:nvSpPr>
          <p:cNvPr id="21" name="Text 18"/>
          <p:cNvSpPr/>
          <p:nvPr/>
        </p:nvSpPr>
        <p:spPr>
          <a:xfrm>
            <a:off x="8046720" y="3520440"/>
            <a:ext cx="3566160" cy="365760"/>
          </a:xfrm>
          <a:prstGeom prst="roundRect">
            <a:avLst>
              <a:gd name="adj" fmla="val 20000"/>
            </a:avLst>
          </a:prstGeom>
          <a:solidFill>
            <a:srgbClr val="A23A3D"/>
          </a:solidFill>
          <a:ln/>
        </p:spPr>
        <p:txBody>
          <a:bodyPr wrap="square" lIns="0" tIns="127000" rIns="12700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Disruption (5 types)</a:t>
            </a:r>
            <a:endParaRPr lang="en-US" sz="1300" dirty="0"/>
          </a:p>
        </p:txBody>
      </p:sp>
      <p:sp>
        <p:nvSpPr>
          <p:cNvPr id="22" name="Text 19"/>
          <p:cNvSpPr txBox="1"/>
          <p:nvPr/>
        </p:nvSpPr>
        <p:spPr>
          <a:xfrm>
            <a:off x="8183880" y="3977640"/>
            <a:ext cx="3291840" cy="1371600"/>
          </a:xfrm>
          <a:prstGeom prst="rect">
            <a:avLst/>
          </a:prstGeom>
          <a:noFill/>
          <a:ln/>
        </p:spPr>
        <p:txBody>
          <a:bodyPr wrap="square" lIns="0" tIns="0" rIns="0" bIns="0" rtlCol="0" anchor="t"/>
          <a:lstStyle/>
          <a:p>
            <a:pPr indent="0" marL="0">
              <a:buNone/>
            </a:pPr>
            <a:r>
              <a:rPr lang="en-US" sz="1050" dirty="0">
                <a:solidFill>
                  <a:srgbClr val="1B2533"/>
                </a:solidFill>
                <a:latin typeface="Consolas" pitchFamily="34" charset="0"/>
                <a:ea typeface="Consolas" pitchFamily="34" charset="-122"/>
                <a:cs typeface="Consolas" pitchFamily="34" charset="-120"/>
              </a:rPr>
              <a:t>member_unavailable · resource_unavailable</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task_rescheduled · availability_changed</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resource_capacity_changed</a:t>
            </a:r>
            <a:endParaRPr lang="en-US" sz="1050" dirty="0"/>
          </a:p>
          <a:p>
            <a:pPr indent="0" marL="0">
              <a:buNone/>
            </a:pPr>
            <a:r>
              <a:rPr lang="en-US" sz="1050" dirty="0">
                <a:solidFill>
                  <a:srgbClr val="1B2533"/>
                </a:solidFill>
                <a:latin typeface="Consolas" pitchFamily="34" charset="0"/>
                <a:ea typeface="Consolas" pitchFamily="34" charset="-122"/>
                <a:cs typeface="Consolas" pitchFamily="34" charset="-120"/>
              </a:rPr>
              <a:t>affectedEntityIds[] · window · confirmed</a:t>
            </a:r>
            <a:endParaRPr lang="en-US" sz="1050" dirty="0"/>
          </a:p>
        </p:txBody>
      </p:sp>
      <p:sp>
        <p:nvSpPr>
          <p:cNvPr id="23" name="Shape 20"/>
          <p:cNvSpPr/>
          <p:nvPr/>
        </p:nvSpPr>
        <p:spPr>
          <a:xfrm>
            <a:off x="4114800" y="2377440"/>
            <a:ext cx="182880" cy="0"/>
          </a:xfrm>
          <a:prstGeom prst="line">
            <a:avLst/>
          </a:prstGeom>
          <a:noFill/>
          <a:ln w="19050">
            <a:solidFill>
              <a:srgbClr val="47789F"/>
            </a:solidFill>
            <a:prstDash val="solid"/>
          </a:ln>
        </p:spPr>
      </p:sp>
      <p:sp>
        <p:nvSpPr>
          <p:cNvPr id="24" name="Shape 21"/>
          <p:cNvSpPr/>
          <p:nvPr/>
        </p:nvSpPr>
        <p:spPr>
          <a:xfrm>
            <a:off x="7863840" y="2377440"/>
            <a:ext cx="182880" cy="0"/>
          </a:xfrm>
          <a:prstGeom prst="line">
            <a:avLst/>
          </a:prstGeom>
          <a:noFill/>
          <a:ln w="19050">
            <a:solidFill>
              <a:srgbClr val="47789F"/>
            </a:solidFill>
            <a:prstDash val="solid"/>
          </a:ln>
        </p:spPr>
      </p:sp>
      <p:sp>
        <p:nvSpPr>
          <p:cNvPr id="25" name="Shape 22"/>
          <p:cNvSpPr/>
          <p:nvPr/>
        </p:nvSpPr>
        <p:spPr>
          <a:xfrm>
            <a:off x="2331720" y="3291840"/>
            <a:ext cx="0" cy="228600"/>
          </a:xfrm>
          <a:prstGeom prst="line">
            <a:avLst/>
          </a:prstGeom>
          <a:noFill/>
          <a:ln w="19050">
            <a:solidFill>
              <a:srgbClr val="47789F"/>
            </a:solidFill>
            <a:prstDash val="solid"/>
          </a:ln>
        </p:spPr>
      </p:sp>
      <p:sp>
        <p:nvSpPr>
          <p:cNvPr id="26" name="Shape 23"/>
          <p:cNvSpPr/>
          <p:nvPr/>
        </p:nvSpPr>
        <p:spPr>
          <a:xfrm>
            <a:off x="6080760" y="3291840"/>
            <a:ext cx="0" cy="228600"/>
          </a:xfrm>
          <a:prstGeom prst="line">
            <a:avLst/>
          </a:prstGeom>
          <a:noFill/>
          <a:ln w="19050">
            <a:solidFill>
              <a:srgbClr val="47789F"/>
            </a:solidFill>
            <a:prstDash val="solid"/>
          </a:ln>
        </p:spPr>
      </p:sp>
      <p:sp>
        <p:nvSpPr>
          <p:cNvPr id="27" name="Shape 24"/>
          <p:cNvSpPr/>
          <p:nvPr/>
        </p:nvSpPr>
        <p:spPr>
          <a:xfrm>
            <a:off x="548640" y="5532120"/>
            <a:ext cx="11064240" cy="548640"/>
          </a:xfrm>
          <a:prstGeom prst="roundRect">
            <a:avLst>
              <a:gd name="adj" fmla="val 13333"/>
            </a:avLst>
          </a:prstGeom>
          <a:solidFill>
            <a:srgbClr val="EAF3FA"/>
          </a:solidFill>
          <a:ln/>
        </p:spPr>
      </p:sp>
      <p:sp>
        <p:nvSpPr>
          <p:cNvPr id="28" name="Text 25"/>
          <p:cNvSpPr txBox="1"/>
          <p:nvPr/>
        </p:nvSpPr>
        <p:spPr>
          <a:xfrm>
            <a:off x="685800" y="5669280"/>
            <a:ext cx="10789920" cy="274320"/>
          </a:xfrm>
          <a:prstGeom prst="rect">
            <a:avLst/>
          </a:prstGeom>
          <a:noFill/>
          <a:ln/>
        </p:spPr>
        <p:txBody>
          <a:bodyPr wrap="square" lIns="0" tIns="0" rIns="0" bIns="0" rtlCol="0" anchor="t"/>
          <a:lstStyle/>
          <a:p>
            <a:pPr indent="0" marL="0">
              <a:buNone/>
            </a:pPr>
            <a:r>
              <a:rPr lang="en-US" sz="1100" dirty="0">
                <a:solidFill>
                  <a:srgbClr val="102B4E"/>
                </a:solidFill>
                <a:latin typeface="Consolas" pitchFamily="34" charset="0"/>
                <a:ea typeface="Consolas" pitchFamily="34" charset="-122"/>
                <a:cs typeface="Consolas" pitchFamily="34" charset="-120"/>
              </a:rPr>
              <a:t>P01 Amina · adult · skills [driving, shopping, homework_assist] · permissions [drive, pickup_authorized] · authorized for P04 · available 14:30–18:30</a:t>
            </a:r>
            <a:endParaRPr lang="en-US" sz="1100" dirty="0"/>
          </a:p>
        </p:txBody>
      </p:sp>
      <p:sp>
        <p:nvSpPr>
          <p:cNvPr id="29"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backend/app/models/domain.py; example from data/households/amina.json. Simplified diagram: fields abbreviated.</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II · THE INTELLIGENCE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Natural-language interpretation</a:t>
            </a:r>
            <a:endParaRPr lang="en-US" sz="3200" dirty="0"/>
          </a:p>
        </p:txBody>
      </p:sp>
      <p:sp>
        <p:nvSpPr>
          <p:cNvPr id="5" name="Text 2"/>
          <p:cNvSpPr/>
          <p:nvPr/>
        </p:nvSpPr>
        <p:spPr>
          <a:xfrm>
            <a:off x="548640" y="1499616"/>
            <a:ext cx="457200" cy="457200"/>
          </a:xfrm>
          <a:prstGeom prst="ellipse">
            <a:avLst/>
          </a:prstGeom>
          <a:solidFill>
            <a:srgbClr val="255E99"/>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3"/>
          <p:cNvSpPr txBox="1"/>
          <p:nvPr/>
        </p:nvSpPr>
        <p:spPr>
          <a:xfrm>
            <a:off x="1143000" y="1554480"/>
            <a:ext cx="2743200" cy="365760"/>
          </a:xfrm>
          <a:prstGeom prst="rect">
            <a:avLst/>
          </a:prstGeom>
          <a:noFill/>
          <a:ln/>
        </p:spPr>
        <p:txBody>
          <a:bodyPr wrap="square" lIns="0" tIns="0" rIns="0" bIns="0" rtlCol="0" anchor="t"/>
          <a:lstStyle/>
          <a:p>
            <a:pPr indent="0" marL="0">
              <a:buNone/>
            </a:pPr>
            <a:r>
              <a:rPr lang="en-US" sz="1500" b="1" dirty="0">
                <a:solidFill>
                  <a:srgbClr val="102B4E"/>
                </a:solidFill>
                <a:latin typeface="Calibri" pitchFamily="34" charset="0"/>
                <a:ea typeface="Calibri" pitchFamily="34" charset="-122"/>
                <a:cs typeface="Calibri" pitchFamily="34" charset="-120"/>
              </a:rPr>
              <a:t>Natural-language description</a:t>
            </a:r>
            <a:endParaRPr lang="en-US" sz="1500" dirty="0"/>
          </a:p>
        </p:txBody>
      </p:sp>
      <p:sp>
        <p:nvSpPr>
          <p:cNvPr id="7" name="Shape 4"/>
          <p:cNvSpPr/>
          <p:nvPr/>
        </p:nvSpPr>
        <p:spPr>
          <a:xfrm>
            <a:off x="777240" y="1956816"/>
            <a:ext cx="0" cy="256032"/>
          </a:xfrm>
          <a:prstGeom prst="line">
            <a:avLst/>
          </a:prstGeom>
          <a:noFill/>
          <a:ln w="19050">
            <a:solidFill>
              <a:srgbClr val="47789F"/>
            </a:solidFill>
            <a:prstDash val="solid"/>
          </a:ln>
        </p:spPr>
      </p:sp>
      <p:sp>
        <p:nvSpPr>
          <p:cNvPr id="8" name="Text 5"/>
          <p:cNvSpPr/>
          <p:nvPr/>
        </p:nvSpPr>
        <p:spPr>
          <a:xfrm>
            <a:off x="548640" y="2212848"/>
            <a:ext cx="457200" cy="457200"/>
          </a:xfrm>
          <a:prstGeom prst="ellipse">
            <a:avLst/>
          </a:prstGeom>
          <a:solidFill>
            <a:srgbClr val="82B2D6"/>
          </a:solidFill>
          <a:ln/>
        </p:spPr>
        <p:txBody>
          <a:bodyPr wrap="square" lIns="0" tIns="0" rIns="0" bIns="0" rtlCol="0" anchor="ctr"/>
          <a:lstStyle/>
          <a:p>
            <a:pPr algn="ctr" indent="0" marL="0">
              <a:buNone/>
            </a:pPr>
            <a:r>
              <a:rPr lang="en-US" sz="1600" b="1" dirty="0">
                <a:solidFill>
                  <a:srgbClr val="102B4E"/>
                </a:solidFill>
                <a:latin typeface="Calibri" pitchFamily="34" charset="0"/>
                <a:ea typeface="Calibri" pitchFamily="34" charset="-122"/>
                <a:cs typeface="Calibri" pitchFamily="34" charset="-120"/>
              </a:rPr>
              <a:t>2</a:t>
            </a:r>
            <a:endParaRPr lang="en-US" sz="1600" dirty="0"/>
          </a:p>
        </p:txBody>
      </p:sp>
      <p:sp>
        <p:nvSpPr>
          <p:cNvPr id="9" name="Text 6"/>
          <p:cNvSpPr txBox="1"/>
          <p:nvPr/>
        </p:nvSpPr>
        <p:spPr>
          <a:xfrm>
            <a:off x="1143000" y="2267712"/>
            <a:ext cx="2743200" cy="365760"/>
          </a:xfrm>
          <a:prstGeom prst="rect">
            <a:avLst/>
          </a:prstGeom>
          <a:noFill/>
          <a:ln/>
        </p:spPr>
        <p:txBody>
          <a:bodyPr wrap="square" lIns="0" tIns="0" rIns="0" bIns="0" rtlCol="0" anchor="t"/>
          <a:lstStyle/>
          <a:p>
            <a:pPr indent="0" marL="0">
              <a:buNone/>
            </a:pPr>
            <a:r>
              <a:rPr lang="en-US" sz="1500" b="1" dirty="0">
                <a:solidFill>
                  <a:srgbClr val="102B4E"/>
                </a:solidFill>
                <a:latin typeface="Calibri" pitchFamily="34" charset="0"/>
                <a:ea typeface="Calibri" pitchFamily="34" charset="-122"/>
                <a:cs typeface="Calibri" pitchFamily="34" charset="-120"/>
              </a:rPr>
              <a:t>Structured interpretation</a:t>
            </a:r>
            <a:endParaRPr lang="en-US" sz="1500" dirty="0"/>
          </a:p>
        </p:txBody>
      </p:sp>
      <p:sp>
        <p:nvSpPr>
          <p:cNvPr id="10" name="Shape 7"/>
          <p:cNvSpPr/>
          <p:nvPr/>
        </p:nvSpPr>
        <p:spPr>
          <a:xfrm>
            <a:off x="777240" y="2670048"/>
            <a:ext cx="0" cy="256032"/>
          </a:xfrm>
          <a:prstGeom prst="line">
            <a:avLst/>
          </a:prstGeom>
          <a:noFill/>
          <a:ln w="19050">
            <a:solidFill>
              <a:srgbClr val="47789F"/>
            </a:solidFill>
            <a:prstDash val="solid"/>
          </a:ln>
        </p:spPr>
      </p:sp>
      <p:sp>
        <p:nvSpPr>
          <p:cNvPr id="11" name="Text 8"/>
          <p:cNvSpPr/>
          <p:nvPr/>
        </p:nvSpPr>
        <p:spPr>
          <a:xfrm>
            <a:off x="548640" y="2926080"/>
            <a:ext cx="457200" cy="457200"/>
          </a:xfrm>
          <a:prstGeom prst="ellipse">
            <a:avLst/>
          </a:prstGeom>
          <a:solidFill>
            <a:srgbClr val="255E99"/>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9"/>
          <p:cNvSpPr txBox="1"/>
          <p:nvPr/>
        </p:nvSpPr>
        <p:spPr>
          <a:xfrm>
            <a:off x="1143000" y="2980944"/>
            <a:ext cx="2743200" cy="365760"/>
          </a:xfrm>
          <a:prstGeom prst="rect">
            <a:avLst/>
          </a:prstGeom>
          <a:noFill/>
          <a:ln/>
        </p:spPr>
        <p:txBody>
          <a:bodyPr wrap="square" lIns="0" tIns="0" rIns="0" bIns="0" rtlCol="0" anchor="t"/>
          <a:lstStyle/>
          <a:p>
            <a:pPr indent="0" marL="0">
              <a:buNone/>
            </a:pPr>
            <a:r>
              <a:rPr lang="en-US" sz="1500" b="1" dirty="0">
                <a:solidFill>
                  <a:srgbClr val="102B4E"/>
                </a:solidFill>
                <a:latin typeface="Calibri" pitchFamily="34" charset="0"/>
                <a:ea typeface="Calibri" pitchFamily="34" charset="-122"/>
                <a:cs typeface="Calibri" pitchFamily="34" charset="-120"/>
              </a:rPr>
              <a:t>Entity resolution</a:t>
            </a:r>
            <a:endParaRPr lang="en-US" sz="1500" dirty="0"/>
          </a:p>
        </p:txBody>
      </p:sp>
      <p:sp>
        <p:nvSpPr>
          <p:cNvPr id="13" name="Shape 10"/>
          <p:cNvSpPr/>
          <p:nvPr/>
        </p:nvSpPr>
        <p:spPr>
          <a:xfrm>
            <a:off x="777240" y="3383280"/>
            <a:ext cx="0" cy="256032"/>
          </a:xfrm>
          <a:prstGeom prst="line">
            <a:avLst/>
          </a:prstGeom>
          <a:noFill/>
          <a:ln w="19050">
            <a:solidFill>
              <a:srgbClr val="47789F"/>
            </a:solidFill>
            <a:prstDash val="solid"/>
          </a:ln>
        </p:spPr>
      </p:sp>
      <p:sp>
        <p:nvSpPr>
          <p:cNvPr id="14" name="Text 11"/>
          <p:cNvSpPr/>
          <p:nvPr/>
        </p:nvSpPr>
        <p:spPr>
          <a:xfrm>
            <a:off x="548640" y="3639312"/>
            <a:ext cx="457200" cy="457200"/>
          </a:xfrm>
          <a:prstGeom prst="ellipse">
            <a:avLst/>
          </a:prstGeom>
          <a:solidFill>
            <a:srgbClr val="255E99"/>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2"/>
          <p:cNvSpPr txBox="1"/>
          <p:nvPr/>
        </p:nvSpPr>
        <p:spPr>
          <a:xfrm>
            <a:off x="1143000" y="3694176"/>
            <a:ext cx="2743200" cy="365760"/>
          </a:xfrm>
          <a:prstGeom prst="rect">
            <a:avLst/>
          </a:prstGeom>
          <a:noFill/>
          <a:ln/>
        </p:spPr>
        <p:txBody>
          <a:bodyPr wrap="square" lIns="0" tIns="0" rIns="0" bIns="0" rtlCol="0" anchor="t"/>
          <a:lstStyle/>
          <a:p>
            <a:pPr indent="0" marL="0">
              <a:buNone/>
            </a:pPr>
            <a:r>
              <a:rPr lang="en-US" sz="1500" b="1" dirty="0">
                <a:solidFill>
                  <a:srgbClr val="102B4E"/>
                </a:solidFill>
                <a:latin typeface="Calibri" pitchFamily="34" charset="0"/>
                <a:ea typeface="Calibri" pitchFamily="34" charset="-122"/>
                <a:cs typeface="Calibri" pitchFamily="34" charset="-120"/>
              </a:rPr>
              <a:t>Time extraction</a:t>
            </a:r>
            <a:endParaRPr lang="en-US" sz="1500" dirty="0"/>
          </a:p>
        </p:txBody>
      </p:sp>
      <p:sp>
        <p:nvSpPr>
          <p:cNvPr id="16" name="Shape 13"/>
          <p:cNvSpPr/>
          <p:nvPr/>
        </p:nvSpPr>
        <p:spPr>
          <a:xfrm>
            <a:off x="777240" y="4096512"/>
            <a:ext cx="0" cy="256032"/>
          </a:xfrm>
          <a:prstGeom prst="line">
            <a:avLst/>
          </a:prstGeom>
          <a:noFill/>
          <a:ln w="19050">
            <a:solidFill>
              <a:srgbClr val="47789F"/>
            </a:solidFill>
            <a:prstDash val="solid"/>
          </a:ln>
        </p:spPr>
      </p:sp>
      <p:sp>
        <p:nvSpPr>
          <p:cNvPr id="17" name="Text 14"/>
          <p:cNvSpPr/>
          <p:nvPr/>
        </p:nvSpPr>
        <p:spPr>
          <a:xfrm>
            <a:off x="548640" y="4352544"/>
            <a:ext cx="457200" cy="457200"/>
          </a:xfrm>
          <a:prstGeom prst="ellipse">
            <a:avLst/>
          </a:prstGeom>
          <a:solidFill>
            <a:srgbClr val="255E99"/>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5"/>
          <p:cNvSpPr txBox="1"/>
          <p:nvPr/>
        </p:nvSpPr>
        <p:spPr>
          <a:xfrm>
            <a:off x="1143000" y="4407408"/>
            <a:ext cx="2743200" cy="365760"/>
          </a:xfrm>
          <a:prstGeom prst="rect">
            <a:avLst/>
          </a:prstGeom>
          <a:noFill/>
          <a:ln/>
        </p:spPr>
        <p:txBody>
          <a:bodyPr wrap="square" lIns="0" tIns="0" rIns="0" bIns="0" rtlCol="0" anchor="t"/>
          <a:lstStyle/>
          <a:p>
            <a:pPr indent="0" marL="0">
              <a:buNone/>
            </a:pPr>
            <a:r>
              <a:rPr lang="en-US" sz="1500" b="1" dirty="0">
                <a:solidFill>
                  <a:srgbClr val="102B4E"/>
                </a:solidFill>
                <a:latin typeface="Calibri" pitchFamily="34" charset="0"/>
                <a:ea typeface="Calibri" pitchFamily="34" charset="-122"/>
                <a:cs typeface="Calibri" pitchFamily="34" charset="-120"/>
              </a:rPr>
              <a:t>Schema validation</a:t>
            </a:r>
            <a:endParaRPr lang="en-US" sz="1500" dirty="0"/>
          </a:p>
        </p:txBody>
      </p:sp>
      <p:sp>
        <p:nvSpPr>
          <p:cNvPr id="19" name="Shape 16"/>
          <p:cNvSpPr/>
          <p:nvPr/>
        </p:nvSpPr>
        <p:spPr>
          <a:xfrm>
            <a:off x="777240" y="4809744"/>
            <a:ext cx="0" cy="256032"/>
          </a:xfrm>
          <a:prstGeom prst="line">
            <a:avLst/>
          </a:prstGeom>
          <a:noFill/>
          <a:ln w="19050">
            <a:solidFill>
              <a:srgbClr val="47789F"/>
            </a:solidFill>
            <a:prstDash val="solid"/>
          </a:ln>
        </p:spPr>
      </p:sp>
      <p:sp>
        <p:nvSpPr>
          <p:cNvPr id="20" name="Text 17"/>
          <p:cNvSpPr/>
          <p:nvPr/>
        </p:nvSpPr>
        <p:spPr>
          <a:xfrm>
            <a:off x="548640" y="5065776"/>
            <a:ext cx="457200" cy="457200"/>
          </a:xfrm>
          <a:prstGeom prst="ellipse">
            <a:avLst/>
          </a:prstGeom>
          <a:solidFill>
            <a:srgbClr val="102B4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1" name="Text 18"/>
          <p:cNvSpPr txBox="1"/>
          <p:nvPr/>
        </p:nvSpPr>
        <p:spPr>
          <a:xfrm>
            <a:off x="1143000" y="5120640"/>
            <a:ext cx="2743200" cy="365760"/>
          </a:xfrm>
          <a:prstGeom prst="rect">
            <a:avLst/>
          </a:prstGeom>
          <a:noFill/>
          <a:ln/>
        </p:spPr>
        <p:txBody>
          <a:bodyPr wrap="square" lIns="0" tIns="0" rIns="0" bIns="0" rtlCol="0" anchor="t"/>
          <a:lstStyle/>
          <a:p>
            <a:pPr indent="0" marL="0">
              <a:buNone/>
            </a:pPr>
            <a:r>
              <a:rPr lang="en-US" sz="1500" b="1" dirty="0">
                <a:solidFill>
                  <a:srgbClr val="102B4E"/>
                </a:solidFill>
                <a:latin typeface="Calibri" pitchFamily="34" charset="0"/>
                <a:ea typeface="Calibri" pitchFamily="34" charset="-122"/>
                <a:cs typeface="Calibri" pitchFamily="34" charset="-120"/>
              </a:rPr>
              <a:t>Human confirmation</a:t>
            </a:r>
            <a:endParaRPr lang="en-US" sz="1500" dirty="0"/>
          </a:p>
        </p:txBody>
      </p:sp>
      <p:sp>
        <p:nvSpPr>
          <p:cNvPr id="22" name="Text 19"/>
          <p:cNvSpPr/>
          <p:nvPr/>
        </p:nvSpPr>
        <p:spPr>
          <a:xfrm>
            <a:off x="1143000" y="5760720"/>
            <a:ext cx="2011680" cy="310896"/>
          </a:xfrm>
          <a:prstGeom prst="roundRect">
            <a:avLst/>
          </a:prstGeom>
          <a:solidFill>
            <a:srgbClr val="82B2D6"/>
          </a:solidFill>
          <a:ln/>
        </p:spPr>
        <p:txBody>
          <a:bodyPr wrap="square" lIns="0" tIns="76200" rIns="76200" bIns="0" rtlCol="0" anchor="ctr"/>
          <a:lstStyle/>
          <a:p>
            <a:pPr algn="ctr" indent="0" marL="0">
              <a:buNone/>
            </a:pPr>
            <a:r>
              <a:rPr lang="en-US" sz="1100" b="1" dirty="0">
                <a:solidFill>
                  <a:srgbClr val="102B4E"/>
                </a:solidFill>
                <a:latin typeface="Calibri" pitchFamily="34" charset="0"/>
                <a:ea typeface="Calibri" pitchFamily="34" charset="-122"/>
                <a:cs typeface="Calibri" pitchFamily="34" charset="-120"/>
              </a:rPr>
              <a:t>Gemini: step 2 only</a:t>
            </a:r>
            <a:endParaRPr lang="en-US" sz="1100" dirty="0"/>
          </a:p>
        </p:txBody>
      </p:sp>
      <p:sp>
        <p:nvSpPr>
          <p:cNvPr id="23" name="Shape 20"/>
          <p:cNvSpPr/>
          <p:nvPr/>
        </p:nvSpPr>
        <p:spPr>
          <a:xfrm>
            <a:off x="3977640" y="1463040"/>
            <a:ext cx="3246120" cy="4251960"/>
          </a:xfrm>
          <a:prstGeom prst="roundRect">
            <a:avLst>
              <a:gd name="adj" fmla="val 2254"/>
            </a:avLst>
          </a:prstGeom>
          <a:solidFill>
            <a:srgbClr val="102B4E"/>
          </a:solidFill>
          <a:ln/>
        </p:spPr>
      </p:sp>
      <p:sp>
        <p:nvSpPr>
          <p:cNvPr id="24" name="Text 21"/>
          <p:cNvSpPr txBox="1"/>
          <p:nvPr/>
        </p:nvSpPr>
        <p:spPr>
          <a:xfrm>
            <a:off x="4114800" y="1554480"/>
            <a:ext cx="3017520" cy="274320"/>
          </a:xfrm>
          <a:prstGeom prst="rect">
            <a:avLst/>
          </a:prstGeom>
          <a:noFill/>
          <a:ln/>
        </p:spPr>
        <p:txBody>
          <a:bodyPr wrap="square" lIns="0" tIns="0" rIns="0" bIns="0" rtlCol="0" anchor="t"/>
          <a:lstStyle/>
          <a:p>
            <a:pPr indent="0" marL="0">
              <a:buNone/>
            </a:pPr>
            <a:r>
              <a:rPr lang="en-US" sz="1100" dirty="0">
                <a:solidFill>
                  <a:srgbClr val="82B2D6"/>
                </a:solidFill>
                <a:latin typeface="Consolas" pitchFamily="34" charset="0"/>
                <a:ea typeface="Consolas" pitchFamily="34" charset="-122"/>
                <a:cs typeface="Consolas" pitchFamily="34" charset="-120"/>
              </a:rPr>
              <a:t>Observed output (live API)</a:t>
            </a:r>
            <a:endParaRPr lang="en-US" sz="1100" dirty="0"/>
          </a:p>
        </p:txBody>
      </p:sp>
      <p:sp>
        <p:nvSpPr>
          <p:cNvPr id="25" name="Text 22"/>
          <p:cNvSpPr txBox="1"/>
          <p:nvPr/>
        </p:nvSpPr>
        <p:spPr>
          <a:xfrm>
            <a:off x="4114800" y="1874520"/>
            <a:ext cx="3017520" cy="3749040"/>
          </a:xfrm>
          <a:prstGeom prst="rect">
            <a:avLst/>
          </a:prstGeom>
          <a:noFill/>
          <a:ln/>
        </p:spPr>
        <p:txBody>
          <a:bodyPr wrap="square" lIns="0" tIns="0" rIns="0" bIns="0"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“Amina cannot help</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until 6 PM”</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 clock 14:30</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"type": "member_unavailable",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"affectedEntityIds": ["P01"],</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"startMin": 870,   // 14:30</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"endMin": 1080,   // 18:00</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"confirmed": false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engine: gemini-3.5-flash-lite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assumption: start = scenario</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clock 14:30</a:t>
            </a:r>
            <a:endParaRPr lang="en-US" sz="1100" dirty="0"/>
          </a:p>
        </p:txBody>
      </p:sp>
      <p:pic>
        <p:nvPicPr>
          <p:cNvPr id="26" name="Image 0" descr="Disruption Studio natural-language panel showing an interpreted, unconfirmed event (real screenshot)">    </p:cNvPr>
          <p:cNvPicPr>
            <a:picLocks noChangeAspect="1"/>
          </p:cNvPicPr>
          <p:nvPr/>
        </p:nvPicPr>
        <p:blipFill>
          <a:blip r:embed="rId1"/>
          <a:stretch>
            <a:fillRect/>
          </a:stretch>
        </p:blipFill>
        <p:spPr>
          <a:xfrm>
            <a:off x="7452360" y="1463040"/>
            <a:ext cx="3214688" cy="4251960"/>
          </a:xfrm>
          <a:prstGeom prst="rect">
            <a:avLst/>
          </a:prstGeom>
        </p:spPr>
      </p:pic>
      <p:sp>
        <p:nvSpPr>
          <p:cNvPr id="27" name="Shape 23"/>
          <p:cNvSpPr/>
          <p:nvPr/>
        </p:nvSpPr>
        <p:spPr>
          <a:xfrm>
            <a:off x="7452360" y="1463040"/>
            <a:ext cx="3214688" cy="4251960"/>
          </a:xfrm>
          <a:prstGeom prst="rect">
            <a:avLst/>
          </a:prstGeom>
          <a:ln w="9525">
            <a:solidFill>
              <a:srgbClr val="D3DDE8"/>
            </a:solidFill>
            <a:prstDash val="solid"/>
          </a:ln>
        </p:spPr>
      </p:sp>
      <p:sp>
        <p:nvSpPr>
          <p:cNvPr id="28" name="Text 24"/>
          <p:cNvSpPr txBox="1"/>
          <p:nvPr/>
        </p:nvSpPr>
        <p:spPr>
          <a:xfrm>
            <a:off x="7452360" y="5760720"/>
            <a:ext cx="4114800" cy="365760"/>
          </a:xfrm>
          <a:prstGeom prst="rect">
            <a:avLst/>
          </a:prstGeom>
          <a:noFill/>
          <a:ln/>
        </p:spPr>
        <p:txBody>
          <a:bodyPr wrap="square" lIns="0" tIns="0" rIns="0" bIns="0" rtlCol="0" anchor="t"/>
          <a:lstStyle/>
          <a:p>
            <a:pPr indent="0" marL="0">
              <a:buNone/>
            </a:pPr>
            <a:r>
              <a:rPr lang="en-US" sz="1200" b="1" dirty="0">
                <a:solidFill>
                  <a:srgbClr val="255E99"/>
                </a:solidFill>
                <a:latin typeface="Calibri" pitchFamily="34" charset="0"/>
                <a:ea typeface="Calibri" pitchFamily="34" charset="-122"/>
                <a:cs typeface="Calibri" pitchFamily="34" charset="-120"/>
              </a:rPr>
              <a:t>Gemini interprets. It never authorizes or schedules.</a:t>
            </a:r>
            <a:endParaRPr lang="en-US" sz="1200" dirty="0"/>
          </a:p>
        </p:txBody>
      </p:sp>
      <p:sp>
        <p:nvSpPr>
          <p:cNvPr id="29"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backend/app/services/interpreter.py + rule_parser.py; live probe 28 Oct 2026; accuracy in TESTING.md (12-sentence sets).</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82B2D6"/>
                </a:solidFill>
                <a:latin typeface="Consolas" pitchFamily="34" charset="0"/>
                <a:ea typeface="Consolas" pitchFamily="34" charset="-122"/>
                <a:cs typeface="Consolas" pitchFamily="34" charset="-120"/>
              </a:rPr>
              <a:t>ACT III · THE PROTOTYPE · SCREEN 1 OF 7</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System launch</a:t>
            </a:r>
            <a:endParaRPr lang="en-US" sz="3200" dirty="0"/>
          </a:p>
        </p:txBody>
      </p:sp>
      <p:pic>
        <p:nvPicPr>
          <p:cNvPr id="5" name="Image 0" descr="DOMINO launch screen (real screenshot of the published prototype)">    </p:cNvPr>
          <p:cNvPicPr>
            <a:picLocks noChangeAspect="1"/>
          </p:cNvPicPr>
          <p:nvPr/>
        </p:nvPicPr>
        <p:blipFill>
          <a:blip r:embed="rId1"/>
          <a:stretch>
            <a:fillRect/>
          </a:stretch>
        </p:blipFill>
        <p:spPr>
          <a:xfrm>
            <a:off x="548640" y="1417320"/>
            <a:ext cx="6872886" cy="4617720"/>
          </a:xfrm>
          <a:prstGeom prst="rect">
            <a:avLst/>
          </a:prstGeom>
        </p:spPr>
      </p:pic>
      <p:sp>
        <p:nvSpPr>
          <p:cNvPr id="6" name="Shape 2"/>
          <p:cNvSpPr/>
          <p:nvPr/>
        </p:nvSpPr>
        <p:spPr>
          <a:xfrm>
            <a:off x="548640" y="1417320"/>
            <a:ext cx="6872886" cy="4617720"/>
          </a:xfrm>
          <a:prstGeom prst="rect">
            <a:avLst/>
          </a:prstGeom>
          <a:ln w="9525">
            <a:solidFill>
              <a:srgbClr val="D3DDE8"/>
            </a:solidFill>
            <a:prstDash val="solid"/>
          </a:ln>
        </p:spPr>
      </p:sp>
      <p:sp>
        <p:nvSpPr>
          <p:cNvPr id="7" name="Text 3"/>
          <p:cNvSpPr/>
          <p:nvPr/>
        </p:nvSpPr>
        <p:spPr>
          <a:xfrm>
            <a:off x="1080481" y="2647188"/>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4"/>
          <p:cNvSpPr/>
          <p:nvPr/>
        </p:nvSpPr>
        <p:spPr>
          <a:xfrm>
            <a:off x="5891500" y="3339846"/>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5"/>
          <p:cNvSpPr/>
          <p:nvPr/>
        </p:nvSpPr>
        <p:spPr>
          <a:xfrm>
            <a:off x="702472" y="4217213"/>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0" name="Text 6"/>
          <p:cNvSpPr/>
          <p:nvPr/>
        </p:nvSpPr>
        <p:spPr>
          <a:xfrm>
            <a:off x="4688745" y="1469669"/>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7"/>
          <p:cNvSpPr/>
          <p:nvPr/>
        </p:nvSpPr>
        <p:spPr>
          <a:xfrm>
            <a:off x="7818120" y="1554480"/>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8"/>
          <p:cNvSpPr txBox="1"/>
          <p:nvPr/>
        </p:nvSpPr>
        <p:spPr>
          <a:xfrm>
            <a:off x="8275320" y="1572768"/>
            <a:ext cx="33832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Central proposition; project identity and the team credited under the title</a:t>
            </a:r>
            <a:endParaRPr lang="en-US" sz="1300" dirty="0"/>
          </a:p>
        </p:txBody>
      </p:sp>
      <p:sp>
        <p:nvSpPr>
          <p:cNvPr id="13" name="Text 9"/>
          <p:cNvSpPr/>
          <p:nvPr/>
        </p:nvSpPr>
        <p:spPr>
          <a:xfrm>
            <a:off x="7818120" y="2423160"/>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8275320" y="2441448"/>
            <a:ext cx="33832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Interactive constellation: real entities of the selected household</a:t>
            </a:r>
            <a:endParaRPr lang="en-US" sz="1300" dirty="0"/>
          </a:p>
        </p:txBody>
      </p:sp>
      <p:sp>
        <p:nvSpPr>
          <p:cNvPr id="15" name="Text 11"/>
          <p:cNvSpPr/>
          <p:nvPr/>
        </p:nvSpPr>
        <p:spPr>
          <a:xfrm>
            <a:off x="7818120" y="3291840"/>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2"/>
          <p:cNvSpPr txBox="1"/>
          <p:nvPr/>
        </p:nvSpPr>
        <p:spPr>
          <a:xfrm>
            <a:off x="8275320" y="3310128"/>
            <a:ext cx="33832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Navigation across the seven screens</a:t>
            </a:r>
            <a:endParaRPr lang="en-US" sz="1300" dirty="0"/>
          </a:p>
        </p:txBody>
      </p:sp>
      <p:sp>
        <p:nvSpPr>
          <p:cNvPr id="17" name="Text 13"/>
          <p:cNvSpPr/>
          <p:nvPr/>
        </p:nvSpPr>
        <p:spPr>
          <a:xfrm>
            <a:off x="7818120" y="4160520"/>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4"/>
          <p:cNvSpPr txBox="1"/>
          <p:nvPr/>
        </p:nvSpPr>
        <p:spPr>
          <a:xfrm>
            <a:off x="8275320" y="4178808"/>
            <a:ext cx="33832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Live status: API online · OR-Tools CP-SAT · language engines</a:t>
            </a:r>
            <a:endParaRPr lang="en-US" sz="1300" dirty="0"/>
          </a:p>
        </p:txBody>
      </p:sp>
      <p:sp>
        <p:nvSpPr>
          <p:cNvPr id="19" name="Text 15"/>
          <p:cNvSpPr txBox="1"/>
          <p:nvPr/>
        </p:nvSpPr>
        <p:spPr>
          <a:xfrm>
            <a:off x="7818120" y="5120640"/>
            <a:ext cx="3840480" cy="731520"/>
          </a:xfrm>
          <a:prstGeom prst="rect">
            <a:avLst/>
          </a:prstGeom>
          <a:noFill/>
          <a:ln/>
        </p:spPr>
        <p:txBody>
          <a:bodyPr wrap="square" lIns="0" tIns="0" rIns="0" bIns="0" rtlCol="0" anchor="t"/>
          <a:lstStyle/>
          <a:p>
            <a:pPr indent="0" marL="0">
              <a:buNone/>
            </a:pPr>
            <a:r>
              <a:rPr lang="en-US" sz="1200" dirty="0">
                <a:solidFill>
                  <a:srgbClr val="82B2D6"/>
                </a:solidFill>
                <a:latin typeface="Calibri" pitchFamily="34" charset="0"/>
                <a:ea typeface="Calibri" pitchFamily="34" charset="-122"/>
                <a:cs typeface="Calibri" pitchFamily="34" charset="-120"/>
              </a:rPr>
              <a:t>Below the hero: three fictional households and Configure Household (editing with live validation).</a:t>
            </a:r>
            <a:endParaRPr lang="en-US" sz="1200" dirty="0"/>
          </a:p>
        </p:txBody>
      </p:sp>
      <p:sp>
        <p:nvSpPr>
          <p:cNvPr id="20"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82B2D6"/>
                </a:solidFill>
                <a:latin typeface="Calibri" pitchFamily="34" charset="0"/>
                <a:ea typeface="Calibri" pitchFamily="34" charset="-122"/>
                <a:cs typeface="Calibri" pitchFamily="34" charset="-120"/>
              </a:rPr>
              <a:t>Real screenshot of https://maymourad.github.io/DOMINO/ captured 28 Oct 2026. Status chips show the state at capture time only.</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2B2D6"/>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III · THE PROTOTYPE · SCREEN 2 OF 7</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Family Network</a:t>
            </a:r>
            <a:endParaRPr lang="en-US" sz="3200" dirty="0"/>
          </a:p>
        </p:txBody>
      </p:sp>
      <p:pic>
        <p:nvPicPr>
          <p:cNvPr id="5" name="Image 0" descr="Family Network graph of the Amina household (real screenshot)">    </p:cNvPr>
          <p:cNvPicPr>
            <a:picLocks noChangeAspect="1"/>
          </p:cNvPicPr>
          <p:nvPr/>
        </p:nvPicPr>
        <p:blipFill>
          <a:blip r:embed="rId1"/>
          <a:stretch>
            <a:fillRect/>
          </a:stretch>
        </p:blipFill>
        <p:spPr>
          <a:xfrm>
            <a:off x="548640" y="1417320"/>
            <a:ext cx="5760720" cy="2480310"/>
          </a:xfrm>
          <a:prstGeom prst="rect">
            <a:avLst/>
          </a:prstGeom>
        </p:spPr>
      </p:pic>
      <p:sp>
        <p:nvSpPr>
          <p:cNvPr id="6" name="Shape 2"/>
          <p:cNvSpPr/>
          <p:nvPr/>
        </p:nvSpPr>
        <p:spPr>
          <a:xfrm>
            <a:off x="548640" y="1417320"/>
            <a:ext cx="5760720" cy="2480310"/>
          </a:xfrm>
          <a:prstGeom prst="rect">
            <a:avLst/>
          </a:prstGeom>
          <a:ln w="9525">
            <a:solidFill>
              <a:srgbClr val="D3DDE8"/>
            </a:solidFill>
            <a:prstDash val="solid"/>
          </a:ln>
        </p:spPr>
      </p:sp>
      <p:pic>
        <p:nvPicPr>
          <p:cNvPr id="7" name="Image 1" descr="Inspector editing the School pickup task (real screenshot)">    </p:cNvPr>
          <p:cNvPicPr>
            <a:picLocks noChangeAspect="1"/>
          </p:cNvPicPr>
          <p:nvPr/>
        </p:nvPicPr>
        <p:blipFill>
          <a:blip r:embed="rId2"/>
          <a:stretch>
            <a:fillRect/>
          </a:stretch>
        </p:blipFill>
        <p:spPr>
          <a:xfrm>
            <a:off x="6492240" y="1417320"/>
            <a:ext cx="2103120" cy="3359150"/>
          </a:xfrm>
          <a:prstGeom prst="rect">
            <a:avLst/>
          </a:prstGeom>
        </p:spPr>
      </p:pic>
      <p:sp>
        <p:nvSpPr>
          <p:cNvPr id="8" name="Shape 3"/>
          <p:cNvSpPr/>
          <p:nvPr/>
        </p:nvSpPr>
        <p:spPr>
          <a:xfrm>
            <a:off x="6492240" y="1417320"/>
            <a:ext cx="2103120" cy="3359150"/>
          </a:xfrm>
          <a:prstGeom prst="rect">
            <a:avLst/>
          </a:prstGeom>
          <a:ln w="9525">
            <a:solidFill>
              <a:srgbClr val="D3DDE8"/>
            </a:solidFill>
            <a:prstDash val="solid"/>
          </a:ln>
        </p:spPr>
      </p:sp>
      <p:sp>
        <p:nvSpPr>
          <p:cNvPr id="9" name="Text 4"/>
          <p:cNvSpPr/>
          <p:nvPr/>
        </p:nvSpPr>
        <p:spPr>
          <a:xfrm>
            <a:off x="8732520" y="1481328"/>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5"/>
          <p:cNvSpPr txBox="1"/>
          <p:nvPr/>
        </p:nvSpPr>
        <p:spPr>
          <a:xfrm>
            <a:off x="9144000" y="1481328"/>
            <a:ext cx="2514600" cy="68580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Custom typed nodes: people, tasks, resources, milestone</a:t>
            </a:r>
            <a:endParaRPr lang="en-US" sz="1300" dirty="0"/>
          </a:p>
        </p:txBody>
      </p:sp>
      <p:sp>
        <p:nvSpPr>
          <p:cNvPr id="11" name="Text 6"/>
          <p:cNvSpPr/>
          <p:nvPr/>
        </p:nvSpPr>
        <p:spPr>
          <a:xfrm>
            <a:off x="8732520" y="2231136"/>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7"/>
          <p:cNvSpPr txBox="1"/>
          <p:nvPr/>
        </p:nvSpPr>
        <p:spPr>
          <a:xfrm>
            <a:off x="9144000" y="2231136"/>
            <a:ext cx="2514600" cy="68580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Typed edges: assigned to, uses, enables, depends on, serves</a:t>
            </a:r>
            <a:endParaRPr lang="en-US" sz="1300" dirty="0"/>
          </a:p>
        </p:txBody>
      </p:sp>
      <p:sp>
        <p:nvSpPr>
          <p:cNvPr id="13" name="Text 8"/>
          <p:cNvSpPr/>
          <p:nvPr/>
        </p:nvSpPr>
        <p:spPr>
          <a:xfrm>
            <a:off x="8732520" y="2980944"/>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9"/>
          <p:cNvSpPr txBox="1"/>
          <p:nvPr/>
        </p:nvSpPr>
        <p:spPr>
          <a:xfrm>
            <a:off x="9144000" y="2980944"/>
            <a:ext cx="2514600" cy="68580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Inspector edits tier, window, skills, permissions, prerequisites</a:t>
            </a:r>
            <a:endParaRPr lang="en-US" sz="1300" dirty="0"/>
          </a:p>
        </p:txBody>
      </p:sp>
      <p:sp>
        <p:nvSpPr>
          <p:cNvPr id="15" name="Text 10"/>
          <p:cNvSpPr/>
          <p:nvPr/>
        </p:nvSpPr>
        <p:spPr>
          <a:xfrm>
            <a:off x="8732520" y="3730752"/>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1"/>
          <p:cNvSpPr txBox="1"/>
          <p:nvPr/>
        </p:nvSpPr>
        <p:spPr>
          <a:xfrm>
            <a:off x="9144000" y="3730752"/>
            <a:ext cx="2514600" cy="68580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Editing bumps the household version and invalidates old plans</a:t>
            </a:r>
            <a:endParaRPr lang="en-US" sz="1300" dirty="0"/>
          </a:p>
        </p:txBody>
      </p:sp>
      <p:sp>
        <p:nvSpPr>
          <p:cNvPr id="17" name="Text 12"/>
          <p:cNvSpPr/>
          <p:nvPr/>
        </p:nvSpPr>
        <p:spPr>
          <a:xfrm>
            <a:off x="8732520" y="4480560"/>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3"/>
          <p:cNvSpPr txBox="1"/>
          <p:nvPr/>
        </p:nvSpPr>
        <p:spPr>
          <a:xfrm>
            <a:off x="9144000" y="4480560"/>
            <a:ext cx="2514600" cy="68580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Backend validation blocks invalid households</a:t>
            </a:r>
            <a:endParaRPr lang="en-US" sz="1300" dirty="0"/>
          </a:p>
        </p:txBody>
      </p:sp>
      <p:sp>
        <p:nvSpPr>
          <p:cNvPr id="19" name="Shape 14"/>
          <p:cNvSpPr/>
          <p:nvPr/>
        </p:nvSpPr>
        <p:spPr>
          <a:xfrm>
            <a:off x="548640" y="4160520"/>
            <a:ext cx="5760720" cy="1097280"/>
          </a:xfrm>
          <a:prstGeom prst="roundRect">
            <a:avLst>
              <a:gd name="adj" fmla="val 6667"/>
            </a:avLst>
          </a:prstGeom>
          <a:solidFill>
            <a:srgbClr val="FFFFFF"/>
          </a:solidFill>
          <a:ln w="12700">
            <a:solidFill>
              <a:srgbClr val="D3DDE8"/>
            </a:solidFill>
            <a:prstDash val="solid"/>
          </a:ln>
        </p:spPr>
      </p:sp>
      <p:sp>
        <p:nvSpPr>
          <p:cNvPr id="20" name="Text 15"/>
          <p:cNvSpPr txBox="1"/>
          <p:nvPr/>
        </p:nvSpPr>
        <p:spPr>
          <a:xfrm>
            <a:off x="731520" y="4251960"/>
            <a:ext cx="5440680" cy="960120"/>
          </a:xfrm>
          <a:prstGeom prst="rect">
            <a:avLst/>
          </a:prstGeom>
          <a:noFill/>
          <a:ln/>
        </p:spPr>
        <p:txBody>
          <a:bodyPr wrap="square" lIns="0" tIns="0" rIns="0" bIns="0" rtlCol="0" anchor="t"/>
          <a:lstStyle/>
          <a:p>
            <a:pPr indent="0" marL="0">
              <a:buNone/>
            </a:pPr>
            <a:r>
              <a:rPr lang="en-US" sz="1300" dirty="0">
                <a:solidFill>
                  <a:srgbClr val="102B4E"/>
                </a:solidFill>
                <a:latin typeface="Calibri" pitchFamily="34" charset="0"/>
                <a:ea typeface="Calibri" pitchFamily="34" charset="-122"/>
                <a:cs typeface="Calibri" pitchFamily="34" charset="-120"/>
              </a:rPr>
              <a:t>Toolbar: add task · add member · add resource · remove · undo · reset to the validated baseline. Select School pickup (T01) to edit it; the household is re-validated by the backend after every edit.</a:t>
            </a:r>
            <a:endParaRPr lang="en-US" sz="1300" dirty="0"/>
          </a:p>
        </p:txBody>
      </p:sp>
      <p:sp>
        <p:nvSpPr>
          <p:cNvPr id="21"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Real screenshot of the published prototype, 28 Oct 2026. Amina household, School pickup (T01) selected.</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III · THE PROTOTYPE · SCREEN 3 OF 7</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Disruption Injection Studio</a:t>
            </a:r>
            <a:endParaRPr lang="en-US" sz="3200" dirty="0"/>
          </a:p>
        </p:txBody>
      </p:sp>
      <p:pic>
        <p:nvPicPr>
          <p:cNvPr id="5" name="Image 0" descr="Scenario presets derived from the household (real screenshot)">    </p:cNvPr>
          <p:cNvPicPr>
            <a:picLocks noChangeAspect="1"/>
          </p:cNvPicPr>
          <p:nvPr/>
        </p:nvPicPr>
        <p:blipFill>
          <a:blip r:embed="rId1"/>
          <a:stretch>
            <a:fillRect/>
          </a:stretch>
        </p:blipFill>
        <p:spPr>
          <a:xfrm>
            <a:off x="548640" y="1417320"/>
            <a:ext cx="2650597" cy="3611880"/>
          </a:xfrm>
          <a:prstGeom prst="rect">
            <a:avLst/>
          </a:prstGeom>
        </p:spPr>
      </p:pic>
      <p:sp>
        <p:nvSpPr>
          <p:cNvPr id="6" name="Shape 2"/>
          <p:cNvSpPr/>
          <p:nvPr/>
        </p:nvSpPr>
        <p:spPr>
          <a:xfrm>
            <a:off x="548640" y="1417320"/>
            <a:ext cx="2650597" cy="3611880"/>
          </a:xfrm>
          <a:prstGeom prst="rect">
            <a:avLst/>
          </a:prstGeom>
          <a:ln w="9525">
            <a:solidFill>
              <a:srgbClr val="D3DDE8"/>
            </a:solidFill>
            <a:prstDash val="solid"/>
          </a:ln>
        </p:spPr>
      </p:sp>
      <p:pic>
        <p:nvPicPr>
          <p:cNvPr id="7" name="Image 1" descr="Natural-language panel with a reviewed proposal (real screenshot)">    </p:cNvPr>
          <p:cNvPicPr>
            <a:picLocks noChangeAspect="1"/>
          </p:cNvPicPr>
          <p:nvPr/>
        </p:nvPicPr>
        <p:blipFill>
          <a:blip r:embed="rId2"/>
          <a:stretch>
            <a:fillRect/>
          </a:stretch>
        </p:blipFill>
        <p:spPr>
          <a:xfrm>
            <a:off x="3382117" y="1417320"/>
            <a:ext cx="2651760" cy="3005328"/>
          </a:xfrm>
          <a:prstGeom prst="rect">
            <a:avLst/>
          </a:prstGeom>
        </p:spPr>
      </p:pic>
      <p:sp>
        <p:nvSpPr>
          <p:cNvPr id="8" name="Shape 3"/>
          <p:cNvSpPr/>
          <p:nvPr/>
        </p:nvSpPr>
        <p:spPr>
          <a:xfrm>
            <a:off x="3382117" y="1417320"/>
            <a:ext cx="2651760" cy="3005328"/>
          </a:xfrm>
          <a:prstGeom prst="rect">
            <a:avLst/>
          </a:prstGeom>
          <a:ln w="9525">
            <a:solidFill>
              <a:srgbClr val="D3DDE8"/>
            </a:solidFill>
            <a:prstDash val="solid"/>
          </a:ln>
        </p:spPr>
      </p:sp>
      <p:pic>
        <p:nvPicPr>
          <p:cNvPr id="9" name="Image 2" descr="Scenario card: one confirmed event, Run scenario enabled (real screenshot)">    </p:cNvPr>
          <p:cNvPicPr>
            <a:picLocks noChangeAspect="1"/>
          </p:cNvPicPr>
          <p:nvPr/>
        </p:nvPicPr>
        <p:blipFill>
          <a:blip r:embed="rId3"/>
          <a:stretch>
            <a:fillRect/>
          </a:stretch>
        </p:blipFill>
        <p:spPr>
          <a:xfrm>
            <a:off x="548640" y="5212080"/>
            <a:ext cx="5852160" cy="787400"/>
          </a:xfrm>
          <a:prstGeom prst="rect">
            <a:avLst/>
          </a:prstGeom>
        </p:spPr>
      </p:pic>
      <p:sp>
        <p:nvSpPr>
          <p:cNvPr id="10" name="Shape 4"/>
          <p:cNvSpPr/>
          <p:nvPr/>
        </p:nvSpPr>
        <p:spPr>
          <a:xfrm>
            <a:off x="548640" y="5212080"/>
            <a:ext cx="5852160" cy="787400"/>
          </a:xfrm>
          <a:prstGeom prst="rect">
            <a:avLst/>
          </a:prstGeom>
          <a:ln w="9525">
            <a:solidFill>
              <a:srgbClr val="D3DDE8"/>
            </a:solidFill>
            <a:prstDash val="solid"/>
          </a:ln>
        </p:spPr>
      </p:sp>
      <p:sp>
        <p:nvSpPr>
          <p:cNvPr id="11" name="Text 5"/>
          <p:cNvSpPr/>
          <p:nvPr/>
        </p:nvSpPr>
        <p:spPr>
          <a:xfrm>
            <a:off x="6766560" y="1508760"/>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6"/>
          <p:cNvSpPr txBox="1"/>
          <p:nvPr/>
        </p:nvSpPr>
        <p:spPr>
          <a:xfrm>
            <a:off x="7223760" y="1508760"/>
            <a:ext cx="4389120" cy="731520"/>
          </a:xfrm>
          <a:prstGeom prst="rect">
            <a:avLst/>
          </a:prstGeom>
          <a:noFill/>
          <a:ln/>
        </p:spPr>
        <p:txBody>
          <a:bodyPr wrap="square" lIns="0" tIns="0" rIns="0" bIns="0" rtlCol="0" anchor="t"/>
          <a:lstStyle/>
          <a:p>
            <a:pPr indent="0" marL="0">
              <a:buNone/>
            </a:pPr>
            <a:r>
              <a:rPr lang="en-US" sz="1400" dirty="0">
                <a:solidFill>
                  <a:srgbClr val="1B2533"/>
                </a:solidFill>
                <a:latin typeface="Calibri" pitchFamily="34" charset="0"/>
                <a:ea typeface="Calibri" pitchFamily="34" charset="-122"/>
                <a:cs typeface="Calibri" pitchFamily="34" charset="-120"/>
              </a:rPr>
              <a:t>Presets are derived from the household itself</a:t>
            </a:r>
            <a:endParaRPr lang="en-US" sz="1400" dirty="0"/>
          </a:p>
        </p:txBody>
      </p:sp>
      <p:sp>
        <p:nvSpPr>
          <p:cNvPr id="13" name="Text 7"/>
          <p:cNvSpPr/>
          <p:nvPr/>
        </p:nvSpPr>
        <p:spPr>
          <a:xfrm>
            <a:off x="6766560" y="2377440"/>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8"/>
          <p:cNvSpPr txBox="1"/>
          <p:nvPr/>
        </p:nvSpPr>
        <p:spPr>
          <a:xfrm>
            <a:off x="7223760" y="2377440"/>
            <a:ext cx="4389120" cy="731520"/>
          </a:xfrm>
          <a:prstGeom prst="rect">
            <a:avLst/>
          </a:prstGeom>
          <a:noFill/>
          <a:ln/>
        </p:spPr>
        <p:txBody>
          <a:bodyPr wrap="square" lIns="0" tIns="0" rIns="0" bIns="0" rtlCol="0" anchor="t"/>
          <a:lstStyle/>
          <a:p>
            <a:pPr indent="0" marL="0">
              <a:buNone/>
            </a:pPr>
            <a:r>
              <a:rPr lang="en-US" sz="1400" dirty="0">
                <a:solidFill>
                  <a:srgbClr val="1B2533"/>
                </a:solidFill>
                <a:latin typeface="Calibri" pitchFamily="34" charset="0"/>
                <a:ea typeface="Calibri" pitchFamily="34" charset="-122"/>
                <a:cs typeface="Calibri" pitchFamily="34" charset="-120"/>
              </a:rPr>
              <a:t>Manual form works with no AI at all</a:t>
            </a:r>
            <a:endParaRPr lang="en-US" sz="1400" dirty="0"/>
          </a:p>
        </p:txBody>
      </p:sp>
      <p:sp>
        <p:nvSpPr>
          <p:cNvPr id="15" name="Text 9"/>
          <p:cNvSpPr/>
          <p:nvPr/>
        </p:nvSpPr>
        <p:spPr>
          <a:xfrm>
            <a:off x="6766560" y="3246120"/>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0"/>
          <p:cNvSpPr txBox="1"/>
          <p:nvPr/>
        </p:nvSpPr>
        <p:spPr>
          <a:xfrm>
            <a:off x="7223760" y="3246120"/>
            <a:ext cx="4389120" cy="731520"/>
          </a:xfrm>
          <a:prstGeom prst="rect">
            <a:avLst/>
          </a:prstGeom>
          <a:noFill/>
          <a:ln/>
        </p:spPr>
        <p:txBody>
          <a:bodyPr wrap="square" lIns="0" tIns="0" rIns="0" bIns="0" rtlCol="0" anchor="t"/>
          <a:lstStyle/>
          <a:p>
            <a:pPr indent="0" marL="0">
              <a:buNone/>
            </a:pPr>
            <a:r>
              <a:rPr lang="en-US" sz="1400" dirty="0">
                <a:solidFill>
                  <a:srgbClr val="1B2533"/>
                </a:solidFill>
                <a:latin typeface="Calibri" pitchFamily="34" charset="0"/>
                <a:ea typeface="Calibri" pitchFamily="34" charset="-122"/>
                <a:cs typeface="Calibri" pitchFamily="34" charset="-120"/>
              </a:rPr>
              <a:t>Interpretation → review → confirm: Gemini or the built-in parser</a:t>
            </a:r>
            <a:endParaRPr lang="en-US" sz="1400" dirty="0"/>
          </a:p>
        </p:txBody>
      </p:sp>
      <p:sp>
        <p:nvSpPr>
          <p:cNvPr id="17" name="Text 11"/>
          <p:cNvSpPr/>
          <p:nvPr/>
        </p:nvSpPr>
        <p:spPr>
          <a:xfrm>
            <a:off x="6766560" y="4114800"/>
            <a:ext cx="310896" cy="310896"/>
          </a:xfrm>
          <a:prstGeom prst="ellipse">
            <a:avLst/>
          </a:prstGeom>
          <a:solidFill>
            <a:srgbClr val="255E9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2"/>
          <p:cNvSpPr txBox="1"/>
          <p:nvPr/>
        </p:nvSpPr>
        <p:spPr>
          <a:xfrm>
            <a:off x="7223760" y="4114800"/>
            <a:ext cx="4389120" cy="731520"/>
          </a:xfrm>
          <a:prstGeom prst="rect">
            <a:avLst/>
          </a:prstGeom>
          <a:noFill/>
          <a:ln/>
        </p:spPr>
        <p:txBody>
          <a:bodyPr wrap="square" lIns="0" tIns="0" rIns="0" bIns="0" rtlCol="0" anchor="t"/>
          <a:lstStyle/>
          <a:p>
            <a:pPr indent="0" marL="0">
              <a:buNone/>
            </a:pPr>
            <a:r>
              <a:rPr lang="en-US" sz="1400" dirty="0">
                <a:solidFill>
                  <a:srgbClr val="1B2533"/>
                </a:solidFill>
                <a:latin typeface="Calibri" pitchFamily="34" charset="0"/>
                <a:ea typeface="Calibri" pitchFamily="34" charset="-122"/>
                <a:cs typeface="Calibri" pitchFamily="34" charset="-120"/>
              </a:rPr>
              <a:t>Run is disabled until every event is confirmed</a:t>
            </a:r>
            <a:endParaRPr lang="en-US" sz="1400" dirty="0"/>
          </a:p>
        </p:txBody>
      </p:sp>
      <p:sp>
        <p:nvSpPr>
          <p:cNvPr id="19" name="Shape 13"/>
          <p:cNvSpPr/>
          <p:nvPr/>
        </p:nvSpPr>
        <p:spPr>
          <a:xfrm>
            <a:off x="6766560" y="5074920"/>
            <a:ext cx="4846320" cy="914400"/>
          </a:xfrm>
          <a:prstGeom prst="roundRect">
            <a:avLst>
              <a:gd name="adj" fmla="val 8000"/>
            </a:avLst>
          </a:prstGeom>
          <a:solidFill>
            <a:srgbClr val="102B4E"/>
          </a:solidFill>
          <a:ln/>
        </p:spPr>
      </p:sp>
      <p:sp>
        <p:nvSpPr>
          <p:cNvPr id="20" name="Text 14"/>
          <p:cNvSpPr txBox="1"/>
          <p:nvPr/>
        </p:nvSpPr>
        <p:spPr>
          <a:xfrm>
            <a:off x="6949440" y="5166360"/>
            <a:ext cx="4480560"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Why confirm first? A mistaken interpretation should never silently become a computed plan.</a:t>
            </a:r>
            <a:endParaRPr lang="en-US" sz="1400" dirty="0"/>
          </a:p>
        </p:txBody>
      </p:sp>
      <p:sp>
        <p:nvSpPr>
          <p:cNvPr id="21"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Real screenshots of the published prototype, 28 Oct 2026.</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82B2D6"/>
                </a:solidFill>
                <a:latin typeface="Consolas" pitchFamily="34" charset="0"/>
                <a:ea typeface="Consolas" pitchFamily="34" charset="-122"/>
                <a:cs typeface="Consolas" pitchFamily="34" charset="-120"/>
              </a:rPr>
              <a:t>ACT III · THE PROTOTYPE · SCREEN 4 OF 7</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Cascade Laboratory</a:t>
            </a:r>
            <a:endParaRPr lang="en-US" sz="3200" dirty="0"/>
          </a:p>
        </p:txBody>
      </p:sp>
      <p:pic>
        <p:nvPicPr>
          <p:cNvPr id="5" name="Image 0" descr="Cascade Laboratory after the Amina disruption, with causal paths (real screenshot)">    </p:cNvPr>
          <p:cNvPicPr>
            <a:picLocks noChangeAspect="1"/>
          </p:cNvPicPr>
          <p:nvPr/>
        </p:nvPicPr>
        <p:blipFill>
          <a:blip r:embed="rId1"/>
          <a:stretch>
            <a:fillRect/>
          </a:stretch>
        </p:blipFill>
        <p:spPr>
          <a:xfrm>
            <a:off x="548640" y="1417320"/>
            <a:ext cx="7337398" cy="4617720"/>
          </a:xfrm>
          <a:prstGeom prst="rect">
            <a:avLst/>
          </a:prstGeom>
        </p:spPr>
      </p:pic>
      <p:sp>
        <p:nvSpPr>
          <p:cNvPr id="6" name="Shape 2"/>
          <p:cNvSpPr/>
          <p:nvPr/>
        </p:nvSpPr>
        <p:spPr>
          <a:xfrm>
            <a:off x="548640" y="1417320"/>
            <a:ext cx="7337398" cy="4617720"/>
          </a:xfrm>
          <a:prstGeom prst="rect">
            <a:avLst/>
          </a:prstGeom>
          <a:ln w="9525">
            <a:solidFill>
              <a:srgbClr val="D3DDE8"/>
            </a:solidFill>
            <a:prstDash val="solid"/>
          </a:ln>
        </p:spPr>
      </p:sp>
      <p:sp>
        <p:nvSpPr>
          <p:cNvPr id="7" name="Text 3"/>
          <p:cNvSpPr txBox="1"/>
          <p:nvPr/>
        </p:nvSpPr>
        <p:spPr>
          <a:xfrm>
            <a:off x="9098280" y="1417320"/>
            <a:ext cx="2468880" cy="777240"/>
          </a:xfrm>
          <a:prstGeom prst="rect">
            <a:avLst/>
          </a:prstGeom>
          <a:noFill/>
          <a:ln/>
        </p:spPr>
        <p:txBody>
          <a:bodyPr wrap="square" lIns="0" tIns="0" rIns="0" bIns="0" rtlCol="0" anchor="t"/>
          <a:lstStyle/>
          <a:p>
            <a:pPr indent="0" marL="0">
              <a:buNone/>
            </a:pPr>
            <a:r>
              <a:rPr lang="en-US" sz="4000" b="1" dirty="0">
                <a:solidFill>
                  <a:srgbClr val="E08A8E"/>
                </a:solidFill>
                <a:latin typeface="Calibri" pitchFamily="34" charset="0"/>
                <a:ea typeface="Calibri" pitchFamily="34" charset="-122"/>
                <a:cs typeface="Calibri" pitchFamily="34" charset="-120"/>
              </a:rPr>
              <a:t>4</a:t>
            </a:r>
            <a:endParaRPr lang="en-US" sz="4000" dirty="0"/>
          </a:p>
        </p:txBody>
      </p:sp>
      <p:sp>
        <p:nvSpPr>
          <p:cNvPr id="8" name="Text 4"/>
          <p:cNvSpPr txBox="1"/>
          <p:nvPr/>
        </p:nvSpPr>
        <p:spPr>
          <a:xfrm>
            <a:off x="9098280" y="1984248"/>
            <a:ext cx="2468880" cy="548640"/>
          </a:xfrm>
          <a:prstGeom prst="rect">
            <a:avLst/>
          </a:prstGeom>
          <a:noFill/>
          <a:ln/>
        </p:spPr>
        <p:txBody>
          <a:bodyPr wrap="square" lIns="0" tIns="0" rIns="0" bIns="0" rtlCol="0" anchor="t"/>
          <a:lstStyle/>
          <a:p>
            <a:pPr indent="0" marL="0">
              <a:buNone/>
            </a:pPr>
            <a:r>
              <a:rPr lang="en-US" sz="1200" dirty="0">
                <a:solidFill>
                  <a:srgbClr val="82B2D6"/>
                </a:solidFill>
                <a:latin typeface="Calibri" pitchFamily="34" charset="0"/>
                <a:ea typeface="Calibri" pitchFamily="34" charset="-122"/>
                <a:cs typeface="Calibri" pitchFamily="34" charset="-120"/>
              </a:rPr>
              <a:t>directly disrupted</a:t>
            </a:r>
            <a:endParaRPr lang="en-US" sz="1200" dirty="0"/>
          </a:p>
          <a:p>
            <a:pPr indent="0" marL="0">
              <a:buNone/>
            </a:pPr>
            <a:r>
              <a:rPr lang="en-US" sz="1200" dirty="0">
                <a:solidFill>
                  <a:srgbClr val="82B2D6"/>
                </a:solidFill>
                <a:latin typeface="Calibri" pitchFamily="34" charset="0"/>
                <a:ea typeface="Calibri" pitchFamily="34" charset="-122"/>
                <a:cs typeface="Calibri" pitchFamily="34" charset="-120"/>
              </a:rPr>
              <a:t>(Amina + 3 tasks)</a:t>
            </a:r>
            <a:endParaRPr lang="en-US" sz="1200" dirty="0"/>
          </a:p>
        </p:txBody>
      </p:sp>
      <p:sp>
        <p:nvSpPr>
          <p:cNvPr id="9" name="Text 5"/>
          <p:cNvSpPr txBox="1"/>
          <p:nvPr/>
        </p:nvSpPr>
        <p:spPr>
          <a:xfrm>
            <a:off x="9098280" y="2743200"/>
            <a:ext cx="2468880" cy="777240"/>
          </a:xfrm>
          <a:prstGeom prst="rect">
            <a:avLst/>
          </a:prstGeom>
          <a:noFill/>
          <a:ln/>
        </p:spPr>
        <p:txBody>
          <a:bodyPr wrap="square" lIns="0" tIns="0" rIns="0" bIns="0" rtlCol="0" anchor="t"/>
          <a:lstStyle/>
          <a:p>
            <a:pPr indent="0" marL="0">
              <a:buNone/>
            </a:pPr>
            <a:r>
              <a:rPr lang="en-US" sz="4000" b="1" dirty="0">
                <a:solidFill>
                  <a:srgbClr val="E6B756"/>
                </a:solidFill>
                <a:latin typeface="Calibri" pitchFamily="34" charset="0"/>
                <a:ea typeface="Calibri" pitchFamily="34" charset="-122"/>
                <a:cs typeface="Calibri" pitchFamily="34" charset="-120"/>
              </a:rPr>
              <a:t>2</a:t>
            </a:r>
            <a:endParaRPr lang="en-US" sz="4000" dirty="0"/>
          </a:p>
        </p:txBody>
      </p:sp>
      <p:sp>
        <p:nvSpPr>
          <p:cNvPr id="10" name="Text 6"/>
          <p:cNvSpPr txBox="1"/>
          <p:nvPr/>
        </p:nvSpPr>
        <p:spPr>
          <a:xfrm>
            <a:off x="9098280" y="3310128"/>
            <a:ext cx="2468880" cy="548640"/>
          </a:xfrm>
          <a:prstGeom prst="rect">
            <a:avLst/>
          </a:prstGeom>
          <a:noFill/>
          <a:ln/>
        </p:spPr>
        <p:txBody>
          <a:bodyPr wrap="square" lIns="0" tIns="0" rIns="0" bIns="0" rtlCol="0" anchor="t"/>
          <a:lstStyle/>
          <a:p>
            <a:pPr indent="0" marL="0">
              <a:buNone/>
            </a:pPr>
            <a:r>
              <a:rPr lang="en-US" sz="1200" dirty="0">
                <a:solidFill>
                  <a:srgbClr val="82B2D6"/>
                </a:solidFill>
                <a:latin typeface="Calibri" pitchFamily="34" charset="0"/>
                <a:ea typeface="Calibri" pitchFamily="34" charset="-122"/>
                <a:cs typeface="Calibri" pitchFamily="34" charset="-120"/>
              </a:rPr>
              <a:t>at risk through</a:t>
            </a:r>
            <a:endParaRPr lang="en-US" sz="1200" dirty="0"/>
          </a:p>
          <a:p>
            <a:pPr indent="0" marL="0">
              <a:buNone/>
            </a:pPr>
            <a:r>
              <a:rPr lang="en-US" sz="1200" dirty="0">
                <a:solidFill>
                  <a:srgbClr val="82B2D6"/>
                </a:solidFill>
                <a:latin typeface="Calibri" pitchFamily="34" charset="0"/>
                <a:ea typeface="Calibri" pitchFamily="34" charset="-122"/>
                <a:cs typeface="Calibri" pitchFamily="34" charset="-120"/>
              </a:rPr>
              <a:t>dependency</a:t>
            </a:r>
            <a:endParaRPr lang="en-US" sz="1200" dirty="0"/>
          </a:p>
        </p:txBody>
      </p:sp>
      <p:sp>
        <p:nvSpPr>
          <p:cNvPr id="11" name="Text 7"/>
          <p:cNvSpPr txBox="1"/>
          <p:nvPr/>
        </p:nvSpPr>
        <p:spPr>
          <a:xfrm>
            <a:off x="9098280" y="4069080"/>
            <a:ext cx="2468880" cy="777240"/>
          </a:xfrm>
          <a:prstGeom prst="rect">
            <a:avLst/>
          </a:prstGeom>
          <a:noFill/>
          <a:ln/>
        </p:spPr>
        <p:txBody>
          <a:bodyPr wrap="square" lIns="0" tIns="0" rIns="0" bIns="0" rtlCol="0" anchor="t"/>
          <a:lstStyle/>
          <a:p>
            <a:pPr indent="0" marL="0">
              <a:buNone/>
            </a:pPr>
            <a:r>
              <a:rPr lang="en-US" sz="4000" b="1" dirty="0">
                <a:solidFill>
                  <a:srgbClr val="82B2D6"/>
                </a:solidFill>
                <a:latin typeface="Calibri" pitchFamily="34" charset="0"/>
                <a:ea typeface="Calibri" pitchFamily="34" charset="-122"/>
                <a:cs typeface="Calibri" pitchFamily="34" charset="-120"/>
              </a:rPr>
              <a:t>3</a:t>
            </a:r>
            <a:endParaRPr lang="en-US" sz="4000" dirty="0"/>
          </a:p>
        </p:txBody>
      </p:sp>
      <p:sp>
        <p:nvSpPr>
          <p:cNvPr id="12" name="Text 8"/>
          <p:cNvSpPr txBox="1"/>
          <p:nvPr/>
        </p:nvSpPr>
        <p:spPr>
          <a:xfrm>
            <a:off x="9098280" y="4636008"/>
            <a:ext cx="2468880" cy="548640"/>
          </a:xfrm>
          <a:prstGeom prst="rect">
            <a:avLst/>
          </a:prstGeom>
          <a:noFill/>
          <a:ln/>
        </p:spPr>
        <p:txBody>
          <a:bodyPr wrap="square" lIns="0" tIns="0" rIns="0" bIns="0" rtlCol="0" anchor="t"/>
          <a:lstStyle/>
          <a:p>
            <a:pPr indent="0" marL="0">
              <a:buNone/>
            </a:pPr>
            <a:r>
              <a:rPr lang="en-US" sz="1200" dirty="0">
                <a:solidFill>
                  <a:srgbClr val="82B2D6"/>
                </a:solidFill>
                <a:latin typeface="Calibri" pitchFamily="34" charset="0"/>
                <a:ea typeface="Calibri" pitchFamily="34" charset="-122"/>
                <a:cs typeface="Calibri" pitchFamily="34" charset="-120"/>
              </a:rPr>
              <a:t>cascade depth</a:t>
            </a:r>
            <a:endParaRPr lang="en-US" sz="1200" dirty="0"/>
          </a:p>
          <a:p>
            <a:pPr indent="0" marL="0">
              <a:buNone/>
            </a:pPr>
            <a:r>
              <a:rPr lang="en-US" sz="1200" dirty="0">
                <a:solidFill>
                  <a:srgbClr val="82B2D6"/>
                </a:solidFill>
                <a:latin typeface="Calibri" pitchFamily="34" charset="0"/>
                <a:ea typeface="Calibri" pitchFamily="34" charset="-122"/>
                <a:cs typeface="Calibri" pitchFamily="34" charset="-120"/>
              </a:rPr>
              <a:t>(scrubbable)</a:t>
            </a:r>
            <a:endParaRPr lang="en-US" sz="1200" dirty="0"/>
          </a:p>
        </p:txBody>
      </p:sp>
      <p:sp>
        <p:nvSpPr>
          <p:cNvPr id="13" name="Text 9"/>
          <p:cNvSpPr txBox="1"/>
          <p:nvPr/>
        </p:nvSpPr>
        <p:spPr>
          <a:xfrm>
            <a:off x="9098280" y="5394960"/>
            <a:ext cx="2560320" cy="6400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Inspect any node: category, reason codes, every causal path.</a:t>
            </a:r>
            <a:endParaRPr lang="en-US" sz="1200" dirty="0"/>
          </a:p>
        </p:txBody>
      </p:sp>
      <p:sp>
        <p:nvSpPr>
          <p:cNvPr id="14"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82B2D6"/>
                </a:solidFill>
                <a:latin typeface="Calibri" pitchFamily="34" charset="0"/>
                <a:ea typeface="Calibri" pitchFamily="34" charset="-122"/>
                <a:cs typeface="Calibri" pitchFamily="34" charset="-120"/>
              </a:rPr>
              <a:t>Real screenshot of the published prototype, 28 Oct 2026. Homework assistance (T03) selected; both causal paths shown.</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2B2D6"/>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III · THE PROTOTYPE · SCREEN 5 OF 7</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Recovery Studio</a:t>
            </a:r>
            <a:endParaRPr lang="en-US" sz="3200" dirty="0"/>
          </a:p>
        </p:txBody>
      </p:sp>
      <p:sp>
        <p:nvSpPr>
          <p:cNvPr id="5" name="Text 2"/>
          <p:cNvSpPr txBox="1"/>
          <p:nvPr/>
        </p:nvSpPr>
        <p:spPr>
          <a:xfrm>
            <a:off x="548640" y="1371600"/>
            <a:ext cx="3657600" cy="228600"/>
          </a:xfrm>
          <a:prstGeom prst="rect">
            <a:avLst/>
          </a:prstGeom>
          <a:noFill/>
          <a:ln/>
        </p:spPr>
        <p:txBody>
          <a:bodyPr wrap="square" lIns="0" tIns="0" rIns="0" bIns="0" rtlCol="0" anchor="t"/>
          <a:lstStyle/>
          <a:p>
            <a:pPr indent="0" marL="0">
              <a:buNone/>
            </a:pPr>
            <a:r>
              <a:rPr lang="en-US" sz="1100" dirty="0">
                <a:solidFill>
                  <a:srgbClr val="47789F"/>
                </a:solidFill>
                <a:latin typeface="Consolas" pitchFamily="34" charset="0"/>
                <a:ea typeface="Consolas" pitchFamily="34" charset="-122"/>
                <a:cs typeface="Consolas" pitchFamily="34" charset="-120"/>
              </a:rPr>
              <a:t>ORIGINAL SCHEDULE</a:t>
            </a:r>
            <a:endParaRPr lang="en-US" sz="1100" dirty="0"/>
          </a:p>
        </p:txBody>
      </p:sp>
      <p:sp>
        <p:nvSpPr>
          <p:cNvPr id="6" name="Text 3"/>
          <p:cNvSpPr txBox="1"/>
          <p:nvPr/>
        </p:nvSpPr>
        <p:spPr>
          <a:xfrm>
            <a:off x="1143000" y="160020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14:30</a:t>
            </a:r>
            <a:endParaRPr lang="en-US" sz="1000" dirty="0"/>
          </a:p>
        </p:txBody>
      </p:sp>
      <p:sp>
        <p:nvSpPr>
          <p:cNvPr id="7" name="Shape 4"/>
          <p:cNvSpPr/>
          <p:nvPr/>
        </p:nvSpPr>
        <p:spPr>
          <a:xfrm>
            <a:off x="1417320" y="1837944"/>
            <a:ext cx="0" cy="1463040"/>
          </a:xfrm>
          <a:prstGeom prst="line">
            <a:avLst/>
          </a:prstGeom>
          <a:noFill/>
          <a:ln w="6350">
            <a:solidFill>
              <a:srgbClr val="D3DDE8"/>
            </a:solidFill>
            <a:prstDash val="solid"/>
          </a:ln>
        </p:spPr>
      </p:sp>
      <p:sp>
        <p:nvSpPr>
          <p:cNvPr id="8" name="Text 5"/>
          <p:cNvSpPr txBox="1"/>
          <p:nvPr/>
        </p:nvSpPr>
        <p:spPr>
          <a:xfrm>
            <a:off x="1811655" y="160020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15:00</a:t>
            </a:r>
            <a:endParaRPr lang="en-US" sz="1000" dirty="0"/>
          </a:p>
        </p:txBody>
      </p:sp>
      <p:sp>
        <p:nvSpPr>
          <p:cNvPr id="9" name="Shape 6"/>
          <p:cNvSpPr/>
          <p:nvPr/>
        </p:nvSpPr>
        <p:spPr>
          <a:xfrm>
            <a:off x="2085975" y="1837944"/>
            <a:ext cx="0" cy="1463040"/>
          </a:xfrm>
          <a:prstGeom prst="line">
            <a:avLst/>
          </a:prstGeom>
          <a:noFill/>
          <a:ln w="6350">
            <a:solidFill>
              <a:srgbClr val="D3DDE8"/>
            </a:solidFill>
            <a:prstDash val="solid"/>
          </a:ln>
        </p:spPr>
      </p:sp>
      <p:sp>
        <p:nvSpPr>
          <p:cNvPr id="10" name="Text 7"/>
          <p:cNvSpPr txBox="1"/>
          <p:nvPr/>
        </p:nvSpPr>
        <p:spPr>
          <a:xfrm>
            <a:off x="2480310" y="160020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15:30</a:t>
            </a:r>
            <a:endParaRPr lang="en-US" sz="1000" dirty="0"/>
          </a:p>
        </p:txBody>
      </p:sp>
      <p:sp>
        <p:nvSpPr>
          <p:cNvPr id="11" name="Shape 8"/>
          <p:cNvSpPr/>
          <p:nvPr/>
        </p:nvSpPr>
        <p:spPr>
          <a:xfrm>
            <a:off x="2754630" y="1837944"/>
            <a:ext cx="0" cy="1463040"/>
          </a:xfrm>
          <a:prstGeom prst="line">
            <a:avLst/>
          </a:prstGeom>
          <a:noFill/>
          <a:ln w="6350">
            <a:solidFill>
              <a:srgbClr val="D3DDE8"/>
            </a:solidFill>
            <a:prstDash val="solid"/>
          </a:ln>
        </p:spPr>
      </p:sp>
      <p:sp>
        <p:nvSpPr>
          <p:cNvPr id="12" name="Text 9"/>
          <p:cNvSpPr txBox="1"/>
          <p:nvPr/>
        </p:nvSpPr>
        <p:spPr>
          <a:xfrm>
            <a:off x="3148965" y="160020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16:00</a:t>
            </a:r>
            <a:endParaRPr lang="en-US" sz="1000" dirty="0"/>
          </a:p>
        </p:txBody>
      </p:sp>
      <p:sp>
        <p:nvSpPr>
          <p:cNvPr id="13" name="Shape 10"/>
          <p:cNvSpPr/>
          <p:nvPr/>
        </p:nvSpPr>
        <p:spPr>
          <a:xfrm>
            <a:off x="3423285" y="1837944"/>
            <a:ext cx="0" cy="1463040"/>
          </a:xfrm>
          <a:prstGeom prst="line">
            <a:avLst/>
          </a:prstGeom>
          <a:noFill/>
          <a:ln w="6350">
            <a:solidFill>
              <a:srgbClr val="D3DDE8"/>
            </a:solidFill>
            <a:prstDash val="solid"/>
          </a:ln>
        </p:spPr>
      </p:sp>
      <p:sp>
        <p:nvSpPr>
          <p:cNvPr id="14" name="Text 11"/>
          <p:cNvSpPr txBox="1"/>
          <p:nvPr/>
        </p:nvSpPr>
        <p:spPr>
          <a:xfrm>
            <a:off x="3817620" y="160020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16:30</a:t>
            </a:r>
            <a:endParaRPr lang="en-US" sz="1000" dirty="0"/>
          </a:p>
        </p:txBody>
      </p:sp>
      <p:sp>
        <p:nvSpPr>
          <p:cNvPr id="15" name="Shape 12"/>
          <p:cNvSpPr/>
          <p:nvPr/>
        </p:nvSpPr>
        <p:spPr>
          <a:xfrm>
            <a:off x="4091940" y="1837944"/>
            <a:ext cx="0" cy="1463040"/>
          </a:xfrm>
          <a:prstGeom prst="line">
            <a:avLst/>
          </a:prstGeom>
          <a:noFill/>
          <a:ln w="6350">
            <a:solidFill>
              <a:srgbClr val="D3DDE8"/>
            </a:solidFill>
            <a:prstDash val="solid"/>
          </a:ln>
        </p:spPr>
      </p:sp>
      <p:sp>
        <p:nvSpPr>
          <p:cNvPr id="16" name="Text 13"/>
          <p:cNvSpPr txBox="1"/>
          <p:nvPr/>
        </p:nvSpPr>
        <p:spPr>
          <a:xfrm>
            <a:off x="4486275" y="160020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17:00</a:t>
            </a:r>
            <a:endParaRPr lang="en-US" sz="1000" dirty="0"/>
          </a:p>
        </p:txBody>
      </p:sp>
      <p:sp>
        <p:nvSpPr>
          <p:cNvPr id="17" name="Shape 14"/>
          <p:cNvSpPr/>
          <p:nvPr/>
        </p:nvSpPr>
        <p:spPr>
          <a:xfrm>
            <a:off x="4760595" y="1837944"/>
            <a:ext cx="0" cy="1463040"/>
          </a:xfrm>
          <a:prstGeom prst="line">
            <a:avLst/>
          </a:prstGeom>
          <a:noFill/>
          <a:ln w="6350">
            <a:solidFill>
              <a:srgbClr val="D3DDE8"/>
            </a:solidFill>
            <a:prstDash val="solid"/>
          </a:ln>
        </p:spPr>
      </p:sp>
      <p:sp>
        <p:nvSpPr>
          <p:cNvPr id="18" name="Text 15"/>
          <p:cNvSpPr txBox="1"/>
          <p:nvPr/>
        </p:nvSpPr>
        <p:spPr>
          <a:xfrm>
            <a:off x="5154930" y="160020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17:30</a:t>
            </a:r>
            <a:endParaRPr lang="en-US" sz="1000" dirty="0"/>
          </a:p>
        </p:txBody>
      </p:sp>
      <p:sp>
        <p:nvSpPr>
          <p:cNvPr id="19" name="Shape 16"/>
          <p:cNvSpPr/>
          <p:nvPr/>
        </p:nvSpPr>
        <p:spPr>
          <a:xfrm>
            <a:off x="5429250" y="1837944"/>
            <a:ext cx="0" cy="1463040"/>
          </a:xfrm>
          <a:prstGeom prst="line">
            <a:avLst/>
          </a:prstGeom>
          <a:noFill/>
          <a:ln w="6350">
            <a:solidFill>
              <a:srgbClr val="D3DDE8"/>
            </a:solidFill>
            <a:prstDash val="solid"/>
          </a:ln>
        </p:spPr>
      </p:sp>
      <p:sp>
        <p:nvSpPr>
          <p:cNvPr id="20" name="Text 17"/>
          <p:cNvSpPr txBox="1"/>
          <p:nvPr/>
        </p:nvSpPr>
        <p:spPr>
          <a:xfrm>
            <a:off x="5823585" y="160020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18:00</a:t>
            </a:r>
            <a:endParaRPr lang="en-US" sz="1000" dirty="0"/>
          </a:p>
        </p:txBody>
      </p:sp>
      <p:sp>
        <p:nvSpPr>
          <p:cNvPr id="21" name="Shape 18"/>
          <p:cNvSpPr/>
          <p:nvPr/>
        </p:nvSpPr>
        <p:spPr>
          <a:xfrm>
            <a:off x="6097905" y="1837944"/>
            <a:ext cx="0" cy="1463040"/>
          </a:xfrm>
          <a:prstGeom prst="line">
            <a:avLst/>
          </a:prstGeom>
          <a:noFill/>
          <a:ln w="6350">
            <a:solidFill>
              <a:srgbClr val="D3DDE8"/>
            </a:solidFill>
            <a:prstDash val="solid"/>
          </a:ln>
        </p:spPr>
      </p:sp>
      <p:sp>
        <p:nvSpPr>
          <p:cNvPr id="22" name="Text 19"/>
          <p:cNvSpPr txBox="1"/>
          <p:nvPr/>
        </p:nvSpPr>
        <p:spPr>
          <a:xfrm>
            <a:off x="6492240" y="160020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18:30</a:t>
            </a:r>
            <a:endParaRPr lang="en-US" sz="1000" dirty="0"/>
          </a:p>
        </p:txBody>
      </p:sp>
      <p:sp>
        <p:nvSpPr>
          <p:cNvPr id="23" name="Shape 20"/>
          <p:cNvSpPr/>
          <p:nvPr/>
        </p:nvSpPr>
        <p:spPr>
          <a:xfrm>
            <a:off x="6766560" y="1837944"/>
            <a:ext cx="0" cy="1463040"/>
          </a:xfrm>
          <a:prstGeom prst="line">
            <a:avLst/>
          </a:prstGeom>
          <a:noFill/>
          <a:ln w="6350">
            <a:solidFill>
              <a:srgbClr val="D3DDE8"/>
            </a:solidFill>
            <a:prstDash val="solid"/>
          </a:ln>
        </p:spPr>
      </p:sp>
      <p:sp>
        <p:nvSpPr>
          <p:cNvPr id="24" name="Text 21"/>
          <p:cNvSpPr txBox="1"/>
          <p:nvPr/>
        </p:nvSpPr>
        <p:spPr>
          <a:xfrm>
            <a:off x="548640" y="1929384"/>
            <a:ext cx="777240" cy="256032"/>
          </a:xfrm>
          <a:prstGeom prst="rect">
            <a:avLst/>
          </a:prstGeom>
          <a:noFill/>
          <a:ln/>
        </p:spPr>
        <p:txBody>
          <a:bodyPr wrap="square" lIns="0" tIns="0" rIns="0" bIns="0" rtlCol="0" anchor="t"/>
          <a:lstStyle/>
          <a:p>
            <a:pPr indent="0" marL="0">
              <a:buNone/>
            </a:pPr>
            <a:r>
              <a:rPr lang="en-US" sz="1300" b="1" dirty="0">
                <a:solidFill>
                  <a:srgbClr val="102B4E"/>
                </a:solidFill>
                <a:latin typeface="Calibri" pitchFamily="34" charset="0"/>
                <a:ea typeface="Calibri" pitchFamily="34" charset="-122"/>
                <a:cs typeface="Calibri" pitchFamily="34" charset="-120"/>
              </a:rPr>
              <a:t>Amina</a:t>
            </a:r>
            <a:endParaRPr lang="en-US" sz="1300" dirty="0"/>
          </a:p>
        </p:txBody>
      </p:sp>
      <p:sp>
        <p:nvSpPr>
          <p:cNvPr id="25" name="Shape 22"/>
          <p:cNvSpPr/>
          <p:nvPr/>
        </p:nvSpPr>
        <p:spPr>
          <a:xfrm>
            <a:off x="1417320" y="1911096"/>
            <a:ext cx="5349240" cy="402336"/>
          </a:xfrm>
          <a:prstGeom prst="rect">
            <a:avLst/>
          </a:prstGeom>
          <a:solidFill>
            <a:srgbClr val="EAF3FA"/>
          </a:solidFill>
          <a:ln/>
        </p:spPr>
      </p:sp>
      <p:sp>
        <p:nvSpPr>
          <p:cNvPr id="26" name="Text 23"/>
          <p:cNvSpPr/>
          <p:nvPr/>
        </p:nvSpPr>
        <p:spPr>
          <a:xfrm>
            <a:off x="1751648" y="1947672"/>
            <a:ext cx="891540" cy="329184"/>
          </a:xfrm>
          <a:prstGeom prst="roundRect">
            <a:avLst>
              <a:gd name="adj" fmla="val 16667"/>
            </a:avLst>
          </a:prstGeom>
          <a:solidFill>
            <a:srgbClr val="255E99"/>
          </a:solidFill>
          <a:ln/>
        </p:spPr>
        <p:txBody>
          <a:bodyPr wrap="square" lIns="0" tIns="50800" rIns="5080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Pickup</a:t>
            </a:r>
            <a:endParaRPr lang="en-US" sz="1000" dirty="0"/>
          </a:p>
        </p:txBody>
      </p:sp>
      <p:sp>
        <p:nvSpPr>
          <p:cNvPr id="27" name="Text 24"/>
          <p:cNvSpPr/>
          <p:nvPr/>
        </p:nvSpPr>
        <p:spPr>
          <a:xfrm>
            <a:off x="3311842" y="1947672"/>
            <a:ext cx="780097" cy="329184"/>
          </a:xfrm>
          <a:prstGeom prst="roundRect">
            <a:avLst>
              <a:gd name="adj" fmla="val 16667"/>
            </a:avLst>
          </a:prstGeom>
          <a:solidFill>
            <a:srgbClr val="255E99"/>
          </a:solidFill>
          <a:ln/>
        </p:spPr>
        <p:txBody>
          <a:bodyPr wrap="square" lIns="0" tIns="50800" rIns="5080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Grocery</a:t>
            </a:r>
            <a:endParaRPr lang="en-US" sz="1000" dirty="0"/>
          </a:p>
        </p:txBody>
      </p:sp>
      <p:sp>
        <p:nvSpPr>
          <p:cNvPr id="28" name="Text 25"/>
          <p:cNvSpPr/>
          <p:nvPr/>
        </p:nvSpPr>
        <p:spPr>
          <a:xfrm>
            <a:off x="4426267" y="1947672"/>
            <a:ext cx="668655" cy="329184"/>
          </a:xfrm>
          <a:prstGeom prst="roundRect">
            <a:avLst>
              <a:gd name="adj" fmla="val 16667"/>
            </a:avLst>
          </a:prstGeom>
          <a:solidFill>
            <a:srgbClr val="255E99"/>
          </a:solidFill>
          <a:ln/>
        </p:spPr>
        <p:txBody>
          <a:bodyPr wrap="square" lIns="0" tIns="50800" rIns="5080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Homework</a:t>
            </a:r>
            <a:endParaRPr lang="en-US" sz="1000" dirty="0"/>
          </a:p>
        </p:txBody>
      </p:sp>
      <p:sp>
        <p:nvSpPr>
          <p:cNvPr id="29" name="Text 26"/>
          <p:cNvSpPr txBox="1"/>
          <p:nvPr/>
        </p:nvSpPr>
        <p:spPr>
          <a:xfrm>
            <a:off x="548640" y="2404872"/>
            <a:ext cx="777240" cy="256032"/>
          </a:xfrm>
          <a:prstGeom prst="rect">
            <a:avLst/>
          </a:prstGeom>
          <a:noFill/>
          <a:ln/>
        </p:spPr>
        <p:txBody>
          <a:bodyPr wrap="square" lIns="0" tIns="0" rIns="0" bIns="0" rtlCol="0" anchor="t"/>
          <a:lstStyle/>
          <a:p>
            <a:pPr indent="0" marL="0">
              <a:buNone/>
            </a:pPr>
            <a:r>
              <a:rPr lang="en-US" sz="1300" b="1" dirty="0">
                <a:solidFill>
                  <a:srgbClr val="102B4E"/>
                </a:solidFill>
                <a:latin typeface="Calibri" pitchFamily="34" charset="0"/>
                <a:ea typeface="Calibri" pitchFamily="34" charset="-122"/>
                <a:cs typeface="Calibri" pitchFamily="34" charset="-120"/>
              </a:rPr>
              <a:t>Khalid</a:t>
            </a:r>
            <a:endParaRPr lang="en-US" sz="1300" dirty="0"/>
          </a:p>
        </p:txBody>
      </p:sp>
      <p:sp>
        <p:nvSpPr>
          <p:cNvPr id="30" name="Shape 27"/>
          <p:cNvSpPr/>
          <p:nvPr/>
        </p:nvSpPr>
        <p:spPr>
          <a:xfrm>
            <a:off x="1417320" y="2386584"/>
            <a:ext cx="5349240" cy="402336"/>
          </a:xfrm>
          <a:prstGeom prst="rect">
            <a:avLst/>
          </a:prstGeom>
          <a:solidFill>
            <a:srgbClr val="EAF3FA"/>
          </a:solidFill>
          <a:ln/>
        </p:spPr>
      </p:sp>
      <p:sp>
        <p:nvSpPr>
          <p:cNvPr id="31" name="Text 28"/>
          <p:cNvSpPr/>
          <p:nvPr/>
        </p:nvSpPr>
        <p:spPr>
          <a:xfrm>
            <a:off x="5429250" y="2423160"/>
            <a:ext cx="668655" cy="329184"/>
          </a:xfrm>
          <a:prstGeom prst="roundRect">
            <a:avLst>
              <a:gd name="adj" fmla="val 16667"/>
            </a:avLst>
          </a:prstGeom>
          <a:solidFill>
            <a:srgbClr val="255E99"/>
          </a:solidFill>
          <a:ln/>
        </p:spPr>
        <p:txBody>
          <a:bodyPr wrap="square" lIns="0" tIns="50800" rIns="5080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Dinner</a:t>
            </a:r>
            <a:endParaRPr lang="en-US" sz="1000" dirty="0"/>
          </a:p>
        </p:txBody>
      </p:sp>
      <p:sp>
        <p:nvSpPr>
          <p:cNvPr id="32" name="Text 29"/>
          <p:cNvSpPr txBox="1"/>
          <p:nvPr/>
        </p:nvSpPr>
        <p:spPr>
          <a:xfrm>
            <a:off x="548640" y="2880360"/>
            <a:ext cx="777240" cy="256032"/>
          </a:xfrm>
          <a:prstGeom prst="rect">
            <a:avLst/>
          </a:prstGeom>
          <a:noFill/>
          <a:ln/>
        </p:spPr>
        <p:txBody>
          <a:bodyPr wrap="square" lIns="0" tIns="0" rIns="0" bIns="0" rtlCol="0" anchor="t"/>
          <a:lstStyle/>
          <a:p>
            <a:pPr indent="0" marL="0">
              <a:buNone/>
            </a:pPr>
            <a:r>
              <a:rPr lang="en-US" sz="1300" b="1" dirty="0">
                <a:solidFill>
                  <a:srgbClr val="102B4E"/>
                </a:solidFill>
                <a:latin typeface="Calibri" pitchFamily="34" charset="0"/>
                <a:ea typeface="Calibri" pitchFamily="34" charset="-122"/>
                <a:cs typeface="Calibri" pitchFamily="34" charset="-120"/>
              </a:rPr>
              <a:t>Noura</a:t>
            </a:r>
            <a:endParaRPr lang="en-US" sz="1300" dirty="0"/>
          </a:p>
        </p:txBody>
      </p:sp>
      <p:sp>
        <p:nvSpPr>
          <p:cNvPr id="33" name="Shape 30"/>
          <p:cNvSpPr/>
          <p:nvPr/>
        </p:nvSpPr>
        <p:spPr>
          <a:xfrm>
            <a:off x="4091940" y="2862072"/>
            <a:ext cx="2005965" cy="402336"/>
          </a:xfrm>
          <a:prstGeom prst="rect">
            <a:avLst/>
          </a:prstGeom>
          <a:solidFill>
            <a:srgbClr val="EAF3FA"/>
          </a:solidFill>
          <a:ln/>
        </p:spPr>
      </p:sp>
      <p:sp>
        <p:nvSpPr>
          <p:cNvPr id="34" name="Text 31"/>
          <p:cNvSpPr txBox="1"/>
          <p:nvPr/>
        </p:nvSpPr>
        <p:spPr>
          <a:xfrm>
            <a:off x="548640" y="3611880"/>
            <a:ext cx="4572000" cy="228600"/>
          </a:xfrm>
          <a:prstGeom prst="rect">
            <a:avLst/>
          </a:prstGeom>
          <a:noFill/>
          <a:ln/>
        </p:spPr>
        <p:txBody>
          <a:bodyPr wrap="square" lIns="0" tIns="0" rIns="0" bIns="0" rtlCol="0" anchor="t"/>
          <a:lstStyle/>
          <a:p>
            <a:pPr indent="0" marL="0">
              <a:buNone/>
            </a:pPr>
            <a:r>
              <a:rPr lang="en-US" sz="1100" dirty="0">
                <a:solidFill>
                  <a:srgbClr val="2B7557"/>
                </a:solidFill>
                <a:latin typeface="Consolas" pitchFamily="34" charset="0"/>
                <a:ea typeface="Consolas" pitchFamily="34" charset="-122"/>
                <a:cs typeface="Consolas" pitchFamily="34" charset="-120"/>
              </a:rPr>
              <a:t>AFTER OPTIMIZATION · OPTIMAL</a:t>
            </a:r>
            <a:endParaRPr lang="en-US" sz="1100" dirty="0"/>
          </a:p>
        </p:txBody>
      </p:sp>
      <p:sp>
        <p:nvSpPr>
          <p:cNvPr id="35" name="Text 32"/>
          <p:cNvSpPr txBox="1"/>
          <p:nvPr/>
        </p:nvSpPr>
        <p:spPr>
          <a:xfrm>
            <a:off x="1143000" y="384048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14:30</a:t>
            </a:r>
            <a:endParaRPr lang="en-US" sz="1000" dirty="0"/>
          </a:p>
        </p:txBody>
      </p:sp>
      <p:sp>
        <p:nvSpPr>
          <p:cNvPr id="36" name="Shape 33"/>
          <p:cNvSpPr/>
          <p:nvPr/>
        </p:nvSpPr>
        <p:spPr>
          <a:xfrm>
            <a:off x="1417320" y="4078224"/>
            <a:ext cx="0" cy="1463040"/>
          </a:xfrm>
          <a:prstGeom prst="line">
            <a:avLst/>
          </a:prstGeom>
          <a:noFill/>
          <a:ln w="6350">
            <a:solidFill>
              <a:srgbClr val="D3DDE8"/>
            </a:solidFill>
            <a:prstDash val="solid"/>
          </a:ln>
        </p:spPr>
      </p:sp>
      <p:sp>
        <p:nvSpPr>
          <p:cNvPr id="37" name="Text 34"/>
          <p:cNvSpPr txBox="1"/>
          <p:nvPr/>
        </p:nvSpPr>
        <p:spPr>
          <a:xfrm>
            <a:off x="1811655" y="384048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15:00</a:t>
            </a:r>
            <a:endParaRPr lang="en-US" sz="1000" dirty="0"/>
          </a:p>
        </p:txBody>
      </p:sp>
      <p:sp>
        <p:nvSpPr>
          <p:cNvPr id="38" name="Shape 35"/>
          <p:cNvSpPr/>
          <p:nvPr/>
        </p:nvSpPr>
        <p:spPr>
          <a:xfrm>
            <a:off x="2085975" y="4078224"/>
            <a:ext cx="0" cy="1463040"/>
          </a:xfrm>
          <a:prstGeom prst="line">
            <a:avLst/>
          </a:prstGeom>
          <a:noFill/>
          <a:ln w="6350">
            <a:solidFill>
              <a:srgbClr val="D3DDE8"/>
            </a:solidFill>
            <a:prstDash val="solid"/>
          </a:ln>
        </p:spPr>
      </p:sp>
      <p:sp>
        <p:nvSpPr>
          <p:cNvPr id="39" name="Text 36"/>
          <p:cNvSpPr txBox="1"/>
          <p:nvPr/>
        </p:nvSpPr>
        <p:spPr>
          <a:xfrm>
            <a:off x="2480310" y="384048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15:30</a:t>
            </a:r>
            <a:endParaRPr lang="en-US" sz="1000" dirty="0"/>
          </a:p>
        </p:txBody>
      </p:sp>
      <p:sp>
        <p:nvSpPr>
          <p:cNvPr id="40" name="Shape 37"/>
          <p:cNvSpPr/>
          <p:nvPr/>
        </p:nvSpPr>
        <p:spPr>
          <a:xfrm>
            <a:off x="2754630" y="4078224"/>
            <a:ext cx="0" cy="1463040"/>
          </a:xfrm>
          <a:prstGeom prst="line">
            <a:avLst/>
          </a:prstGeom>
          <a:noFill/>
          <a:ln w="6350">
            <a:solidFill>
              <a:srgbClr val="D3DDE8"/>
            </a:solidFill>
            <a:prstDash val="solid"/>
          </a:ln>
        </p:spPr>
      </p:sp>
      <p:sp>
        <p:nvSpPr>
          <p:cNvPr id="41" name="Text 38"/>
          <p:cNvSpPr txBox="1"/>
          <p:nvPr/>
        </p:nvSpPr>
        <p:spPr>
          <a:xfrm>
            <a:off x="3148965" y="384048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16:00</a:t>
            </a:r>
            <a:endParaRPr lang="en-US" sz="1000" dirty="0"/>
          </a:p>
        </p:txBody>
      </p:sp>
      <p:sp>
        <p:nvSpPr>
          <p:cNvPr id="42" name="Shape 39"/>
          <p:cNvSpPr/>
          <p:nvPr/>
        </p:nvSpPr>
        <p:spPr>
          <a:xfrm>
            <a:off x="3423285" y="4078224"/>
            <a:ext cx="0" cy="1463040"/>
          </a:xfrm>
          <a:prstGeom prst="line">
            <a:avLst/>
          </a:prstGeom>
          <a:noFill/>
          <a:ln w="6350">
            <a:solidFill>
              <a:srgbClr val="D3DDE8"/>
            </a:solidFill>
            <a:prstDash val="solid"/>
          </a:ln>
        </p:spPr>
      </p:sp>
      <p:sp>
        <p:nvSpPr>
          <p:cNvPr id="43" name="Text 40"/>
          <p:cNvSpPr txBox="1"/>
          <p:nvPr/>
        </p:nvSpPr>
        <p:spPr>
          <a:xfrm>
            <a:off x="3817620" y="384048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16:30</a:t>
            </a:r>
            <a:endParaRPr lang="en-US" sz="1000" dirty="0"/>
          </a:p>
        </p:txBody>
      </p:sp>
      <p:sp>
        <p:nvSpPr>
          <p:cNvPr id="44" name="Shape 41"/>
          <p:cNvSpPr/>
          <p:nvPr/>
        </p:nvSpPr>
        <p:spPr>
          <a:xfrm>
            <a:off x="4091940" y="4078224"/>
            <a:ext cx="0" cy="1463040"/>
          </a:xfrm>
          <a:prstGeom prst="line">
            <a:avLst/>
          </a:prstGeom>
          <a:noFill/>
          <a:ln w="6350">
            <a:solidFill>
              <a:srgbClr val="D3DDE8"/>
            </a:solidFill>
            <a:prstDash val="solid"/>
          </a:ln>
        </p:spPr>
      </p:sp>
      <p:sp>
        <p:nvSpPr>
          <p:cNvPr id="45" name="Text 42"/>
          <p:cNvSpPr txBox="1"/>
          <p:nvPr/>
        </p:nvSpPr>
        <p:spPr>
          <a:xfrm>
            <a:off x="4486275" y="384048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17:00</a:t>
            </a:r>
            <a:endParaRPr lang="en-US" sz="1000" dirty="0"/>
          </a:p>
        </p:txBody>
      </p:sp>
      <p:sp>
        <p:nvSpPr>
          <p:cNvPr id="46" name="Shape 43"/>
          <p:cNvSpPr/>
          <p:nvPr/>
        </p:nvSpPr>
        <p:spPr>
          <a:xfrm>
            <a:off x="4760595" y="4078224"/>
            <a:ext cx="0" cy="1463040"/>
          </a:xfrm>
          <a:prstGeom prst="line">
            <a:avLst/>
          </a:prstGeom>
          <a:noFill/>
          <a:ln w="6350">
            <a:solidFill>
              <a:srgbClr val="D3DDE8"/>
            </a:solidFill>
            <a:prstDash val="solid"/>
          </a:ln>
        </p:spPr>
      </p:sp>
      <p:sp>
        <p:nvSpPr>
          <p:cNvPr id="47" name="Text 44"/>
          <p:cNvSpPr txBox="1"/>
          <p:nvPr/>
        </p:nvSpPr>
        <p:spPr>
          <a:xfrm>
            <a:off x="5154930" y="384048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17:30</a:t>
            </a:r>
            <a:endParaRPr lang="en-US" sz="1000" dirty="0"/>
          </a:p>
        </p:txBody>
      </p:sp>
      <p:sp>
        <p:nvSpPr>
          <p:cNvPr id="48" name="Shape 45"/>
          <p:cNvSpPr/>
          <p:nvPr/>
        </p:nvSpPr>
        <p:spPr>
          <a:xfrm>
            <a:off x="5429250" y="4078224"/>
            <a:ext cx="0" cy="1463040"/>
          </a:xfrm>
          <a:prstGeom prst="line">
            <a:avLst/>
          </a:prstGeom>
          <a:noFill/>
          <a:ln w="6350">
            <a:solidFill>
              <a:srgbClr val="D3DDE8"/>
            </a:solidFill>
            <a:prstDash val="solid"/>
          </a:ln>
        </p:spPr>
      </p:sp>
      <p:sp>
        <p:nvSpPr>
          <p:cNvPr id="49" name="Text 46"/>
          <p:cNvSpPr txBox="1"/>
          <p:nvPr/>
        </p:nvSpPr>
        <p:spPr>
          <a:xfrm>
            <a:off x="5823585" y="384048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18:00</a:t>
            </a:r>
            <a:endParaRPr lang="en-US" sz="1000" dirty="0"/>
          </a:p>
        </p:txBody>
      </p:sp>
      <p:sp>
        <p:nvSpPr>
          <p:cNvPr id="50" name="Shape 47"/>
          <p:cNvSpPr/>
          <p:nvPr/>
        </p:nvSpPr>
        <p:spPr>
          <a:xfrm>
            <a:off x="6097905" y="4078224"/>
            <a:ext cx="0" cy="1463040"/>
          </a:xfrm>
          <a:prstGeom prst="line">
            <a:avLst/>
          </a:prstGeom>
          <a:noFill/>
          <a:ln w="6350">
            <a:solidFill>
              <a:srgbClr val="D3DDE8"/>
            </a:solidFill>
            <a:prstDash val="solid"/>
          </a:ln>
        </p:spPr>
      </p:sp>
      <p:sp>
        <p:nvSpPr>
          <p:cNvPr id="51" name="Text 48"/>
          <p:cNvSpPr txBox="1"/>
          <p:nvPr/>
        </p:nvSpPr>
        <p:spPr>
          <a:xfrm>
            <a:off x="6492240" y="3840480"/>
            <a:ext cx="548640" cy="201168"/>
          </a:xfrm>
          <a:prstGeom prst="rect">
            <a:avLst/>
          </a:prstGeom>
          <a:noFill/>
          <a:ln/>
        </p:spPr>
        <p:txBody>
          <a:bodyPr wrap="square" lIns="0" tIns="0" rIns="0" bIns="0" rtlCol="0" anchor="t"/>
          <a:lstStyle/>
          <a:p>
            <a:pPr algn="ctr" indent="0" marL="0">
              <a:buNone/>
            </a:pPr>
            <a:r>
              <a:rPr lang="en-US" sz="1000" dirty="0">
                <a:solidFill>
                  <a:srgbClr val="5B6B7F"/>
                </a:solidFill>
                <a:latin typeface="Consolas" pitchFamily="34" charset="0"/>
                <a:ea typeface="Consolas" pitchFamily="34" charset="-122"/>
                <a:cs typeface="Consolas" pitchFamily="34" charset="-120"/>
              </a:rPr>
              <a:t>18:30</a:t>
            </a:r>
            <a:endParaRPr lang="en-US" sz="1000" dirty="0"/>
          </a:p>
        </p:txBody>
      </p:sp>
      <p:sp>
        <p:nvSpPr>
          <p:cNvPr id="52" name="Shape 49"/>
          <p:cNvSpPr/>
          <p:nvPr/>
        </p:nvSpPr>
        <p:spPr>
          <a:xfrm>
            <a:off x="6766560" y="4078224"/>
            <a:ext cx="0" cy="1463040"/>
          </a:xfrm>
          <a:prstGeom prst="line">
            <a:avLst/>
          </a:prstGeom>
          <a:noFill/>
          <a:ln w="6350">
            <a:solidFill>
              <a:srgbClr val="D3DDE8"/>
            </a:solidFill>
            <a:prstDash val="solid"/>
          </a:ln>
        </p:spPr>
      </p:sp>
      <p:sp>
        <p:nvSpPr>
          <p:cNvPr id="53" name="Text 50"/>
          <p:cNvSpPr txBox="1"/>
          <p:nvPr/>
        </p:nvSpPr>
        <p:spPr>
          <a:xfrm>
            <a:off x="548640" y="4169664"/>
            <a:ext cx="777240" cy="256032"/>
          </a:xfrm>
          <a:prstGeom prst="rect">
            <a:avLst/>
          </a:prstGeom>
          <a:noFill/>
          <a:ln/>
        </p:spPr>
        <p:txBody>
          <a:bodyPr wrap="square" lIns="0" tIns="0" rIns="0" bIns="0" rtlCol="0" anchor="t"/>
          <a:lstStyle/>
          <a:p>
            <a:pPr indent="0" marL="0">
              <a:buNone/>
            </a:pPr>
            <a:r>
              <a:rPr lang="en-US" sz="1300" b="1" dirty="0">
                <a:solidFill>
                  <a:srgbClr val="102B4E"/>
                </a:solidFill>
                <a:latin typeface="Calibri" pitchFamily="34" charset="0"/>
                <a:ea typeface="Calibri" pitchFamily="34" charset="-122"/>
                <a:cs typeface="Calibri" pitchFamily="34" charset="-120"/>
              </a:rPr>
              <a:t>Amina</a:t>
            </a:r>
            <a:endParaRPr lang="en-US" sz="1300" dirty="0"/>
          </a:p>
        </p:txBody>
      </p:sp>
      <p:sp>
        <p:nvSpPr>
          <p:cNvPr id="54" name="Shape 51"/>
          <p:cNvSpPr/>
          <p:nvPr/>
        </p:nvSpPr>
        <p:spPr>
          <a:xfrm>
            <a:off x="1417320" y="4151376"/>
            <a:ext cx="5349240" cy="402336"/>
          </a:xfrm>
          <a:prstGeom prst="rect">
            <a:avLst/>
          </a:prstGeom>
          <a:solidFill>
            <a:srgbClr val="EAF3FA"/>
          </a:solidFill>
          <a:ln/>
        </p:spPr>
      </p:sp>
      <p:sp>
        <p:nvSpPr>
          <p:cNvPr id="55" name="Shape 52"/>
          <p:cNvSpPr/>
          <p:nvPr/>
        </p:nvSpPr>
        <p:spPr>
          <a:xfrm>
            <a:off x="1417320" y="4151376"/>
            <a:ext cx="4680585" cy="402336"/>
          </a:xfrm>
          <a:prstGeom prst="rect">
            <a:avLst/>
          </a:prstGeom>
          <a:solidFill>
            <a:srgbClr val="F8E6E6"/>
          </a:solidFill>
          <a:ln w="9525">
            <a:solidFill>
              <a:srgbClr val="A23A3D"/>
            </a:solidFill>
            <a:prstDash val="dash"/>
          </a:ln>
        </p:spPr>
      </p:sp>
      <p:sp>
        <p:nvSpPr>
          <p:cNvPr id="56" name="Text 53"/>
          <p:cNvSpPr txBox="1"/>
          <p:nvPr/>
        </p:nvSpPr>
        <p:spPr>
          <a:xfrm>
            <a:off x="548640" y="4645152"/>
            <a:ext cx="777240" cy="256032"/>
          </a:xfrm>
          <a:prstGeom prst="rect">
            <a:avLst/>
          </a:prstGeom>
          <a:noFill/>
          <a:ln/>
        </p:spPr>
        <p:txBody>
          <a:bodyPr wrap="square" lIns="0" tIns="0" rIns="0" bIns="0" rtlCol="0" anchor="t"/>
          <a:lstStyle/>
          <a:p>
            <a:pPr indent="0" marL="0">
              <a:buNone/>
            </a:pPr>
            <a:r>
              <a:rPr lang="en-US" sz="1300" b="1" dirty="0">
                <a:solidFill>
                  <a:srgbClr val="102B4E"/>
                </a:solidFill>
                <a:latin typeface="Calibri" pitchFamily="34" charset="0"/>
                <a:ea typeface="Calibri" pitchFamily="34" charset="-122"/>
                <a:cs typeface="Calibri" pitchFamily="34" charset="-120"/>
              </a:rPr>
              <a:t>Khalid</a:t>
            </a:r>
            <a:endParaRPr lang="en-US" sz="1300" dirty="0"/>
          </a:p>
        </p:txBody>
      </p:sp>
      <p:sp>
        <p:nvSpPr>
          <p:cNvPr id="57" name="Shape 54"/>
          <p:cNvSpPr/>
          <p:nvPr/>
        </p:nvSpPr>
        <p:spPr>
          <a:xfrm>
            <a:off x="1417320" y="4626864"/>
            <a:ext cx="5349240" cy="402336"/>
          </a:xfrm>
          <a:prstGeom prst="rect">
            <a:avLst/>
          </a:prstGeom>
          <a:solidFill>
            <a:srgbClr val="EAF3FA"/>
          </a:solidFill>
          <a:ln/>
        </p:spPr>
      </p:sp>
      <p:sp>
        <p:nvSpPr>
          <p:cNvPr id="58" name="Text 55"/>
          <p:cNvSpPr/>
          <p:nvPr/>
        </p:nvSpPr>
        <p:spPr>
          <a:xfrm>
            <a:off x="1751648" y="4663440"/>
            <a:ext cx="891540" cy="329184"/>
          </a:xfrm>
          <a:prstGeom prst="roundRect">
            <a:avLst>
              <a:gd name="adj" fmla="val 16667"/>
            </a:avLst>
          </a:prstGeom>
          <a:solidFill>
            <a:srgbClr val="2B7557"/>
          </a:solidFill>
          <a:ln/>
        </p:spPr>
        <p:txBody>
          <a:bodyPr wrap="square" lIns="0" tIns="50800" rIns="5080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Pickup</a:t>
            </a:r>
            <a:endParaRPr lang="en-US" sz="1000" dirty="0"/>
          </a:p>
        </p:txBody>
      </p:sp>
      <p:sp>
        <p:nvSpPr>
          <p:cNvPr id="59" name="Text 56"/>
          <p:cNvSpPr/>
          <p:nvPr/>
        </p:nvSpPr>
        <p:spPr>
          <a:xfrm>
            <a:off x="3311842" y="4663440"/>
            <a:ext cx="780097" cy="329184"/>
          </a:xfrm>
          <a:prstGeom prst="roundRect">
            <a:avLst>
              <a:gd name="adj" fmla="val 16667"/>
            </a:avLst>
          </a:prstGeom>
          <a:solidFill>
            <a:srgbClr val="2B7557"/>
          </a:solidFill>
          <a:ln/>
        </p:spPr>
        <p:txBody>
          <a:bodyPr wrap="square" lIns="0" tIns="50800" rIns="5080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Grocery</a:t>
            </a:r>
            <a:endParaRPr lang="en-US" sz="1000" dirty="0"/>
          </a:p>
        </p:txBody>
      </p:sp>
      <p:sp>
        <p:nvSpPr>
          <p:cNvPr id="60" name="Text 57"/>
          <p:cNvSpPr/>
          <p:nvPr/>
        </p:nvSpPr>
        <p:spPr>
          <a:xfrm>
            <a:off x="5429250" y="4663440"/>
            <a:ext cx="668655" cy="329184"/>
          </a:xfrm>
          <a:prstGeom prst="roundRect">
            <a:avLst>
              <a:gd name="adj" fmla="val 16667"/>
            </a:avLst>
          </a:prstGeom>
          <a:solidFill>
            <a:srgbClr val="255E99"/>
          </a:solidFill>
          <a:ln/>
        </p:spPr>
        <p:txBody>
          <a:bodyPr wrap="square" lIns="0" tIns="50800" rIns="5080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Dinner</a:t>
            </a:r>
            <a:endParaRPr lang="en-US" sz="1000" dirty="0"/>
          </a:p>
        </p:txBody>
      </p:sp>
      <p:sp>
        <p:nvSpPr>
          <p:cNvPr id="61" name="Text 58"/>
          <p:cNvSpPr txBox="1"/>
          <p:nvPr/>
        </p:nvSpPr>
        <p:spPr>
          <a:xfrm>
            <a:off x="548640" y="5120640"/>
            <a:ext cx="777240" cy="256032"/>
          </a:xfrm>
          <a:prstGeom prst="rect">
            <a:avLst/>
          </a:prstGeom>
          <a:noFill/>
          <a:ln/>
        </p:spPr>
        <p:txBody>
          <a:bodyPr wrap="square" lIns="0" tIns="0" rIns="0" bIns="0" rtlCol="0" anchor="t"/>
          <a:lstStyle/>
          <a:p>
            <a:pPr indent="0" marL="0">
              <a:buNone/>
            </a:pPr>
            <a:r>
              <a:rPr lang="en-US" sz="1300" b="1" dirty="0">
                <a:solidFill>
                  <a:srgbClr val="102B4E"/>
                </a:solidFill>
                <a:latin typeface="Calibri" pitchFamily="34" charset="0"/>
                <a:ea typeface="Calibri" pitchFamily="34" charset="-122"/>
                <a:cs typeface="Calibri" pitchFamily="34" charset="-120"/>
              </a:rPr>
              <a:t>Noura</a:t>
            </a:r>
            <a:endParaRPr lang="en-US" sz="1300" dirty="0"/>
          </a:p>
        </p:txBody>
      </p:sp>
      <p:sp>
        <p:nvSpPr>
          <p:cNvPr id="62" name="Shape 59"/>
          <p:cNvSpPr/>
          <p:nvPr/>
        </p:nvSpPr>
        <p:spPr>
          <a:xfrm>
            <a:off x="4091940" y="5102352"/>
            <a:ext cx="2005965" cy="402336"/>
          </a:xfrm>
          <a:prstGeom prst="rect">
            <a:avLst/>
          </a:prstGeom>
          <a:solidFill>
            <a:srgbClr val="EAF3FA"/>
          </a:solidFill>
          <a:ln/>
        </p:spPr>
      </p:sp>
      <p:sp>
        <p:nvSpPr>
          <p:cNvPr id="63" name="Text 60"/>
          <p:cNvSpPr/>
          <p:nvPr/>
        </p:nvSpPr>
        <p:spPr>
          <a:xfrm>
            <a:off x="4426267" y="5138928"/>
            <a:ext cx="668655" cy="329184"/>
          </a:xfrm>
          <a:prstGeom prst="roundRect">
            <a:avLst>
              <a:gd name="adj" fmla="val 16667"/>
            </a:avLst>
          </a:prstGeom>
          <a:solidFill>
            <a:srgbClr val="2B7557"/>
          </a:solidFill>
          <a:ln/>
        </p:spPr>
        <p:txBody>
          <a:bodyPr wrap="square" lIns="0" tIns="50800" rIns="5080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Homework</a:t>
            </a:r>
            <a:endParaRPr lang="en-US" sz="1000" dirty="0"/>
          </a:p>
        </p:txBody>
      </p:sp>
      <p:pic>
        <p:nvPicPr>
          <p:cNvPr id="64" name="Image 0" descr="Recovery Studio graph with reassigned tasks highlighted (real screenshot)">    </p:cNvPr>
          <p:cNvPicPr>
            <a:picLocks noChangeAspect="1"/>
          </p:cNvPicPr>
          <p:nvPr/>
        </p:nvPicPr>
        <p:blipFill>
          <a:blip r:embed="rId1"/>
          <a:stretch>
            <a:fillRect/>
          </a:stretch>
        </p:blipFill>
        <p:spPr>
          <a:xfrm>
            <a:off x="7315200" y="1417320"/>
            <a:ext cx="4297680" cy="1492250"/>
          </a:xfrm>
          <a:prstGeom prst="rect">
            <a:avLst/>
          </a:prstGeom>
        </p:spPr>
      </p:pic>
      <p:sp>
        <p:nvSpPr>
          <p:cNvPr id="65" name="Shape 61"/>
          <p:cNvSpPr/>
          <p:nvPr/>
        </p:nvSpPr>
        <p:spPr>
          <a:xfrm>
            <a:off x="7315200" y="1417320"/>
            <a:ext cx="4297680" cy="1492250"/>
          </a:xfrm>
          <a:prstGeom prst="rect">
            <a:avLst/>
          </a:prstGeom>
          <a:ln w="9525">
            <a:solidFill>
              <a:srgbClr val="D3DDE8"/>
            </a:solidFill>
            <a:prstDash val="solid"/>
          </a:ln>
        </p:spPr>
      </p:sp>
      <p:sp>
        <p:nvSpPr>
          <p:cNvPr id="66" name="Text 62"/>
          <p:cNvSpPr/>
          <p:nvPr/>
        </p:nvSpPr>
        <p:spPr>
          <a:xfrm>
            <a:off x="7315200" y="3154680"/>
            <a:ext cx="2743200" cy="365760"/>
          </a:xfrm>
          <a:prstGeom prst="roundRect">
            <a:avLst/>
          </a:prstGeom>
          <a:solidFill>
            <a:srgbClr val="E2F2EA"/>
          </a:solidFill>
          <a:ln w="12700">
            <a:solidFill>
              <a:srgbClr val="2B7557"/>
            </a:solidFill>
          </a:ln>
        </p:spPr>
        <p:txBody>
          <a:bodyPr wrap="square" lIns="0" tIns="76200" rIns="76200" bIns="0" rtlCol="0" anchor="ctr"/>
          <a:lstStyle/>
          <a:p>
            <a:pPr algn="ctr" indent="0" marL="0">
              <a:buNone/>
            </a:pPr>
            <a:r>
              <a:rPr lang="en-US" sz="1300" b="1" dirty="0">
                <a:solidFill>
                  <a:srgbClr val="2B7557"/>
                </a:solidFill>
                <a:latin typeface="Calibri" pitchFamily="34" charset="0"/>
                <a:ea typeface="Calibri" pitchFamily="34" charset="-122"/>
                <a:cs typeface="Calibri" pitchFamily="34" charset="-120"/>
              </a:rPr>
              <a:t>✓ Verified complete recovery</a:t>
            </a:r>
            <a:endParaRPr lang="en-US" sz="1300" dirty="0"/>
          </a:p>
        </p:txBody>
      </p:sp>
      <p:sp>
        <p:nvSpPr>
          <p:cNvPr id="67" name="Text 63"/>
          <p:cNvSpPr txBox="1"/>
          <p:nvPr/>
        </p:nvSpPr>
        <p:spPr>
          <a:xfrm>
            <a:off x="7315200" y="3657600"/>
            <a:ext cx="4297680" cy="173736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3 reassigned (pickup, groceries → Khalid; homework → Noura) · dinner unchanged · 0 min displacement</a:t>
            </a:r>
            <a:endParaRPr lang="en-US" sz="1300" dirty="0"/>
          </a:p>
          <a:p>
            <a:pPr indent="0" marL="0">
              <a:buNone/>
            </a:pPr>
            <a:r>
              <a:rPr lang="en-US" sz="1300" dirty="0">
                <a:solidFill>
                  <a:srgbClr val="1B2533"/>
                </a:solidFill>
                <a:latin typeface="Calibri" pitchFamily="34" charset="0"/>
                <a:ea typeface="Calibri" pitchFamily="34" charset="-122"/>
                <a:cs typeface="Calibri" pitchFamily="34" charset="-120"/>
              </a:rPr>
              <a:t>Solver OPTIMAL · 51.26 ms (hosted run) · independent check 56/56 passed · 3 strategies agree on 1 arrangement</a:t>
            </a:r>
            <a:endParaRPr lang="en-US" sz="1300" dirty="0"/>
          </a:p>
        </p:txBody>
      </p:sp>
      <p:sp>
        <p:nvSpPr>
          <p:cNvPr id="68" name="Text 64"/>
          <p:cNvSpPr txBox="1"/>
          <p:nvPr/>
        </p:nvSpPr>
        <p:spPr>
          <a:xfrm>
            <a:off x="548640" y="5577840"/>
            <a:ext cx="457200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Green = reassigned and verified</a:t>
            </a:r>
            <a:endParaRPr lang="en-US" sz="1100" dirty="0"/>
          </a:p>
        </p:txBody>
      </p:sp>
      <p:sp>
        <p:nvSpPr>
          <p:cNvPr id="69"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POST /v1/recovery-plans (live), 28 Oct 2026; graph is a real screenshot, schedules redrawn from the returned assignments.</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III · THE PROTOTYPE · SCREEN 6 OF 7</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Family Futures Laboratory</a:t>
            </a:r>
            <a:endParaRPr lang="en-US" sz="3200" dirty="0"/>
          </a:p>
        </p:txBody>
      </p:sp>
      <p:pic>
        <p:nvPicPr>
          <p:cNvPr id="5" name="Image 0" descr="Reference scenario: verified complete recovery (real screenshot)">    </p:cNvPr>
          <p:cNvPicPr>
            <a:picLocks noChangeAspect="1"/>
          </p:cNvPicPr>
          <p:nvPr/>
        </p:nvPicPr>
        <p:blipFill>
          <a:blip r:embed="rId1"/>
          <a:stretch>
            <a:fillRect/>
          </a:stretch>
        </p:blipFill>
        <p:spPr>
          <a:xfrm>
            <a:off x="548640" y="1417320"/>
            <a:ext cx="4114800" cy="3290394"/>
          </a:xfrm>
          <a:prstGeom prst="rect">
            <a:avLst/>
          </a:prstGeom>
        </p:spPr>
      </p:pic>
      <p:sp>
        <p:nvSpPr>
          <p:cNvPr id="6" name="Shape 2"/>
          <p:cNvSpPr/>
          <p:nvPr/>
        </p:nvSpPr>
        <p:spPr>
          <a:xfrm>
            <a:off x="548640" y="1417320"/>
            <a:ext cx="4114800" cy="3290394"/>
          </a:xfrm>
          <a:prstGeom prst="rect">
            <a:avLst/>
          </a:prstGeom>
          <a:ln w="9525">
            <a:solidFill>
              <a:srgbClr val="D3DDE8"/>
            </a:solidFill>
            <a:prstDash val="solid"/>
          </a:ln>
        </p:spPr>
      </p:sp>
      <p:pic>
        <p:nvPicPr>
          <p:cNvPr id="7" name="Image 1" descr="Modified future: valid partial plan after a recalculation (real screenshot)">    </p:cNvPr>
          <p:cNvPicPr>
            <a:picLocks noChangeAspect="1"/>
          </p:cNvPicPr>
          <p:nvPr/>
        </p:nvPicPr>
        <p:blipFill>
          <a:blip r:embed="rId2"/>
          <a:stretch>
            <a:fillRect/>
          </a:stretch>
        </p:blipFill>
        <p:spPr>
          <a:xfrm>
            <a:off x="4800600" y="1417320"/>
            <a:ext cx="4114800" cy="3290394"/>
          </a:xfrm>
          <a:prstGeom prst="rect">
            <a:avLst/>
          </a:prstGeom>
        </p:spPr>
      </p:pic>
      <p:sp>
        <p:nvSpPr>
          <p:cNvPr id="8" name="Shape 3"/>
          <p:cNvSpPr/>
          <p:nvPr/>
        </p:nvSpPr>
        <p:spPr>
          <a:xfrm>
            <a:off x="4800600" y="1417320"/>
            <a:ext cx="4114800" cy="3290394"/>
          </a:xfrm>
          <a:prstGeom prst="rect">
            <a:avLst/>
          </a:prstGeom>
          <a:ln w="9525">
            <a:solidFill>
              <a:srgbClr val="D3DDE8"/>
            </a:solidFill>
            <a:prstDash val="solid"/>
          </a:ln>
        </p:spPr>
      </p:sp>
      <p:pic>
        <p:nvPicPr>
          <p:cNvPr id="9" name="Image 2" descr="Different-result banner from the Futures Laboratory (real screenshot)">    </p:cNvPr>
          <p:cNvPicPr>
            <a:picLocks noChangeAspect="1"/>
          </p:cNvPicPr>
          <p:nvPr/>
        </p:nvPicPr>
        <p:blipFill>
          <a:blip r:embed="rId3"/>
          <a:stretch>
            <a:fillRect/>
          </a:stretch>
        </p:blipFill>
        <p:spPr>
          <a:xfrm>
            <a:off x="548640" y="4844874"/>
            <a:ext cx="8366760" cy="588288"/>
          </a:xfrm>
          <a:prstGeom prst="rect">
            <a:avLst/>
          </a:prstGeom>
        </p:spPr>
      </p:pic>
      <p:sp>
        <p:nvSpPr>
          <p:cNvPr id="10" name="Shape 4"/>
          <p:cNvSpPr/>
          <p:nvPr/>
        </p:nvSpPr>
        <p:spPr>
          <a:xfrm>
            <a:off x="548640" y="4844874"/>
            <a:ext cx="8366760" cy="588288"/>
          </a:xfrm>
          <a:prstGeom prst="rect">
            <a:avLst/>
          </a:prstGeom>
          <a:ln w="9525">
            <a:solidFill>
              <a:srgbClr val="D3DDE8"/>
            </a:solidFill>
            <a:prstDash val="solid"/>
          </a:ln>
        </p:spPr>
      </p:sp>
      <p:sp>
        <p:nvSpPr>
          <p:cNvPr id="11" name="Text 5"/>
          <p:cNvSpPr txBox="1"/>
          <p:nvPr/>
        </p:nvSpPr>
        <p:spPr>
          <a:xfrm>
            <a:off x="9098280" y="1417320"/>
            <a:ext cx="2560320" cy="320040"/>
          </a:xfrm>
          <a:prstGeom prst="rect">
            <a:avLst/>
          </a:prstGeom>
          <a:noFill/>
          <a:ln/>
        </p:spPr>
        <p:txBody>
          <a:bodyPr wrap="square" lIns="0" tIns="0" rIns="0" bIns="0" rtlCol="0" anchor="t"/>
          <a:lstStyle/>
          <a:p>
            <a:pPr indent="0" marL="0">
              <a:buNone/>
            </a:pPr>
            <a:r>
              <a:rPr lang="en-US" sz="1600" b="1" dirty="0">
                <a:solidFill>
                  <a:srgbClr val="102B4E"/>
                </a:solidFill>
                <a:latin typeface="Calibri" pitchFamily="34" charset="0"/>
                <a:ea typeface="Calibri" pitchFamily="34" charset="-122"/>
                <a:cs typeface="Calibri" pitchFamily="34" charset="-120"/>
              </a:rPr>
              <a:t>Change one variable</a:t>
            </a:r>
            <a:endParaRPr lang="en-US" sz="1600" dirty="0"/>
          </a:p>
        </p:txBody>
      </p:sp>
      <p:sp>
        <p:nvSpPr>
          <p:cNvPr id="12" name="Text 6"/>
          <p:cNvSpPr txBox="1"/>
          <p:nvPr/>
        </p:nvSpPr>
        <p:spPr>
          <a:xfrm>
            <a:off x="9098280" y="1828800"/>
            <a:ext cx="2560320" cy="274320"/>
          </a:xfrm>
          <a:prstGeom prst="rect">
            <a:avLst/>
          </a:prstGeom>
          <a:noFill/>
          <a:ln/>
        </p:spPr>
        <p:txBody>
          <a:bodyPr wrap="square" lIns="0" tIns="0" rIns="0" bIns="0" rtlCol="0" anchor="t"/>
          <a:lstStyle/>
          <a:p>
            <a:pPr indent="0" marL="0">
              <a:buNone/>
            </a:pPr>
            <a:r>
              <a:rPr lang="en-US" sz="1400" b="1" dirty="0">
                <a:solidFill>
                  <a:srgbClr val="255E99"/>
                </a:solidFill>
                <a:latin typeface="Calibri" pitchFamily="34" charset="0"/>
                <a:ea typeface="Calibri" pitchFamily="34" charset="-122"/>
                <a:cs typeface="Calibri" pitchFamily="34" charset="-120"/>
              </a:rPr>
              <a:t>Caregiver availability</a:t>
            </a:r>
            <a:endParaRPr lang="en-US" sz="1400" dirty="0"/>
          </a:p>
        </p:txBody>
      </p:sp>
      <p:sp>
        <p:nvSpPr>
          <p:cNvPr id="13" name="Text 7"/>
          <p:cNvSpPr txBox="1"/>
          <p:nvPr/>
        </p:nvSpPr>
        <p:spPr>
          <a:xfrm>
            <a:off x="9098280" y="2103120"/>
            <a:ext cx="256032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mark a member unavailable</a:t>
            </a:r>
            <a:endParaRPr lang="en-US" sz="1200" dirty="0"/>
          </a:p>
        </p:txBody>
      </p:sp>
      <p:sp>
        <p:nvSpPr>
          <p:cNvPr id="14" name="Text 8"/>
          <p:cNvSpPr txBox="1"/>
          <p:nvPr/>
        </p:nvSpPr>
        <p:spPr>
          <a:xfrm>
            <a:off x="9098280" y="2542032"/>
            <a:ext cx="2560320" cy="274320"/>
          </a:xfrm>
          <a:prstGeom prst="rect">
            <a:avLst/>
          </a:prstGeom>
          <a:noFill/>
          <a:ln/>
        </p:spPr>
        <p:txBody>
          <a:bodyPr wrap="square" lIns="0" tIns="0" rIns="0" bIns="0" rtlCol="0" anchor="t"/>
          <a:lstStyle/>
          <a:p>
            <a:pPr indent="0" marL="0">
              <a:buNone/>
            </a:pPr>
            <a:r>
              <a:rPr lang="en-US" sz="1400" b="1" dirty="0">
                <a:solidFill>
                  <a:srgbClr val="255E99"/>
                </a:solidFill>
                <a:latin typeface="Calibri" pitchFamily="34" charset="0"/>
                <a:ea typeface="Calibri" pitchFamily="34" charset="-122"/>
                <a:cs typeface="Calibri" pitchFamily="34" charset="-120"/>
              </a:rPr>
              <a:t>Vehicle availability</a:t>
            </a:r>
            <a:endParaRPr lang="en-US" sz="1400" dirty="0"/>
          </a:p>
        </p:txBody>
      </p:sp>
      <p:sp>
        <p:nvSpPr>
          <p:cNvPr id="15" name="Text 9"/>
          <p:cNvSpPr txBox="1"/>
          <p:nvPr/>
        </p:nvSpPr>
        <p:spPr>
          <a:xfrm>
            <a:off x="9098280" y="2816352"/>
            <a:ext cx="256032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take the sedan out</a:t>
            </a:r>
            <a:endParaRPr lang="en-US" sz="1200" dirty="0"/>
          </a:p>
        </p:txBody>
      </p:sp>
      <p:sp>
        <p:nvSpPr>
          <p:cNvPr id="16" name="Text 10"/>
          <p:cNvSpPr txBox="1"/>
          <p:nvPr/>
        </p:nvSpPr>
        <p:spPr>
          <a:xfrm>
            <a:off x="9098280" y="3255264"/>
            <a:ext cx="2560320" cy="274320"/>
          </a:xfrm>
          <a:prstGeom prst="rect">
            <a:avLst/>
          </a:prstGeom>
          <a:noFill/>
          <a:ln/>
        </p:spPr>
        <p:txBody>
          <a:bodyPr wrap="square" lIns="0" tIns="0" rIns="0" bIns="0" rtlCol="0" anchor="t"/>
          <a:lstStyle/>
          <a:p>
            <a:pPr indent="0" marL="0">
              <a:buNone/>
            </a:pPr>
            <a:r>
              <a:rPr lang="en-US" sz="1400" b="1" dirty="0">
                <a:solidFill>
                  <a:srgbClr val="255E99"/>
                </a:solidFill>
                <a:latin typeface="Calibri" pitchFamily="34" charset="0"/>
                <a:ea typeface="Calibri" pitchFamily="34" charset="-122"/>
                <a:cs typeface="Calibri" pitchFamily="34" charset="-120"/>
              </a:rPr>
              <a:t>Resource capacity</a:t>
            </a:r>
            <a:endParaRPr lang="en-US" sz="1400" dirty="0"/>
          </a:p>
        </p:txBody>
      </p:sp>
      <p:sp>
        <p:nvSpPr>
          <p:cNvPr id="17" name="Text 11"/>
          <p:cNvSpPr txBox="1"/>
          <p:nvPr/>
        </p:nvSpPr>
        <p:spPr>
          <a:xfrm>
            <a:off x="9098280" y="3529584"/>
            <a:ext cx="256032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e.g. seats 5 → 1</a:t>
            </a:r>
            <a:endParaRPr lang="en-US" sz="1200" dirty="0"/>
          </a:p>
        </p:txBody>
      </p:sp>
      <p:sp>
        <p:nvSpPr>
          <p:cNvPr id="18" name="Text 12"/>
          <p:cNvSpPr txBox="1"/>
          <p:nvPr/>
        </p:nvSpPr>
        <p:spPr>
          <a:xfrm>
            <a:off x="9098280" y="3968496"/>
            <a:ext cx="2560320" cy="274320"/>
          </a:xfrm>
          <a:prstGeom prst="rect">
            <a:avLst/>
          </a:prstGeom>
          <a:noFill/>
          <a:ln/>
        </p:spPr>
        <p:txBody>
          <a:bodyPr wrap="square" lIns="0" tIns="0" rIns="0" bIns="0" rtlCol="0" anchor="t"/>
          <a:lstStyle/>
          <a:p>
            <a:pPr indent="0" marL="0">
              <a:buNone/>
            </a:pPr>
            <a:r>
              <a:rPr lang="en-US" sz="1400" b="1" dirty="0">
                <a:solidFill>
                  <a:srgbClr val="255E99"/>
                </a:solidFill>
                <a:latin typeface="Calibri" pitchFamily="34" charset="0"/>
                <a:ea typeface="Calibri" pitchFamily="34" charset="-122"/>
                <a:cs typeface="Calibri" pitchFamily="34" charset="-120"/>
              </a:rPr>
              <a:t>Task priority</a:t>
            </a:r>
            <a:endParaRPr lang="en-US" sz="1400" dirty="0"/>
          </a:p>
        </p:txBody>
      </p:sp>
      <p:sp>
        <p:nvSpPr>
          <p:cNvPr id="19" name="Text 13"/>
          <p:cNvSpPr txBox="1"/>
          <p:nvPr/>
        </p:nvSpPr>
        <p:spPr>
          <a:xfrm>
            <a:off x="9098280" y="4242816"/>
            <a:ext cx="256032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change a task’s tier</a:t>
            </a:r>
            <a:endParaRPr lang="en-US" sz="1200" dirty="0"/>
          </a:p>
        </p:txBody>
      </p:sp>
      <p:sp>
        <p:nvSpPr>
          <p:cNvPr id="20" name="Text 14"/>
          <p:cNvSpPr txBox="1"/>
          <p:nvPr/>
        </p:nvSpPr>
        <p:spPr>
          <a:xfrm>
            <a:off x="9098280" y="4681728"/>
            <a:ext cx="2560320" cy="274320"/>
          </a:xfrm>
          <a:prstGeom prst="rect">
            <a:avLst/>
          </a:prstGeom>
          <a:noFill/>
          <a:ln/>
        </p:spPr>
        <p:txBody>
          <a:bodyPr wrap="square" lIns="0" tIns="0" rIns="0" bIns="0" rtlCol="0" anchor="t"/>
          <a:lstStyle/>
          <a:p>
            <a:pPr indent="0" marL="0">
              <a:buNone/>
            </a:pPr>
            <a:r>
              <a:rPr lang="en-US" sz="1400" b="1" dirty="0">
                <a:solidFill>
                  <a:srgbClr val="255E99"/>
                </a:solidFill>
                <a:latin typeface="Calibri" pitchFamily="34" charset="0"/>
                <a:ea typeface="Calibri" pitchFamily="34" charset="-122"/>
                <a:cs typeface="Calibri" pitchFamily="34" charset="-120"/>
              </a:rPr>
              <a:t>Time-window flexibility</a:t>
            </a:r>
            <a:endParaRPr lang="en-US" sz="1400" dirty="0"/>
          </a:p>
        </p:txBody>
      </p:sp>
      <p:sp>
        <p:nvSpPr>
          <p:cNvPr id="21" name="Text 15"/>
          <p:cNvSpPr txBox="1"/>
          <p:nvPr/>
        </p:nvSpPr>
        <p:spPr>
          <a:xfrm>
            <a:off x="9098280" y="4956048"/>
            <a:ext cx="256032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widen or narrow by ± minutes</a:t>
            </a:r>
            <a:endParaRPr lang="en-US" sz="1200" dirty="0"/>
          </a:p>
        </p:txBody>
      </p:sp>
      <p:sp>
        <p:nvSpPr>
          <p:cNvPr id="22" name="Text 16"/>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300" b="1" dirty="0">
                <a:solidFill>
                  <a:srgbClr val="102B4E"/>
                </a:solidFill>
                <a:latin typeface="Calibri" pitchFamily="34" charset="0"/>
                <a:ea typeface="Calibri" pitchFamily="34" charset="-122"/>
                <a:cs typeface="Calibri" pitchFamily="34" charset="-120"/>
              </a:rPr>
              <a:t>Every change re-runs graph analysis → CP-SAT → independent verification. Nothing here is a stored alternative.</a:t>
            </a:r>
            <a:endParaRPr lang="en-US" sz="1300" dirty="0"/>
          </a:p>
        </p:txBody>
      </p:sp>
      <p:sp>
        <p:nvSpPr>
          <p:cNvPr id="23"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Real screenshot of the published prototype, 28 Oct 2026: fresh recalculation (solver OPTIMAL, verification 0 violations). Reference preserved on the left.</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82B2D6"/>
                </a:solidFill>
                <a:latin typeface="Consolas" pitchFamily="34" charset="0"/>
                <a:ea typeface="Consolas" pitchFamily="34" charset="-122"/>
                <a:cs typeface="Consolas" pitchFamily="34" charset="-120"/>
              </a:rPr>
              <a:t>ACT III · THE PROTOTYPE · SCREEN 7 OF 7</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Intelligence &amp; Evaluation Laboratory</a:t>
            </a:r>
            <a:endParaRPr lang="en-US" sz="3200" dirty="0"/>
          </a:p>
        </p:txBody>
      </p:sp>
      <p:pic>
        <p:nvPicPr>
          <p:cNvPr id="5" name="Image 0" descr="Evaluation Laboratory after a completed benchmark run (real screenshot)">    </p:cNvPr>
          <p:cNvPicPr>
            <a:picLocks noChangeAspect="1"/>
          </p:cNvPicPr>
          <p:nvPr/>
        </p:nvPicPr>
        <p:blipFill>
          <a:blip r:embed="rId1"/>
          <a:stretch>
            <a:fillRect/>
          </a:stretch>
        </p:blipFill>
        <p:spPr>
          <a:xfrm>
            <a:off x="548640" y="1417320"/>
            <a:ext cx="7512908" cy="4343400"/>
          </a:xfrm>
          <a:prstGeom prst="rect">
            <a:avLst/>
          </a:prstGeom>
        </p:spPr>
      </p:pic>
      <p:sp>
        <p:nvSpPr>
          <p:cNvPr id="6" name="Shape 2"/>
          <p:cNvSpPr/>
          <p:nvPr/>
        </p:nvSpPr>
        <p:spPr>
          <a:xfrm>
            <a:off x="548640" y="1417320"/>
            <a:ext cx="7512908" cy="4343400"/>
          </a:xfrm>
          <a:prstGeom prst="rect">
            <a:avLst/>
          </a:prstGeom>
          <a:ln w="9525">
            <a:solidFill>
              <a:srgbClr val="D3DDE8"/>
            </a:solidFill>
            <a:prstDash val="solid"/>
          </a:ln>
        </p:spPr>
      </p:sp>
      <p:sp>
        <p:nvSpPr>
          <p:cNvPr id="7" name="Text 3"/>
          <p:cNvSpPr txBox="1"/>
          <p:nvPr/>
        </p:nvSpPr>
        <p:spPr>
          <a:xfrm>
            <a:off x="8595360" y="1417320"/>
            <a:ext cx="3017520" cy="77724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51</a:t>
            </a:r>
            <a:endParaRPr lang="en-US" sz="4400" dirty="0"/>
          </a:p>
        </p:txBody>
      </p:sp>
      <p:sp>
        <p:nvSpPr>
          <p:cNvPr id="8" name="Text 4"/>
          <p:cNvSpPr txBox="1"/>
          <p:nvPr/>
        </p:nvSpPr>
        <p:spPr>
          <a:xfrm>
            <a:off x="8595360" y="2057400"/>
            <a:ext cx="3017520" cy="548640"/>
          </a:xfrm>
          <a:prstGeom prst="rect">
            <a:avLst/>
          </a:prstGeom>
          <a:noFill/>
          <a:ln/>
        </p:spPr>
        <p:txBody>
          <a:bodyPr wrap="square" lIns="0" tIns="0" rIns="0" bIns="0" rtlCol="0" anchor="t"/>
          <a:lstStyle/>
          <a:p>
            <a:pPr indent="0" marL="0">
              <a:buNone/>
            </a:pPr>
            <a:r>
              <a:rPr lang="en-US" sz="1300" dirty="0">
                <a:solidFill>
                  <a:srgbClr val="82B2D6"/>
                </a:solidFill>
                <a:latin typeface="Calibri" pitchFamily="34" charset="0"/>
                <a:ea typeface="Calibri" pitchFamily="34" charset="-122"/>
                <a:cs typeface="Calibri" pitchFamily="34" charset="-120"/>
              </a:rPr>
              <a:t>cases defined and processed</a:t>
            </a:r>
            <a:endParaRPr lang="en-US" sz="1300" dirty="0"/>
          </a:p>
        </p:txBody>
      </p:sp>
      <p:sp>
        <p:nvSpPr>
          <p:cNvPr id="9" name="Text 5"/>
          <p:cNvSpPr txBox="1"/>
          <p:nvPr/>
        </p:nvSpPr>
        <p:spPr>
          <a:xfrm>
            <a:off x="8595360" y="2651760"/>
            <a:ext cx="1371600" cy="777240"/>
          </a:xfrm>
          <a:prstGeom prst="rect">
            <a:avLst/>
          </a:prstGeom>
          <a:noFill/>
          <a:ln/>
        </p:spPr>
        <p:txBody>
          <a:bodyPr wrap="square" lIns="0" tIns="0" rIns="0" bIns="0" rtlCol="0" anchor="t"/>
          <a:lstStyle/>
          <a:p>
            <a:pPr indent="0" marL="0">
              <a:buNone/>
            </a:pPr>
            <a:r>
              <a:rPr lang="en-US" sz="4400" b="1" dirty="0">
                <a:solidFill>
                  <a:srgbClr val="6FCAA0"/>
                </a:solidFill>
                <a:latin typeface="Calibri" pitchFamily="34" charset="0"/>
                <a:ea typeface="Calibri" pitchFamily="34" charset="-122"/>
                <a:cs typeface="Calibri" pitchFamily="34" charset="-120"/>
              </a:rPr>
              <a:t>46</a:t>
            </a:r>
            <a:endParaRPr lang="en-US" sz="4400" dirty="0"/>
          </a:p>
        </p:txBody>
      </p:sp>
      <p:sp>
        <p:nvSpPr>
          <p:cNvPr id="10" name="Text 6"/>
          <p:cNvSpPr txBox="1"/>
          <p:nvPr/>
        </p:nvSpPr>
        <p:spPr>
          <a:xfrm>
            <a:off x="8595360" y="3291840"/>
            <a:ext cx="1371600" cy="548640"/>
          </a:xfrm>
          <a:prstGeom prst="rect">
            <a:avLst/>
          </a:prstGeom>
          <a:noFill/>
          <a:ln/>
        </p:spPr>
        <p:txBody>
          <a:bodyPr wrap="square" lIns="0" tIns="0" rIns="0" bIns="0" rtlCol="0" anchor="t"/>
          <a:lstStyle/>
          <a:p>
            <a:pPr indent="0" marL="0">
              <a:buNone/>
            </a:pPr>
            <a:r>
              <a:rPr lang="en-US" sz="1300" dirty="0">
                <a:solidFill>
                  <a:srgbClr val="82B2D6"/>
                </a:solidFill>
                <a:latin typeface="Calibri" pitchFamily="34" charset="0"/>
                <a:ea typeface="Calibri" pitchFamily="34" charset="-122"/>
                <a:cs typeface="Calibri" pitchFamily="34" charset="-120"/>
              </a:rPr>
              <a:t>passed</a:t>
            </a:r>
            <a:endParaRPr lang="en-US" sz="1300" dirty="0"/>
          </a:p>
        </p:txBody>
      </p:sp>
      <p:sp>
        <p:nvSpPr>
          <p:cNvPr id="11" name="Text 7"/>
          <p:cNvSpPr txBox="1"/>
          <p:nvPr/>
        </p:nvSpPr>
        <p:spPr>
          <a:xfrm>
            <a:off x="10012680" y="2651760"/>
            <a:ext cx="1371600" cy="77724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0</a:t>
            </a:r>
            <a:endParaRPr lang="en-US" sz="4400" dirty="0"/>
          </a:p>
        </p:txBody>
      </p:sp>
      <p:sp>
        <p:nvSpPr>
          <p:cNvPr id="12" name="Text 8"/>
          <p:cNvSpPr txBox="1"/>
          <p:nvPr/>
        </p:nvSpPr>
        <p:spPr>
          <a:xfrm>
            <a:off x="10012680" y="3291840"/>
            <a:ext cx="1371600" cy="548640"/>
          </a:xfrm>
          <a:prstGeom prst="rect">
            <a:avLst/>
          </a:prstGeom>
          <a:noFill/>
          <a:ln/>
        </p:spPr>
        <p:txBody>
          <a:bodyPr wrap="square" lIns="0" tIns="0" rIns="0" bIns="0" rtlCol="0" anchor="t"/>
          <a:lstStyle/>
          <a:p>
            <a:pPr indent="0" marL="0">
              <a:buNone/>
            </a:pPr>
            <a:r>
              <a:rPr lang="en-US" sz="1300" dirty="0">
                <a:solidFill>
                  <a:srgbClr val="82B2D6"/>
                </a:solidFill>
                <a:latin typeface="Calibri" pitchFamily="34" charset="0"/>
                <a:ea typeface="Calibri" pitchFamily="34" charset="-122"/>
                <a:cs typeface="Calibri" pitchFamily="34" charset="-120"/>
              </a:rPr>
              <a:t>failed</a:t>
            </a:r>
            <a:endParaRPr lang="en-US" sz="1300" dirty="0"/>
          </a:p>
        </p:txBody>
      </p:sp>
      <p:sp>
        <p:nvSpPr>
          <p:cNvPr id="13" name="Text 9"/>
          <p:cNvSpPr txBox="1"/>
          <p:nvPr/>
        </p:nvSpPr>
        <p:spPr>
          <a:xfrm>
            <a:off x="8595360" y="3886200"/>
            <a:ext cx="3017520" cy="777240"/>
          </a:xfrm>
          <a:prstGeom prst="rect">
            <a:avLst/>
          </a:prstGeom>
          <a:noFill/>
          <a:ln/>
        </p:spPr>
        <p:txBody>
          <a:bodyPr wrap="square" lIns="0" tIns="0" rIns="0" bIns="0" rtlCol="0" anchor="t"/>
          <a:lstStyle/>
          <a:p>
            <a:pPr indent="0" marL="0">
              <a:buNone/>
            </a:pPr>
            <a:r>
              <a:rPr lang="en-US" sz="4400" b="1" dirty="0">
                <a:solidFill>
                  <a:srgbClr val="E6B756"/>
                </a:solidFill>
                <a:latin typeface="Calibri" pitchFamily="34" charset="0"/>
                <a:ea typeface="Calibri" pitchFamily="34" charset="-122"/>
                <a:cs typeface="Calibri" pitchFamily="34" charset="-120"/>
              </a:rPr>
              <a:t>5</a:t>
            </a:r>
            <a:endParaRPr lang="en-US" sz="4400" dirty="0"/>
          </a:p>
        </p:txBody>
      </p:sp>
      <p:sp>
        <p:nvSpPr>
          <p:cNvPr id="14" name="Text 10"/>
          <p:cNvSpPr txBox="1"/>
          <p:nvPr/>
        </p:nvSpPr>
        <p:spPr>
          <a:xfrm>
            <a:off x="8595360" y="4526280"/>
            <a:ext cx="3017520" cy="548640"/>
          </a:xfrm>
          <a:prstGeom prst="rect">
            <a:avLst/>
          </a:prstGeom>
          <a:noFill/>
          <a:ln/>
        </p:spPr>
        <p:txBody>
          <a:bodyPr wrap="square" lIns="0" tIns="0" rIns="0" bIns="0" rtlCol="0" anchor="t"/>
          <a:lstStyle/>
          <a:p>
            <a:pPr indent="0" marL="0">
              <a:buNone/>
            </a:pPr>
            <a:r>
              <a:rPr lang="en-US" sz="1300" dirty="0">
                <a:solidFill>
                  <a:srgbClr val="82B2D6"/>
                </a:solidFill>
                <a:latin typeface="Calibri" pitchFamily="34" charset="0"/>
                <a:ea typeface="Calibri" pitchFamily="34" charset="-122"/>
                <a:cs typeface="Calibri" pitchFamily="34" charset="-120"/>
              </a:rPr>
              <a:t>not run (external / key configured)</a:t>
            </a:r>
            <a:endParaRPr lang="en-US" sz="1300" dirty="0"/>
          </a:p>
        </p:txBody>
      </p:sp>
      <p:sp>
        <p:nvSpPr>
          <p:cNvPr id="15" name="Text 11"/>
          <p:cNvSpPr txBox="1"/>
          <p:nvPr/>
        </p:nvSpPr>
        <p:spPr>
          <a:xfrm>
            <a:off x="548640" y="5852160"/>
            <a:ext cx="768096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Defined ≠ passed: every number comes from a run, never a static page.</a:t>
            </a:r>
            <a:endParaRPr lang="en-US" sz="1400" dirty="0"/>
          </a:p>
        </p:txBody>
      </p:sp>
      <p:sp>
        <p:nvSpPr>
          <p:cNvPr id="16"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82B2D6"/>
                </a:solidFill>
                <a:latin typeface="Calibri" pitchFamily="34" charset="0"/>
                <a:ea typeface="Calibri" pitchFamily="34" charset="-122"/>
                <a:cs typeface="Calibri" pitchFamily="34" charset="-120"/>
              </a:rPr>
              <a:t>Real screenshot of the published prototype after pressing “Run benchmark suite”, 28 Oct 2026 (hosted API, Linux, OR-Tools 9.15.6755).</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2B2D6"/>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IV · THE EVIDENCE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Mathematical optimization with CP-SAT</a:t>
            </a:r>
            <a:endParaRPr lang="en-US" sz="3200" dirty="0"/>
          </a:p>
        </p:txBody>
      </p:sp>
      <p:sp>
        <p:nvSpPr>
          <p:cNvPr id="5" name="Shape 2"/>
          <p:cNvSpPr/>
          <p:nvPr/>
        </p:nvSpPr>
        <p:spPr>
          <a:xfrm>
            <a:off x="548640" y="1417320"/>
            <a:ext cx="6903720" cy="4572000"/>
          </a:xfrm>
          <a:prstGeom prst="roundRect">
            <a:avLst>
              <a:gd name="adj" fmla="val 1600"/>
            </a:avLst>
          </a:prstGeom>
          <a:solidFill>
            <a:srgbClr val="102B4E"/>
          </a:solidFill>
          <a:ln/>
        </p:spPr>
      </p:sp>
      <p:sp>
        <p:nvSpPr>
          <p:cNvPr id="6" name="Text 3"/>
          <p:cNvSpPr txBox="1"/>
          <p:nvPr/>
        </p:nvSpPr>
        <p:spPr>
          <a:xfrm>
            <a:off x="731520" y="1572768"/>
            <a:ext cx="1280160" cy="274320"/>
          </a:xfrm>
          <a:prstGeom prst="rect">
            <a:avLst/>
          </a:prstGeom>
          <a:noFill/>
          <a:ln/>
        </p:spPr>
        <p:txBody>
          <a:bodyPr wrap="square" lIns="0" tIns="0" rIns="0" bIns="0" rtlCol="0" anchor="t"/>
          <a:lstStyle/>
          <a:p>
            <a:pPr indent="0" marL="0">
              <a:buNone/>
            </a:pPr>
            <a:r>
              <a:rPr lang="en-US" sz="1000" dirty="0">
                <a:solidFill>
                  <a:srgbClr val="82B2D6"/>
                </a:solidFill>
                <a:latin typeface="Consolas" pitchFamily="34" charset="0"/>
                <a:ea typeface="Consolas" pitchFamily="34" charset="-122"/>
                <a:cs typeface="Consolas" pitchFamily="34" charset="-120"/>
              </a:rPr>
              <a:t>VARIABLE</a:t>
            </a:r>
            <a:endParaRPr lang="en-US" sz="1000" dirty="0"/>
          </a:p>
        </p:txBody>
      </p:sp>
      <p:sp>
        <p:nvSpPr>
          <p:cNvPr id="7" name="Text 4"/>
          <p:cNvSpPr txBox="1"/>
          <p:nvPr/>
        </p:nvSpPr>
        <p:spPr>
          <a:xfrm>
            <a:off x="2011680" y="1554480"/>
            <a:ext cx="5303520" cy="685800"/>
          </a:xfrm>
          <a:prstGeom prst="rect">
            <a:avLst/>
          </a:prstGeom>
          <a:noFill/>
          <a:ln/>
        </p:spPr>
        <p:txBody>
          <a:bodyPr wrap="square" lIns="0" tIns="0" rIns="0" bIns="0" rtlCol="0" anchor="t"/>
          <a:lstStyle/>
          <a:p>
            <a:pPr indent="0" marL="0">
              <a:buNone/>
            </a:pPr>
            <a:r>
              <a:rPr lang="en-US" sz="1250" dirty="0">
                <a:solidFill>
                  <a:srgbClr val="FFFFFF"/>
                </a:solidFill>
                <a:latin typeface="Consolas" pitchFamily="34" charset="0"/>
                <a:ea typeface="Consolas" pitchFamily="34" charset="-122"/>
                <a:cs typeface="Consolas" pitchFamily="34" charset="-120"/>
              </a:rPr>
              <a:t>x[t,p,s,r] ∈ {0,1}   (task, person, start, resources)</a:t>
            </a:r>
            <a:endParaRPr lang="en-US" sz="1250" dirty="0"/>
          </a:p>
        </p:txBody>
      </p:sp>
      <p:sp>
        <p:nvSpPr>
          <p:cNvPr id="8" name="Text 5"/>
          <p:cNvSpPr txBox="1"/>
          <p:nvPr/>
        </p:nvSpPr>
        <p:spPr>
          <a:xfrm>
            <a:off x="731520" y="2304288"/>
            <a:ext cx="1280160" cy="274320"/>
          </a:xfrm>
          <a:prstGeom prst="rect">
            <a:avLst/>
          </a:prstGeom>
          <a:noFill/>
          <a:ln/>
        </p:spPr>
        <p:txBody>
          <a:bodyPr wrap="square" lIns="0" tIns="0" rIns="0" bIns="0" rtlCol="0" anchor="t"/>
          <a:lstStyle/>
          <a:p>
            <a:pPr indent="0" marL="0">
              <a:buNone/>
            </a:pPr>
            <a:r>
              <a:rPr lang="en-US" sz="1000" dirty="0">
                <a:solidFill>
                  <a:srgbClr val="82B2D6"/>
                </a:solidFill>
                <a:latin typeface="Consolas" pitchFamily="34" charset="0"/>
                <a:ea typeface="Consolas" pitchFamily="34" charset="-122"/>
                <a:cs typeface="Consolas" pitchFamily="34" charset="-120"/>
              </a:rPr>
              <a:t>COVERAGE</a:t>
            </a:r>
            <a:endParaRPr lang="en-US" sz="1000" dirty="0"/>
          </a:p>
        </p:txBody>
      </p:sp>
      <p:sp>
        <p:nvSpPr>
          <p:cNvPr id="9" name="Text 6"/>
          <p:cNvSpPr txBox="1"/>
          <p:nvPr/>
        </p:nvSpPr>
        <p:spPr>
          <a:xfrm>
            <a:off x="2011680" y="2286000"/>
            <a:ext cx="5303520" cy="685800"/>
          </a:xfrm>
          <a:prstGeom prst="rect">
            <a:avLst/>
          </a:prstGeom>
          <a:noFill/>
          <a:ln/>
        </p:spPr>
        <p:txBody>
          <a:bodyPr wrap="square" lIns="0" tIns="0" rIns="0" bIns="0" rtlCol="0" anchor="t"/>
          <a:lstStyle/>
          <a:p>
            <a:pPr indent="0" marL="0">
              <a:buNone/>
            </a:pPr>
            <a:r>
              <a:rPr lang="en-US" sz="1250" dirty="0">
                <a:solidFill>
                  <a:srgbClr val="FFFFFF"/>
                </a:solidFill>
                <a:latin typeface="Consolas" pitchFamily="34" charset="0"/>
                <a:ea typeface="Consolas" pitchFamily="34" charset="-122"/>
                <a:cs typeface="Consolas" pitchFamily="34" charset="-120"/>
              </a:rPr>
              <a:t>covered[t] = Σ x[t,p,s,r]  ≤ 1    (never forced)</a:t>
            </a:r>
            <a:endParaRPr lang="en-US" sz="1250" dirty="0"/>
          </a:p>
        </p:txBody>
      </p:sp>
      <p:sp>
        <p:nvSpPr>
          <p:cNvPr id="10" name="Text 7"/>
          <p:cNvSpPr txBox="1"/>
          <p:nvPr/>
        </p:nvSpPr>
        <p:spPr>
          <a:xfrm>
            <a:off x="731520" y="3035808"/>
            <a:ext cx="1280160" cy="274320"/>
          </a:xfrm>
          <a:prstGeom prst="rect">
            <a:avLst/>
          </a:prstGeom>
          <a:noFill/>
          <a:ln/>
        </p:spPr>
        <p:txBody>
          <a:bodyPr wrap="square" lIns="0" tIns="0" rIns="0" bIns="0" rtlCol="0" anchor="t"/>
          <a:lstStyle/>
          <a:p>
            <a:pPr indent="0" marL="0">
              <a:buNone/>
            </a:pPr>
            <a:r>
              <a:rPr lang="en-US" sz="1000" dirty="0">
                <a:solidFill>
                  <a:srgbClr val="82B2D6"/>
                </a:solidFill>
                <a:latin typeface="Consolas" pitchFamily="34" charset="0"/>
                <a:ea typeface="Consolas" pitchFamily="34" charset="-122"/>
                <a:cs typeface="Consolas" pitchFamily="34" charset="-120"/>
              </a:rPr>
              <a:t>PEOPLE</a:t>
            </a:r>
            <a:endParaRPr lang="en-US" sz="1000" dirty="0"/>
          </a:p>
        </p:txBody>
      </p:sp>
      <p:sp>
        <p:nvSpPr>
          <p:cNvPr id="11" name="Text 8"/>
          <p:cNvSpPr txBox="1"/>
          <p:nvPr/>
        </p:nvSpPr>
        <p:spPr>
          <a:xfrm>
            <a:off x="2011680" y="3017520"/>
            <a:ext cx="5303520" cy="685800"/>
          </a:xfrm>
          <a:prstGeom prst="rect">
            <a:avLst/>
          </a:prstGeom>
          <a:noFill/>
          <a:ln/>
        </p:spPr>
        <p:txBody>
          <a:bodyPr wrap="square" lIns="0" tIns="0" rIns="0" bIns="0" rtlCol="0" anchor="t"/>
          <a:lstStyle/>
          <a:p>
            <a:pPr indent="0" marL="0">
              <a:buNone/>
            </a:pPr>
            <a:r>
              <a:rPr lang="en-US" sz="1250" dirty="0">
                <a:solidFill>
                  <a:srgbClr val="FFFFFF"/>
                </a:solidFill>
                <a:latin typeface="Consolas" pitchFamily="34" charset="0"/>
                <a:ea typeface="Consolas" pitchFamily="34" charset="-122"/>
                <a:cs typeface="Consolas" pitchFamily="34" charset="-120"/>
              </a:rPr>
              <a:t>NoOverlap( { [s, s+dur_t) : x[t,p,s,r]=1 } )  ∀ p</a:t>
            </a:r>
            <a:endParaRPr lang="en-US" sz="1250" dirty="0"/>
          </a:p>
        </p:txBody>
      </p:sp>
      <p:sp>
        <p:nvSpPr>
          <p:cNvPr id="12" name="Text 9"/>
          <p:cNvSpPr txBox="1"/>
          <p:nvPr/>
        </p:nvSpPr>
        <p:spPr>
          <a:xfrm>
            <a:off x="731520" y="3767328"/>
            <a:ext cx="1280160" cy="274320"/>
          </a:xfrm>
          <a:prstGeom prst="rect">
            <a:avLst/>
          </a:prstGeom>
          <a:noFill/>
          <a:ln/>
        </p:spPr>
        <p:txBody>
          <a:bodyPr wrap="square" lIns="0" tIns="0" rIns="0" bIns="0" rtlCol="0" anchor="t"/>
          <a:lstStyle/>
          <a:p>
            <a:pPr indent="0" marL="0">
              <a:buNone/>
            </a:pPr>
            <a:r>
              <a:rPr lang="en-US" sz="1000" dirty="0">
                <a:solidFill>
                  <a:srgbClr val="82B2D6"/>
                </a:solidFill>
                <a:latin typeface="Consolas" pitchFamily="34" charset="0"/>
                <a:ea typeface="Consolas" pitchFamily="34" charset="-122"/>
                <a:cs typeface="Consolas" pitchFamily="34" charset="-120"/>
              </a:rPr>
              <a:t>RESOURCES</a:t>
            </a:r>
            <a:endParaRPr lang="en-US" sz="1000" dirty="0"/>
          </a:p>
        </p:txBody>
      </p:sp>
      <p:sp>
        <p:nvSpPr>
          <p:cNvPr id="13" name="Text 10"/>
          <p:cNvSpPr txBox="1"/>
          <p:nvPr/>
        </p:nvSpPr>
        <p:spPr>
          <a:xfrm>
            <a:off x="2011680" y="3749040"/>
            <a:ext cx="5303520" cy="685800"/>
          </a:xfrm>
          <a:prstGeom prst="rect">
            <a:avLst/>
          </a:prstGeom>
          <a:noFill/>
          <a:ln/>
        </p:spPr>
        <p:txBody>
          <a:bodyPr wrap="square" lIns="0" tIns="0" rIns="0" bIns="0" rtlCol="0" anchor="t"/>
          <a:lstStyle/>
          <a:p>
            <a:pPr indent="0" marL="0">
              <a:buNone/>
            </a:pPr>
            <a:r>
              <a:rPr lang="en-US" sz="1250" dirty="0">
                <a:solidFill>
                  <a:srgbClr val="FFFFFF"/>
                </a:solidFill>
                <a:latin typeface="Consolas" pitchFamily="34" charset="0"/>
                <a:ea typeface="Consolas" pitchFamily="34" charset="-122"/>
                <a:cs typeface="Consolas" pitchFamily="34" charset="-120"/>
              </a:rPr>
              <a:t>exclusive → NoOverlap     shared → Cumulative(capacity)</a:t>
            </a:r>
            <a:endParaRPr lang="en-US" sz="1250" dirty="0"/>
          </a:p>
        </p:txBody>
      </p:sp>
      <p:sp>
        <p:nvSpPr>
          <p:cNvPr id="14" name="Text 11"/>
          <p:cNvSpPr txBox="1"/>
          <p:nvPr/>
        </p:nvSpPr>
        <p:spPr>
          <a:xfrm>
            <a:off x="731520" y="4498848"/>
            <a:ext cx="1280160" cy="274320"/>
          </a:xfrm>
          <a:prstGeom prst="rect">
            <a:avLst/>
          </a:prstGeom>
          <a:noFill/>
          <a:ln/>
        </p:spPr>
        <p:txBody>
          <a:bodyPr wrap="square" lIns="0" tIns="0" rIns="0" bIns="0" rtlCol="0" anchor="t"/>
          <a:lstStyle/>
          <a:p>
            <a:pPr indent="0" marL="0">
              <a:buNone/>
            </a:pPr>
            <a:r>
              <a:rPr lang="en-US" sz="1000" dirty="0">
                <a:solidFill>
                  <a:srgbClr val="82B2D6"/>
                </a:solidFill>
                <a:latin typeface="Consolas" pitchFamily="34" charset="0"/>
                <a:ea typeface="Consolas" pitchFamily="34" charset="-122"/>
                <a:cs typeface="Consolas" pitchFamily="34" charset="-120"/>
              </a:rPr>
              <a:t>PRECEDENCE</a:t>
            </a:r>
            <a:endParaRPr lang="en-US" sz="1000" dirty="0"/>
          </a:p>
        </p:txBody>
      </p:sp>
      <p:sp>
        <p:nvSpPr>
          <p:cNvPr id="15" name="Text 12"/>
          <p:cNvSpPr txBox="1"/>
          <p:nvPr/>
        </p:nvSpPr>
        <p:spPr>
          <a:xfrm>
            <a:off x="2011680" y="4480560"/>
            <a:ext cx="5303520" cy="685800"/>
          </a:xfrm>
          <a:prstGeom prst="rect">
            <a:avLst/>
          </a:prstGeom>
          <a:noFill/>
          <a:ln/>
        </p:spPr>
        <p:txBody>
          <a:bodyPr wrap="square" lIns="0" tIns="0" rIns="0" bIns="0" rtlCol="0" anchor="t"/>
          <a:lstStyle/>
          <a:p>
            <a:pPr indent="0" marL="0">
              <a:buNone/>
            </a:pPr>
            <a:r>
              <a:rPr lang="en-US" sz="1250" dirty="0">
                <a:solidFill>
                  <a:srgbClr val="FFFFFF"/>
                </a:solidFill>
                <a:latin typeface="Consolas" pitchFamily="34" charset="0"/>
                <a:ea typeface="Consolas" pitchFamily="34" charset="-122"/>
                <a:cs typeface="Consolas" pitchFamily="34" charset="-120"/>
              </a:rPr>
              <a:t>covered[t] ⇒ covered[π]  ∧  start[t] ≥ end[π]</a:t>
            </a:r>
            <a:endParaRPr lang="en-US" sz="1250" dirty="0"/>
          </a:p>
        </p:txBody>
      </p:sp>
      <p:sp>
        <p:nvSpPr>
          <p:cNvPr id="16" name="Text 13"/>
          <p:cNvSpPr txBox="1"/>
          <p:nvPr/>
        </p:nvSpPr>
        <p:spPr>
          <a:xfrm>
            <a:off x="731520" y="5230368"/>
            <a:ext cx="1280160" cy="274320"/>
          </a:xfrm>
          <a:prstGeom prst="rect">
            <a:avLst/>
          </a:prstGeom>
          <a:noFill/>
          <a:ln/>
        </p:spPr>
        <p:txBody>
          <a:bodyPr wrap="square" lIns="0" tIns="0" rIns="0" bIns="0" rtlCol="0" anchor="t"/>
          <a:lstStyle/>
          <a:p>
            <a:pPr indent="0" marL="0">
              <a:buNone/>
            </a:pPr>
            <a:r>
              <a:rPr lang="en-US" sz="1000" dirty="0">
                <a:solidFill>
                  <a:srgbClr val="82B2D6"/>
                </a:solidFill>
                <a:latin typeface="Consolas" pitchFamily="34" charset="0"/>
                <a:ea typeface="Consolas" pitchFamily="34" charset="-122"/>
                <a:cs typeface="Consolas" pitchFamily="34" charset="-120"/>
              </a:rPr>
              <a:t>OBJECTIVE</a:t>
            </a:r>
            <a:endParaRPr lang="en-US" sz="1000" dirty="0"/>
          </a:p>
        </p:txBody>
      </p:sp>
      <p:sp>
        <p:nvSpPr>
          <p:cNvPr id="17" name="Text 14"/>
          <p:cNvSpPr txBox="1"/>
          <p:nvPr/>
        </p:nvSpPr>
        <p:spPr>
          <a:xfrm>
            <a:off x="2011680" y="5212080"/>
            <a:ext cx="5303520" cy="685800"/>
          </a:xfrm>
          <a:prstGeom prst="rect">
            <a:avLst/>
          </a:prstGeom>
          <a:noFill/>
          <a:ln/>
        </p:spPr>
        <p:txBody>
          <a:bodyPr wrap="square" lIns="0" tIns="0" rIns="0" bIns="0" rtlCol="0" anchor="t"/>
          <a:lstStyle/>
          <a:p>
            <a:pPr indent="0" marL="0">
              <a:buNone/>
            </a:pPr>
            <a:r>
              <a:rPr lang="en-US" sz="1250" dirty="0">
                <a:solidFill>
                  <a:srgbClr val="FFFFFF"/>
                </a:solidFill>
                <a:latin typeface="Consolas" pitchFamily="34" charset="0"/>
                <a:ea typeface="Consolas" pitchFamily="34" charset="-122"/>
                <a:cs typeface="Consolas" pitchFamily="34" charset="-120"/>
              </a:rPr>
              <a:t>lexicographic:  max Σ w_t·covered[t]  over Tier 0 → fix →</a:t>
            </a:r>
            <a:endParaRPr lang="en-US" sz="1250" dirty="0"/>
          </a:p>
          <a:p>
            <a:pPr indent="0" marL="0">
              <a:buNone/>
            </a:pPr>
            <a:r>
              <a:rPr lang="en-US" sz="1250" dirty="0">
                <a:solidFill>
                  <a:srgbClr val="FFFFFF"/>
                </a:solidFill>
                <a:latin typeface="Consolas" pitchFamily="34" charset="0"/>
                <a:ea typeface="Consolas" pitchFamily="34" charset="-122"/>
                <a:cs typeface="Consolas" pitchFamily="34" charset="-120"/>
              </a:rPr>
              <a:t>Tier 1 → Tier 2 → Tier 3 → then min displacement, changes</a:t>
            </a:r>
            <a:endParaRPr lang="en-US" sz="1250" dirty="0"/>
          </a:p>
        </p:txBody>
      </p:sp>
      <p:sp>
        <p:nvSpPr>
          <p:cNvPr id="18" name="Text 15"/>
          <p:cNvSpPr txBox="1"/>
          <p:nvPr/>
        </p:nvSpPr>
        <p:spPr>
          <a:xfrm>
            <a:off x="7726680" y="1417320"/>
            <a:ext cx="3931920" cy="320040"/>
          </a:xfrm>
          <a:prstGeom prst="rect">
            <a:avLst/>
          </a:prstGeom>
          <a:noFill/>
          <a:ln/>
        </p:spPr>
        <p:txBody>
          <a:bodyPr wrap="square" lIns="0" tIns="0" rIns="0" bIns="0" rtlCol="0" anchor="t"/>
          <a:lstStyle/>
          <a:p>
            <a:pPr indent="0" marL="0">
              <a:buNone/>
            </a:pPr>
            <a:r>
              <a:rPr lang="en-US" sz="1600" b="1" dirty="0">
                <a:solidFill>
                  <a:srgbClr val="102B4E"/>
                </a:solidFill>
                <a:latin typeface="Calibri" pitchFamily="34" charset="0"/>
                <a:ea typeface="Calibri" pitchFamily="34" charset="-122"/>
                <a:cs typeface="Calibri" pitchFamily="34" charset="-120"/>
              </a:rPr>
              <a:t>Flagship instance (live run)</a:t>
            </a:r>
            <a:endParaRPr lang="en-US" sz="1600" dirty="0"/>
          </a:p>
        </p:txBody>
      </p:sp>
      <p:sp>
        <p:nvSpPr>
          <p:cNvPr id="19" name="Text 16"/>
          <p:cNvSpPr txBox="1"/>
          <p:nvPr/>
        </p:nvSpPr>
        <p:spPr>
          <a:xfrm>
            <a:off x="7726680" y="1828800"/>
            <a:ext cx="2011680" cy="320040"/>
          </a:xfrm>
          <a:prstGeom prst="rect">
            <a:avLst/>
          </a:prstGeom>
          <a:noFill/>
          <a:ln/>
        </p:spPr>
        <p:txBody>
          <a:bodyPr wrap="square" lIns="0" tIns="0" rIns="0" bIns="0" rtlCol="0" anchor="t"/>
          <a:lstStyle/>
          <a:p>
            <a:pPr indent="0" marL="0">
              <a:buNone/>
            </a:pPr>
            <a:r>
              <a:rPr lang="en-US" sz="1200" b="1" dirty="0">
                <a:solidFill>
                  <a:srgbClr val="1B2533"/>
                </a:solidFill>
                <a:latin typeface="Calibri" pitchFamily="34" charset="0"/>
                <a:ea typeface="Calibri" pitchFamily="34" charset="-122"/>
                <a:cs typeface="Calibri" pitchFamily="34" charset="-120"/>
              </a:rPr>
              <a:t>T01 pickup · Tier 0</a:t>
            </a:r>
            <a:endParaRPr lang="en-US" sz="1200" dirty="0"/>
          </a:p>
        </p:txBody>
      </p:sp>
      <p:sp>
        <p:nvSpPr>
          <p:cNvPr id="20" name="Text 17"/>
          <p:cNvSpPr txBox="1"/>
          <p:nvPr/>
        </p:nvSpPr>
        <p:spPr>
          <a:xfrm>
            <a:off x="9692640" y="1828800"/>
            <a:ext cx="1097280" cy="32004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Khalid × 6</a:t>
            </a:r>
            <a:endParaRPr lang="en-US" sz="1200" dirty="0"/>
          </a:p>
        </p:txBody>
      </p:sp>
      <p:sp>
        <p:nvSpPr>
          <p:cNvPr id="21" name="Text 18"/>
          <p:cNvSpPr txBox="1"/>
          <p:nvPr/>
        </p:nvSpPr>
        <p:spPr>
          <a:xfrm>
            <a:off x="10698480" y="1828800"/>
            <a:ext cx="822960" cy="320040"/>
          </a:xfrm>
          <a:prstGeom prst="rect">
            <a:avLst/>
          </a:prstGeom>
          <a:noFill/>
          <a:ln/>
        </p:spPr>
        <p:txBody>
          <a:bodyPr wrap="square" lIns="0" tIns="0" rIns="0" bIns="0" rtlCol="0" anchor="t"/>
          <a:lstStyle/>
          <a:p>
            <a:pPr indent="0" marL="0">
              <a:buNone/>
            </a:pPr>
            <a:r>
              <a:rPr lang="en-US" sz="1200" b="1" dirty="0">
                <a:solidFill>
                  <a:srgbClr val="2B7557"/>
                </a:solidFill>
                <a:latin typeface="Consolas" pitchFamily="34" charset="0"/>
                <a:ea typeface="Consolas" pitchFamily="34" charset="-122"/>
                <a:cs typeface="Consolas" pitchFamily="34" charset="-120"/>
              </a:rPr>
              <a:t>14:45</a:t>
            </a:r>
            <a:endParaRPr lang="en-US" sz="1200" dirty="0"/>
          </a:p>
        </p:txBody>
      </p:sp>
      <p:sp>
        <p:nvSpPr>
          <p:cNvPr id="22" name="Text 19"/>
          <p:cNvSpPr txBox="1"/>
          <p:nvPr/>
        </p:nvSpPr>
        <p:spPr>
          <a:xfrm>
            <a:off x="7726680" y="2286000"/>
            <a:ext cx="2011680" cy="320040"/>
          </a:xfrm>
          <a:prstGeom prst="rect">
            <a:avLst/>
          </a:prstGeom>
          <a:noFill/>
          <a:ln/>
        </p:spPr>
        <p:txBody>
          <a:bodyPr wrap="square" lIns="0" tIns="0" rIns="0" bIns="0" rtlCol="0" anchor="t"/>
          <a:lstStyle/>
          <a:p>
            <a:pPr indent="0" marL="0">
              <a:buNone/>
            </a:pPr>
            <a:r>
              <a:rPr lang="en-US" sz="1200" b="1" dirty="0">
                <a:solidFill>
                  <a:srgbClr val="1B2533"/>
                </a:solidFill>
                <a:latin typeface="Calibri" pitchFamily="34" charset="0"/>
                <a:ea typeface="Calibri" pitchFamily="34" charset="-122"/>
                <a:cs typeface="Calibri" pitchFamily="34" charset="-120"/>
              </a:rPr>
              <a:t>T02 grocery · Tier 3</a:t>
            </a:r>
            <a:endParaRPr lang="en-US" sz="1200" dirty="0"/>
          </a:p>
        </p:txBody>
      </p:sp>
      <p:sp>
        <p:nvSpPr>
          <p:cNvPr id="23" name="Text 20"/>
          <p:cNvSpPr txBox="1"/>
          <p:nvPr/>
        </p:nvSpPr>
        <p:spPr>
          <a:xfrm>
            <a:off x="9692640" y="2286000"/>
            <a:ext cx="1097280" cy="32004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Khalid × 24</a:t>
            </a:r>
            <a:endParaRPr lang="en-US" sz="1200" dirty="0"/>
          </a:p>
        </p:txBody>
      </p:sp>
      <p:sp>
        <p:nvSpPr>
          <p:cNvPr id="24" name="Text 21"/>
          <p:cNvSpPr txBox="1"/>
          <p:nvPr/>
        </p:nvSpPr>
        <p:spPr>
          <a:xfrm>
            <a:off x="10698480" y="2286000"/>
            <a:ext cx="822960" cy="320040"/>
          </a:xfrm>
          <a:prstGeom prst="rect">
            <a:avLst/>
          </a:prstGeom>
          <a:noFill/>
          <a:ln/>
        </p:spPr>
        <p:txBody>
          <a:bodyPr wrap="square" lIns="0" tIns="0" rIns="0" bIns="0" rtlCol="0" anchor="t"/>
          <a:lstStyle/>
          <a:p>
            <a:pPr indent="0" marL="0">
              <a:buNone/>
            </a:pPr>
            <a:r>
              <a:rPr lang="en-US" sz="1200" b="1" dirty="0">
                <a:solidFill>
                  <a:srgbClr val="2B7557"/>
                </a:solidFill>
                <a:latin typeface="Consolas" pitchFamily="34" charset="0"/>
                <a:ea typeface="Consolas" pitchFamily="34" charset="-122"/>
                <a:cs typeface="Consolas" pitchFamily="34" charset="-120"/>
              </a:rPr>
              <a:t>15:55</a:t>
            </a:r>
            <a:endParaRPr lang="en-US" sz="1200" dirty="0"/>
          </a:p>
        </p:txBody>
      </p:sp>
      <p:sp>
        <p:nvSpPr>
          <p:cNvPr id="25" name="Text 22"/>
          <p:cNvSpPr txBox="1"/>
          <p:nvPr/>
        </p:nvSpPr>
        <p:spPr>
          <a:xfrm>
            <a:off x="7726680" y="2743200"/>
            <a:ext cx="2011680" cy="320040"/>
          </a:xfrm>
          <a:prstGeom prst="rect">
            <a:avLst/>
          </a:prstGeom>
          <a:noFill/>
          <a:ln/>
        </p:spPr>
        <p:txBody>
          <a:bodyPr wrap="square" lIns="0" tIns="0" rIns="0" bIns="0" rtlCol="0" anchor="t"/>
          <a:lstStyle/>
          <a:p>
            <a:pPr indent="0" marL="0">
              <a:buNone/>
            </a:pPr>
            <a:r>
              <a:rPr lang="en-US" sz="1200" b="1" dirty="0">
                <a:solidFill>
                  <a:srgbClr val="1B2533"/>
                </a:solidFill>
                <a:latin typeface="Calibri" pitchFamily="34" charset="0"/>
                <a:ea typeface="Calibri" pitchFamily="34" charset="-122"/>
                <a:cs typeface="Calibri" pitchFamily="34" charset="-120"/>
              </a:rPr>
              <a:t>T03 homework · Tier 1</a:t>
            </a:r>
            <a:endParaRPr lang="en-US" sz="1200" dirty="0"/>
          </a:p>
        </p:txBody>
      </p:sp>
      <p:sp>
        <p:nvSpPr>
          <p:cNvPr id="26" name="Text 23"/>
          <p:cNvSpPr txBox="1"/>
          <p:nvPr/>
        </p:nvSpPr>
        <p:spPr>
          <a:xfrm>
            <a:off x="9692640" y="2743200"/>
            <a:ext cx="1097280" cy="32004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Noura × 13</a:t>
            </a:r>
            <a:endParaRPr lang="en-US" sz="1200" dirty="0"/>
          </a:p>
        </p:txBody>
      </p:sp>
      <p:sp>
        <p:nvSpPr>
          <p:cNvPr id="27" name="Text 24"/>
          <p:cNvSpPr txBox="1"/>
          <p:nvPr/>
        </p:nvSpPr>
        <p:spPr>
          <a:xfrm>
            <a:off x="10698480" y="2743200"/>
            <a:ext cx="822960" cy="320040"/>
          </a:xfrm>
          <a:prstGeom prst="rect">
            <a:avLst/>
          </a:prstGeom>
          <a:noFill/>
          <a:ln/>
        </p:spPr>
        <p:txBody>
          <a:bodyPr wrap="square" lIns="0" tIns="0" rIns="0" bIns="0" rtlCol="0" anchor="t"/>
          <a:lstStyle/>
          <a:p>
            <a:pPr indent="0" marL="0">
              <a:buNone/>
            </a:pPr>
            <a:r>
              <a:rPr lang="en-US" sz="1200" b="1" dirty="0">
                <a:solidFill>
                  <a:srgbClr val="2B7557"/>
                </a:solidFill>
                <a:latin typeface="Consolas" pitchFamily="34" charset="0"/>
                <a:ea typeface="Consolas" pitchFamily="34" charset="-122"/>
                <a:cs typeface="Consolas" pitchFamily="34" charset="-120"/>
              </a:rPr>
              <a:t>16:45</a:t>
            </a:r>
            <a:endParaRPr lang="en-US" sz="1200" dirty="0"/>
          </a:p>
        </p:txBody>
      </p:sp>
      <p:sp>
        <p:nvSpPr>
          <p:cNvPr id="28" name="Text 25"/>
          <p:cNvSpPr txBox="1"/>
          <p:nvPr/>
        </p:nvSpPr>
        <p:spPr>
          <a:xfrm>
            <a:off x="7726680" y="3200400"/>
            <a:ext cx="2011680" cy="320040"/>
          </a:xfrm>
          <a:prstGeom prst="rect">
            <a:avLst/>
          </a:prstGeom>
          <a:noFill/>
          <a:ln/>
        </p:spPr>
        <p:txBody>
          <a:bodyPr wrap="square" lIns="0" tIns="0" rIns="0" bIns="0" rtlCol="0" anchor="t"/>
          <a:lstStyle/>
          <a:p>
            <a:pPr indent="0" marL="0">
              <a:buNone/>
            </a:pPr>
            <a:r>
              <a:rPr lang="en-US" sz="1200" b="1" dirty="0">
                <a:solidFill>
                  <a:srgbClr val="1B2533"/>
                </a:solidFill>
                <a:latin typeface="Calibri" pitchFamily="34" charset="0"/>
                <a:ea typeface="Calibri" pitchFamily="34" charset="-122"/>
                <a:cs typeface="Calibri" pitchFamily="34" charset="-120"/>
              </a:rPr>
              <a:t>T04 dinner · Tier 1</a:t>
            </a:r>
            <a:endParaRPr lang="en-US" sz="1200" dirty="0"/>
          </a:p>
        </p:txBody>
      </p:sp>
      <p:sp>
        <p:nvSpPr>
          <p:cNvPr id="29" name="Text 26"/>
          <p:cNvSpPr txBox="1"/>
          <p:nvPr/>
        </p:nvSpPr>
        <p:spPr>
          <a:xfrm>
            <a:off x="9692640" y="3200400"/>
            <a:ext cx="1097280" cy="32004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Khalid × 13</a:t>
            </a:r>
            <a:endParaRPr lang="en-US" sz="1200" dirty="0"/>
          </a:p>
        </p:txBody>
      </p:sp>
      <p:sp>
        <p:nvSpPr>
          <p:cNvPr id="30" name="Text 27"/>
          <p:cNvSpPr txBox="1"/>
          <p:nvPr/>
        </p:nvSpPr>
        <p:spPr>
          <a:xfrm>
            <a:off x="10698480" y="3200400"/>
            <a:ext cx="822960" cy="320040"/>
          </a:xfrm>
          <a:prstGeom prst="rect">
            <a:avLst/>
          </a:prstGeom>
          <a:noFill/>
          <a:ln/>
        </p:spPr>
        <p:txBody>
          <a:bodyPr wrap="square" lIns="0" tIns="0" rIns="0" bIns="0" rtlCol="0" anchor="t"/>
          <a:lstStyle/>
          <a:p>
            <a:pPr indent="0" marL="0">
              <a:buNone/>
            </a:pPr>
            <a:r>
              <a:rPr lang="en-US" sz="1200" b="1" dirty="0">
                <a:solidFill>
                  <a:srgbClr val="2B7557"/>
                </a:solidFill>
                <a:latin typeface="Consolas" pitchFamily="34" charset="0"/>
                <a:ea typeface="Consolas" pitchFamily="34" charset="-122"/>
                <a:cs typeface="Consolas" pitchFamily="34" charset="-120"/>
              </a:rPr>
              <a:t>17:30</a:t>
            </a:r>
            <a:endParaRPr lang="en-US" sz="1200" dirty="0"/>
          </a:p>
        </p:txBody>
      </p:sp>
      <p:sp>
        <p:nvSpPr>
          <p:cNvPr id="31" name="Text 28"/>
          <p:cNvSpPr txBox="1"/>
          <p:nvPr/>
        </p:nvSpPr>
        <p:spPr>
          <a:xfrm>
            <a:off x="7726680" y="3703320"/>
            <a:ext cx="3931920" cy="274320"/>
          </a:xfrm>
          <a:prstGeom prst="rect">
            <a:avLst/>
          </a:prstGeom>
          <a:noFill/>
          <a:ln/>
        </p:spPr>
        <p:txBody>
          <a:bodyPr wrap="square" lIns="0" tIns="0" rIns="0" bIns="0" rtlCol="0" anchor="t"/>
          <a:lstStyle/>
          <a:p>
            <a:pPr indent="0" marL="0">
              <a:buNone/>
            </a:pPr>
            <a:r>
              <a:rPr lang="en-US" sz="1100" dirty="0">
                <a:solidFill>
                  <a:srgbClr val="255E99"/>
                </a:solidFill>
                <a:latin typeface="Consolas" pitchFamily="34" charset="0"/>
                <a:ea typeface="Consolas" pitchFamily="34" charset="-122"/>
                <a:cs typeface="Consolas" pitchFamily="34" charset="-120"/>
              </a:rPr>
              <a:t>56 candidates → chosen start shown →</a:t>
            </a:r>
            <a:endParaRPr lang="en-US" sz="1100" dirty="0"/>
          </a:p>
        </p:txBody>
      </p:sp>
      <p:sp>
        <p:nvSpPr>
          <p:cNvPr id="32" name="Text 29"/>
          <p:cNvSpPr txBox="1"/>
          <p:nvPr/>
        </p:nvSpPr>
        <p:spPr>
          <a:xfrm>
            <a:off x="7726680" y="4069080"/>
            <a:ext cx="393192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T01 candidate start times (Khalid)</a:t>
            </a:r>
            <a:endParaRPr lang="en-US" sz="1100" dirty="0"/>
          </a:p>
        </p:txBody>
      </p:sp>
      <p:sp>
        <p:nvSpPr>
          <p:cNvPr id="33" name="Text 30"/>
          <p:cNvSpPr/>
          <p:nvPr/>
        </p:nvSpPr>
        <p:spPr>
          <a:xfrm>
            <a:off x="7726680" y="4389120"/>
            <a:ext cx="603504" cy="384048"/>
          </a:xfrm>
          <a:prstGeom prst="roundRect">
            <a:avLst>
              <a:gd name="adj" fmla="val 19048"/>
            </a:avLst>
          </a:prstGeom>
          <a:solidFill>
            <a:srgbClr val="EAF3FA"/>
          </a:solidFill>
          <a:ln/>
        </p:spPr>
        <p:txBody>
          <a:bodyPr wrap="square" lIns="0" tIns="0" rIns="0" bIns="0" rtlCol="0" anchor="ctr"/>
          <a:lstStyle/>
          <a:p>
            <a:pPr algn="ctr" indent="0" marL="0">
              <a:buNone/>
            </a:pPr>
            <a:r>
              <a:rPr lang="en-US" sz="1000" dirty="0">
                <a:solidFill>
                  <a:srgbClr val="102B4E"/>
                </a:solidFill>
                <a:latin typeface="Consolas" pitchFamily="34" charset="0"/>
                <a:ea typeface="Consolas" pitchFamily="34" charset="-122"/>
                <a:cs typeface="Consolas" pitchFamily="34" charset="-120"/>
              </a:rPr>
              <a:t>14:40</a:t>
            </a:r>
            <a:endParaRPr lang="en-US" sz="1000" dirty="0"/>
          </a:p>
        </p:txBody>
      </p:sp>
      <p:sp>
        <p:nvSpPr>
          <p:cNvPr id="34" name="Text 31"/>
          <p:cNvSpPr/>
          <p:nvPr/>
        </p:nvSpPr>
        <p:spPr>
          <a:xfrm>
            <a:off x="8366760" y="4389120"/>
            <a:ext cx="603504" cy="384048"/>
          </a:xfrm>
          <a:prstGeom prst="roundRect">
            <a:avLst>
              <a:gd name="adj" fmla="val 19048"/>
            </a:avLst>
          </a:prstGeom>
          <a:solidFill>
            <a:srgbClr val="2B7557"/>
          </a:solid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14:45</a:t>
            </a:r>
            <a:endParaRPr lang="en-US" sz="1000" dirty="0"/>
          </a:p>
        </p:txBody>
      </p:sp>
      <p:sp>
        <p:nvSpPr>
          <p:cNvPr id="35" name="Text 32"/>
          <p:cNvSpPr/>
          <p:nvPr/>
        </p:nvSpPr>
        <p:spPr>
          <a:xfrm>
            <a:off x="9006840" y="4389120"/>
            <a:ext cx="603504" cy="384048"/>
          </a:xfrm>
          <a:prstGeom prst="roundRect">
            <a:avLst>
              <a:gd name="adj" fmla="val 19048"/>
            </a:avLst>
          </a:prstGeom>
          <a:solidFill>
            <a:srgbClr val="EAF3FA"/>
          </a:solidFill>
          <a:ln/>
        </p:spPr>
        <p:txBody>
          <a:bodyPr wrap="square" lIns="0" tIns="0" rIns="0" bIns="0" rtlCol="0" anchor="ctr"/>
          <a:lstStyle/>
          <a:p>
            <a:pPr algn="ctr" indent="0" marL="0">
              <a:buNone/>
            </a:pPr>
            <a:r>
              <a:rPr lang="en-US" sz="1000" dirty="0">
                <a:solidFill>
                  <a:srgbClr val="102B4E"/>
                </a:solidFill>
                <a:latin typeface="Consolas" pitchFamily="34" charset="0"/>
                <a:ea typeface="Consolas" pitchFamily="34" charset="-122"/>
                <a:cs typeface="Consolas" pitchFamily="34" charset="-120"/>
              </a:rPr>
              <a:t>14:50</a:t>
            </a:r>
            <a:endParaRPr lang="en-US" sz="1000" dirty="0"/>
          </a:p>
        </p:txBody>
      </p:sp>
      <p:sp>
        <p:nvSpPr>
          <p:cNvPr id="36" name="Text 33"/>
          <p:cNvSpPr/>
          <p:nvPr/>
        </p:nvSpPr>
        <p:spPr>
          <a:xfrm>
            <a:off x="9646920" y="4389120"/>
            <a:ext cx="603504" cy="384048"/>
          </a:xfrm>
          <a:prstGeom prst="roundRect">
            <a:avLst>
              <a:gd name="adj" fmla="val 19048"/>
            </a:avLst>
          </a:prstGeom>
          <a:solidFill>
            <a:srgbClr val="EAF3FA"/>
          </a:solidFill>
          <a:ln/>
        </p:spPr>
        <p:txBody>
          <a:bodyPr wrap="square" lIns="0" tIns="0" rIns="0" bIns="0" rtlCol="0" anchor="ctr"/>
          <a:lstStyle/>
          <a:p>
            <a:pPr algn="ctr" indent="0" marL="0">
              <a:buNone/>
            </a:pPr>
            <a:r>
              <a:rPr lang="en-US" sz="1000" dirty="0">
                <a:solidFill>
                  <a:srgbClr val="102B4E"/>
                </a:solidFill>
                <a:latin typeface="Consolas" pitchFamily="34" charset="0"/>
                <a:ea typeface="Consolas" pitchFamily="34" charset="-122"/>
                <a:cs typeface="Consolas" pitchFamily="34" charset="-120"/>
              </a:rPr>
              <a:t>14:55</a:t>
            </a:r>
            <a:endParaRPr lang="en-US" sz="1000" dirty="0"/>
          </a:p>
        </p:txBody>
      </p:sp>
      <p:sp>
        <p:nvSpPr>
          <p:cNvPr id="37" name="Text 34"/>
          <p:cNvSpPr/>
          <p:nvPr/>
        </p:nvSpPr>
        <p:spPr>
          <a:xfrm>
            <a:off x="10287000" y="4389120"/>
            <a:ext cx="603504" cy="384048"/>
          </a:xfrm>
          <a:prstGeom prst="roundRect">
            <a:avLst>
              <a:gd name="adj" fmla="val 19048"/>
            </a:avLst>
          </a:prstGeom>
          <a:solidFill>
            <a:srgbClr val="EAF3FA"/>
          </a:solidFill>
          <a:ln/>
        </p:spPr>
        <p:txBody>
          <a:bodyPr wrap="square" lIns="0" tIns="0" rIns="0" bIns="0" rtlCol="0" anchor="ctr"/>
          <a:lstStyle/>
          <a:p>
            <a:pPr algn="ctr" indent="0" marL="0">
              <a:buNone/>
            </a:pPr>
            <a:r>
              <a:rPr lang="en-US" sz="1000" dirty="0">
                <a:solidFill>
                  <a:srgbClr val="102B4E"/>
                </a:solidFill>
                <a:latin typeface="Consolas" pitchFamily="34" charset="0"/>
                <a:ea typeface="Consolas" pitchFamily="34" charset="-122"/>
                <a:cs typeface="Consolas" pitchFamily="34" charset="-120"/>
              </a:rPr>
              <a:t>15:00</a:t>
            </a:r>
            <a:endParaRPr lang="en-US" sz="1000" dirty="0"/>
          </a:p>
        </p:txBody>
      </p:sp>
      <p:sp>
        <p:nvSpPr>
          <p:cNvPr id="38" name="Text 35"/>
          <p:cNvSpPr/>
          <p:nvPr/>
        </p:nvSpPr>
        <p:spPr>
          <a:xfrm>
            <a:off x="10927080" y="4389120"/>
            <a:ext cx="603504" cy="384048"/>
          </a:xfrm>
          <a:prstGeom prst="roundRect">
            <a:avLst>
              <a:gd name="adj" fmla="val 19048"/>
            </a:avLst>
          </a:prstGeom>
          <a:solidFill>
            <a:srgbClr val="EAF3FA"/>
          </a:solidFill>
          <a:ln/>
        </p:spPr>
        <p:txBody>
          <a:bodyPr wrap="square" lIns="0" tIns="0" rIns="0" bIns="0" rtlCol="0" anchor="ctr"/>
          <a:lstStyle/>
          <a:p>
            <a:pPr algn="ctr" indent="0" marL="0">
              <a:buNone/>
            </a:pPr>
            <a:r>
              <a:rPr lang="en-US" sz="1000" dirty="0">
                <a:solidFill>
                  <a:srgbClr val="102B4E"/>
                </a:solidFill>
                <a:latin typeface="Consolas" pitchFamily="34" charset="0"/>
                <a:ea typeface="Consolas" pitchFamily="34" charset="-122"/>
                <a:cs typeface="Consolas" pitchFamily="34" charset="-120"/>
              </a:rPr>
              <a:t>15:05</a:t>
            </a:r>
            <a:endParaRPr lang="en-US" sz="1000" dirty="0"/>
          </a:p>
        </p:txBody>
      </p:sp>
      <p:sp>
        <p:nvSpPr>
          <p:cNvPr id="39" name="Shape 36"/>
          <p:cNvSpPr/>
          <p:nvPr/>
        </p:nvSpPr>
        <p:spPr>
          <a:xfrm>
            <a:off x="7726680" y="4983480"/>
            <a:ext cx="3931920" cy="1005840"/>
          </a:xfrm>
          <a:prstGeom prst="roundRect">
            <a:avLst>
              <a:gd name="adj" fmla="val 7273"/>
            </a:avLst>
          </a:prstGeom>
          <a:solidFill>
            <a:srgbClr val="EAF3FA"/>
          </a:solidFill>
          <a:ln/>
        </p:spPr>
      </p:sp>
      <p:sp>
        <p:nvSpPr>
          <p:cNvPr id="40" name="Text 37"/>
          <p:cNvSpPr txBox="1"/>
          <p:nvPr/>
        </p:nvSpPr>
        <p:spPr>
          <a:xfrm>
            <a:off x="7863840" y="5074920"/>
            <a:ext cx="3749040" cy="822960"/>
          </a:xfrm>
          <a:prstGeom prst="rect">
            <a:avLst/>
          </a:prstGeom>
          <a:noFill/>
          <a:ln/>
        </p:spPr>
        <p:txBody>
          <a:bodyPr wrap="square" lIns="0" tIns="0" rIns="0" bIns="0" rtlCol="0" anchor="t"/>
          <a:lstStyle/>
          <a:p>
            <a:pPr indent="0" marL="0">
              <a:buNone/>
            </a:pPr>
            <a:r>
              <a:rPr lang="en-US" sz="1050" dirty="0">
                <a:solidFill>
                  <a:srgbClr val="102B4E"/>
                </a:solidFill>
                <a:latin typeface="Consolas" pitchFamily="34" charset="0"/>
                <a:ea typeface="Consolas" pitchFamily="34" charset="-122"/>
                <a:cs typeface="Consolas" pitchFamily="34" charset="-120"/>
              </a:rPr>
              <a:t>passes: Tier0=10 → Tier1=12 → Tier3=2 → displacement=0 → changes=3</a:t>
            </a:r>
            <a:endParaRPr lang="en-US" sz="1050" dirty="0"/>
          </a:p>
          <a:p>
            <a:pPr indent="0" marL="0">
              <a:buNone/>
            </a:pPr>
            <a:r>
              <a:rPr lang="en-US" sz="1050" dirty="0">
                <a:solidFill>
                  <a:srgbClr val="102B4E"/>
                </a:solidFill>
                <a:latin typeface="Consolas" pitchFamily="34" charset="0"/>
                <a:ea typeface="Consolas" pitchFamily="34" charset="-122"/>
                <a:cs typeface="Consolas" pitchFamily="34" charset="-120"/>
              </a:rPr>
              <a:t>status OPTIMAL · 1 worker · seed 1</a:t>
            </a:r>
            <a:endParaRPr lang="en-US" sz="1050" dirty="0"/>
          </a:p>
        </p:txBody>
      </p:sp>
      <p:sp>
        <p:nvSpPr>
          <p:cNvPr id="41"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backend/app/services/{candidate_generation,optimizer}.py; candidate counts and objective values from the live flagship run. Simplified formulation.</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IV · THE EVIDENCE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Priorities and constraints</a:t>
            </a:r>
            <a:endParaRPr lang="en-US" sz="3200" dirty="0"/>
          </a:p>
        </p:txBody>
      </p:sp>
      <p:sp>
        <p:nvSpPr>
          <p:cNvPr id="5" name="Text 2"/>
          <p:cNvSpPr/>
          <p:nvPr/>
        </p:nvSpPr>
        <p:spPr>
          <a:xfrm>
            <a:off x="548640" y="1417320"/>
            <a:ext cx="3566160" cy="411480"/>
          </a:xfrm>
          <a:prstGeom prst="roundRect">
            <a:avLst>
              <a:gd name="adj" fmla="val 17778"/>
            </a:avLst>
          </a:prstGeom>
          <a:solidFill>
            <a:srgbClr val="102B4E"/>
          </a:solidFill>
          <a:ln/>
        </p:spPr>
        <p:txBody>
          <a:bodyPr wrap="square" lIns="0" tIns="152400" rIns="15240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HARD CONSTRAINTS — never violated</a:t>
            </a:r>
            <a:endParaRPr lang="en-US" sz="1500" dirty="0"/>
          </a:p>
        </p:txBody>
      </p:sp>
      <p:sp>
        <p:nvSpPr>
          <p:cNvPr id="6" name="Text 3"/>
          <p:cNvSpPr txBox="1"/>
          <p:nvPr/>
        </p:nvSpPr>
        <p:spPr>
          <a:xfrm>
            <a:off x="685800" y="2011680"/>
            <a:ext cx="274320" cy="365760"/>
          </a:xfrm>
          <a:prstGeom prst="rect">
            <a:avLst/>
          </a:prstGeom>
          <a:noFill/>
          <a:ln/>
        </p:spPr>
        <p:txBody>
          <a:bodyPr wrap="square" lIns="0" tIns="0" rIns="0" bIns="0" rtlCol="0" anchor="t"/>
          <a:lstStyle/>
          <a:p>
            <a:pPr indent="0" marL="0">
              <a:buNone/>
            </a:pPr>
            <a:r>
              <a:rPr lang="en-US" sz="1600" b="1" dirty="0">
                <a:solidFill>
                  <a:srgbClr val="2B7557"/>
                </a:solidFill>
                <a:latin typeface="Calibri" pitchFamily="34" charset="0"/>
                <a:ea typeface="Calibri" pitchFamily="34" charset="-122"/>
                <a:cs typeface="Calibri" pitchFamily="34" charset="-120"/>
              </a:rPr>
              <a:t>✓</a:t>
            </a:r>
            <a:endParaRPr lang="en-US" sz="1600" dirty="0"/>
          </a:p>
        </p:txBody>
      </p:sp>
      <p:sp>
        <p:nvSpPr>
          <p:cNvPr id="7" name="Text 4"/>
          <p:cNvSpPr txBox="1"/>
          <p:nvPr/>
        </p:nvSpPr>
        <p:spPr>
          <a:xfrm>
            <a:off x="1005840" y="2029968"/>
            <a:ext cx="3108960" cy="54864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Authorized assignments (skills + explicit permissions)</a:t>
            </a:r>
            <a:endParaRPr lang="en-US" sz="1300" dirty="0"/>
          </a:p>
        </p:txBody>
      </p:sp>
      <p:sp>
        <p:nvSpPr>
          <p:cNvPr id="8" name="Text 5"/>
          <p:cNvSpPr txBox="1"/>
          <p:nvPr/>
        </p:nvSpPr>
        <p:spPr>
          <a:xfrm>
            <a:off x="685800" y="2633472"/>
            <a:ext cx="274320" cy="365760"/>
          </a:xfrm>
          <a:prstGeom prst="rect">
            <a:avLst/>
          </a:prstGeom>
          <a:noFill/>
          <a:ln/>
        </p:spPr>
        <p:txBody>
          <a:bodyPr wrap="square" lIns="0" tIns="0" rIns="0" bIns="0" rtlCol="0" anchor="t"/>
          <a:lstStyle/>
          <a:p>
            <a:pPr indent="0" marL="0">
              <a:buNone/>
            </a:pPr>
            <a:r>
              <a:rPr lang="en-US" sz="1600" b="1" dirty="0">
                <a:solidFill>
                  <a:srgbClr val="2B7557"/>
                </a:solidFill>
                <a:latin typeface="Calibri" pitchFamily="34" charset="0"/>
                <a:ea typeface="Calibri" pitchFamily="34" charset="-122"/>
                <a:cs typeface="Calibri" pitchFamily="34" charset="-120"/>
              </a:rPr>
              <a:t>✓</a:t>
            </a:r>
            <a:endParaRPr lang="en-US" sz="1600" dirty="0"/>
          </a:p>
        </p:txBody>
      </p:sp>
      <p:sp>
        <p:nvSpPr>
          <p:cNvPr id="9" name="Text 6"/>
          <p:cNvSpPr txBox="1"/>
          <p:nvPr/>
        </p:nvSpPr>
        <p:spPr>
          <a:xfrm>
            <a:off x="1005840" y="2651760"/>
            <a:ext cx="3108960" cy="54864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Member availability for the full interval</a:t>
            </a:r>
            <a:endParaRPr lang="en-US" sz="1300" dirty="0"/>
          </a:p>
        </p:txBody>
      </p:sp>
      <p:sp>
        <p:nvSpPr>
          <p:cNvPr id="10" name="Text 7"/>
          <p:cNvSpPr txBox="1"/>
          <p:nvPr/>
        </p:nvSpPr>
        <p:spPr>
          <a:xfrm>
            <a:off x="685800" y="3255264"/>
            <a:ext cx="274320" cy="365760"/>
          </a:xfrm>
          <a:prstGeom prst="rect">
            <a:avLst/>
          </a:prstGeom>
          <a:noFill/>
          <a:ln/>
        </p:spPr>
        <p:txBody>
          <a:bodyPr wrap="square" lIns="0" tIns="0" rIns="0" bIns="0" rtlCol="0" anchor="t"/>
          <a:lstStyle/>
          <a:p>
            <a:pPr indent="0" marL="0">
              <a:buNone/>
            </a:pPr>
            <a:r>
              <a:rPr lang="en-US" sz="1600" b="1" dirty="0">
                <a:solidFill>
                  <a:srgbClr val="2B7557"/>
                </a:solidFill>
                <a:latin typeface="Calibri" pitchFamily="34" charset="0"/>
                <a:ea typeface="Calibri" pitchFamily="34" charset="-122"/>
                <a:cs typeface="Calibri" pitchFamily="34" charset="-120"/>
              </a:rPr>
              <a:t>✓</a:t>
            </a:r>
            <a:endParaRPr lang="en-US" sz="1600" dirty="0"/>
          </a:p>
        </p:txBody>
      </p:sp>
      <p:sp>
        <p:nvSpPr>
          <p:cNvPr id="11" name="Text 8"/>
          <p:cNvSpPr txBox="1"/>
          <p:nvPr/>
        </p:nvSpPr>
        <p:spPr>
          <a:xfrm>
            <a:off x="1005840" y="3273552"/>
            <a:ext cx="3108960" cy="54864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No overlapping responsibilities</a:t>
            </a:r>
            <a:endParaRPr lang="en-US" sz="1300" dirty="0"/>
          </a:p>
        </p:txBody>
      </p:sp>
      <p:sp>
        <p:nvSpPr>
          <p:cNvPr id="12" name="Text 9"/>
          <p:cNvSpPr txBox="1"/>
          <p:nvPr/>
        </p:nvSpPr>
        <p:spPr>
          <a:xfrm>
            <a:off x="685800" y="3877056"/>
            <a:ext cx="274320" cy="365760"/>
          </a:xfrm>
          <a:prstGeom prst="rect">
            <a:avLst/>
          </a:prstGeom>
          <a:noFill/>
          <a:ln/>
        </p:spPr>
        <p:txBody>
          <a:bodyPr wrap="square" lIns="0" tIns="0" rIns="0" bIns="0" rtlCol="0" anchor="t"/>
          <a:lstStyle/>
          <a:p>
            <a:pPr indent="0" marL="0">
              <a:buNone/>
            </a:pPr>
            <a:r>
              <a:rPr lang="en-US" sz="1600" b="1" dirty="0">
                <a:solidFill>
                  <a:srgbClr val="2B7557"/>
                </a:solidFill>
                <a:latin typeface="Calibri" pitchFamily="34" charset="0"/>
                <a:ea typeface="Calibri" pitchFamily="34" charset="-122"/>
                <a:cs typeface="Calibri" pitchFamily="34" charset="-120"/>
              </a:rPr>
              <a:t>✓</a:t>
            </a:r>
            <a:endParaRPr lang="en-US" sz="1600" dirty="0"/>
          </a:p>
        </p:txBody>
      </p:sp>
      <p:sp>
        <p:nvSpPr>
          <p:cNvPr id="13" name="Text 10"/>
          <p:cNvSpPr txBox="1"/>
          <p:nvPr/>
        </p:nvSpPr>
        <p:spPr>
          <a:xfrm>
            <a:off x="1005840" y="3895344"/>
            <a:ext cx="3108960" cy="54864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Resource availability and capacity</a:t>
            </a:r>
            <a:endParaRPr lang="en-US" sz="1300" dirty="0"/>
          </a:p>
        </p:txBody>
      </p:sp>
      <p:sp>
        <p:nvSpPr>
          <p:cNvPr id="14" name="Text 11"/>
          <p:cNvSpPr txBox="1"/>
          <p:nvPr/>
        </p:nvSpPr>
        <p:spPr>
          <a:xfrm>
            <a:off x="685800" y="4498848"/>
            <a:ext cx="274320" cy="365760"/>
          </a:xfrm>
          <a:prstGeom prst="rect">
            <a:avLst/>
          </a:prstGeom>
          <a:noFill/>
          <a:ln/>
        </p:spPr>
        <p:txBody>
          <a:bodyPr wrap="square" lIns="0" tIns="0" rIns="0" bIns="0" rtlCol="0" anchor="t"/>
          <a:lstStyle/>
          <a:p>
            <a:pPr indent="0" marL="0">
              <a:buNone/>
            </a:pPr>
            <a:r>
              <a:rPr lang="en-US" sz="1600" b="1" dirty="0">
                <a:solidFill>
                  <a:srgbClr val="2B7557"/>
                </a:solidFill>
                <a:latin typeface="Calibri" pitchFamily="34" charset="0"/>
                <a:ea typeface="Calibri" pitchFamily="34" charset="-122"/>
                <a:cs typeface="Calibri" pitchFamily="34" charset="-120"/>
              </a:rPr>
              <a:t>✓</a:t>
            </a:r>
            <a:endParaRPr lang="en-US" sz="1600" dirty="0"/>
          </a:p>
        </p:txBody>
      </p:sp>
      <p:sp>
        <p:nvSpPr>
          <p:cNvPr id="15" name="Text 12"/>
          <p:cNvSpPr txBox="1"/>
          <p:nvPr/>
        </p:nvSpPr>
        <p:spPr>
          <a:xfrm>
            <a:off x="1005840" y="4517136"/>
            <a:ext cx="3108960" cy="54864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Dependent safety: only authorized carers</a:t>
            </a:r>
            <a:endParaRPr lang="en-US" sz="1300" dirty="0"/>
          </a:p>
        </p:txBody>
      </p:sp>
      <p:sp>
        <p:nvSpPr>
          <p:cNvPr id="16" name="Text 13"/>
          <p:cNvSpPr txBox="1"/>
          <p:nvPr/>
        </p:nvSpPr>
        <p:spPr>
          <a:xfrm>
            <a:off x="685800" y="5120640"/>
            <a:ext cx="274320" cy="365760"/>
          </a:xfrm>
          <a:prstGeom prst="rect">
            <a:avLst/>
          </a:prstGeom>
          <a:noFill/>
          <a:ln/>
        </p:spPr>
        <p:txBody>
          <a:bodyPr wrap="square" lIns="0" tIns="0" rIns="0" bIns="0" rtlCol="0" anchor="t"/>
          <a:lstStyle/>
          <a:p>
            <a:pPr indent="0" marL="0">
              <a:buNone/>
            </a:pPr>
            <a:r>
              <a:rPr lang="en-US" sz="1600" b="1" dirty="0">
                <a:solidFill>
                  <a:srgbClr val="2B7557"/>
                </a:solidFill>
                <a:latin typeface="Calibri" pitchFamily="34" charset="0"/>
                <a:ea typeface="Calibri" pitchFamily="34" charset="-122"/>
                <a:cs typeface="Calibri" pitchFamily="34" charset="-120"/>
              </a:rPr>
              <a:t>✓</a:t>
            </a:r>
            <a:endParaRPr lang="en-US" sz="1600" dirty="0"/>
          </a:p>
        </p:txBody>
      </p:sp>
      <p:sp>
        <p:nvSpPr>
          <p:cNvPr id="17" name="Text 14"/>
          <p:cNvSpPr txBox="1"/>
          <p:nvPr/>
        </p:nvSpPr>
        <p:spPr>
          <a:xfrm>
            <a:off x="1005840" y="5138928"/>
            <a:ext cx="3108960" cy="54864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Prerequisites complete before dependents</a:t>
            </a:r>
            <a:endParaRPr lang="en-US" sz="1300" dirty="0"/>
          </a:p>
        </p:txBody>
      </p:sp>
      <p:sp>
        <p:nvSpPr>
          <p:cNvPr id="18" name="Text 15"/>
          <p:cNvSpPr/>
          <p:nvPr/>
        </p:nvSpPr>
        <p:spPr>
          <a:xfrm>
            <a:off x="4297680" y="1417320"/>
            <a:ext cx="3566160" cy="411480"/>
          </a:xfrm>
          <a:prstGeom prst="roundRect">
            <a:avLst>
              <a:gd name="adj" fmla="val 17778"/>
            </a:avLst>
          </a:prstGeom>
          <a:solidFill>
            <a:srgbClr val="255E99"/>
          </a:solidFill>
          <a:ln/>
        </p:spPr>
        <p:txBody>
          <a:bodyPr wrap="square" lIns="0" tIns="152400" rIns="15240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SOFT OBJECTIVES — after coverage</a:t>
            </a:r>
            <a:endParaRPr lang="en-US" sz="1500" dirty="0"/>
          </a:p>
        </p:txBody>
      </p:sp>
      <p:sp>
        <p:nvSpPr>
          <p:cNvPr id="19" name="Text 16"/>
          <p:cNvSpPr/>
          <p:nvPr/>
        </p:nvSpPr>
        <p:spPr>
          <a:xfrm>
            <a:off x="4297680" y="2011680"/>
            <a:ext cx="3566160" cy="566928"/>
          </a:xfrm>
          <a:prstGeom prst="roundRect">
            <a:avLst>
              <a:gd name="adj" fmla="val 12903"/>
            </a:avLst>
          </a:prstGeom>
          <a:solidFill>
            <a:srgbClr val="FFFFFF"/>
          </a:solidFill>
          <a:ln w="12700">
            <a:solidFill>
              <a:srgbClr val="255E99"/>
            </a:solidFill>
          </a:ln>
        </p:spPr>
        <p:txBody>
          <a:bodyPr wrap="square" lIns="50800" tIns="101600" rIns="101600" bIns="50800" rtlCol="0" anchor="ctr"/>
          <a:lstStyle/>
          <a:p>
            <a:pPr algn="l" indent="0" marL="0">
              <a:buNone/>
            </a:pPr>
            <a:r>
              <a:rPr lang="en-US" sz="1200" b="1" dirty="0">
                <a:solidFill>
                  <a:srgbClr val="102B4E"/>
                </a:solidFill>
                <a:latin typeface="Consolas" pitchFamily="34" charset="0"/>
                <a:ea typeface="Consolas" pitchFamily="34" charset="-122"/>
                <a:cs typeface="Consolas" pitchFamily="34" charset="-120"/>
              </a:rPr>
              <a:t>Tier 0  </a:t>
            </a:r>
            <a:pPr algn="l" indent="0" marL="0">
              <a:buNone/>
            </a:pPr>
            <a:r>
              <a:rPr lang="en-US" sz="1200" dirty="0">
                <a:solidFill>
                  <a:srgbClr val="102B4E"/>
                </a:solidFill>
                <a:latin typeface="Calibri" pitchFamily="34" charset="0"/>
                <a:ea typeface="Calibri" pitchFamily="34" charset="-122"/>
                <a:cs typeface="Calibri" pitchFamily="34" charset="-120"/>
              </a:rPr>
              <a:t>essential safety &amp; dependent care</a:t>
            </a:r>
            <a:endParaRPr lang="en-US" sz="1200" dirty="0"/>
          </a:p>
        </p:txBody>
      </p:sp>
      <p:sp>
        <p:nvSpPr>
          <p:cNvPr id="20" name="Text 17"/>
          <p:cNvSpPr/>
          <p:nvPr/>
        </p:nvSpPr>
        <p:spPr>
          <a:xfrm>
            <a:off x="4297680" y="2724912"/>
            <a:ext cx="3246120" cy="566928"/>
          </a:xfrm>
          <a:prstGeom prst="roundRect">
            <a:avLst>
              <a:gd name="adj" fmla="val 12903"/>
            </a:avLst>
          </a:prstGeom>
          <a:solidFill>
            <a:srgbClr val="FFFFFF"/>
          </a:solidFill>
          <a:ln w="12700">
            <a:solidFill>
              <a:srgbClr val="255E99"/>
            </a:solidFill>
          </a:ln>
        </p:spPr>
        <p:txBody>
          <a:bodyPr wrap="square" lIns="50800" tIns="101600" rIns="101600" bIns="50800" rtlCol="0" anchor="ctr"/>
          <a:lstStyle/>
          <a:p>
            <a:pPr algn="l" indent="0" marL="0">
              <a:buNone/>
            </a:pPr>
            <a:r>
              <a:rPr lang="en-US" sz="1200" b="1" dirty="0">
                <a:solidFill>
                  <a:srgbClr val="102B4E"/>
                </a:solidFill>
                <a:latin typeface="Consolas" pitchFamily="34" charset="0"/>
                <a:ea typeface="Consolas" pitchFamily="34" charset="-122"/>
                <a:cs typeface="Consolas" pitchFamily="34" charset="-120"/>
              </a:rPr>
              <a:t>Tier 1  </a:t>
            </a:r>
            <a:pPr algn="l" indent="0" marL="0">
              <a:buNone/>
            </a:pPr>
            <a:r>
              <a:rPr lang="en-US" sz="1200" dirty="0">
                <a:solidFill>
                  <a:srgbClr val="102B4E"/>
                </a:solidFill>
                <a:latin typeface="Calibri" pitchFamily="34" charset="0"/>
                <a:ea typeface="Calibri" pitchFamily="34" charset="-122"/>
                <a:cs typeface="Calibri" pitchFamily="34" charset="-120"/>
              </a:rPr>
              <a:t>important caregiving</a:t>
            </a:r>
            <a:endParaRPr lang="en-US" sz="1200" dirty="0"/>
          </a:p>
        </p:txBody>
      </p:sp>
      <p:sp>
        <p:nvSpPr>
          <p:cNvPr id="21" name="Text 18"/>
          <p:cNvSpPr/>
          <p:nvPr/>
        </p:nvSpPr>
        <p:spPr>
          <a:xfrm>
            <a:off x="4297680" y="3438144"/>
            <a:ext cx="2926080" cy="566928"/>
          </a:xfrm>
          <a:prstGeom prst="roundRect">
            <a:avLst>
              <a:gd name="adj" fmla="val 12903"/>
            </a:avLst>
          </a:prstGeom>
          <a:solidFill>
            <a:srgbClr val="FFFFFF"/>
          </a:solidFill>
          <a:ln w="12700">
            <a:solidFill>
              <a:srgbClr val="255E99"/>
            </a:solidFill>
          </a:ln>
        </p:spPr>
        <p:txBody>
          <a:bodyPr wrap="square" lIns="50800" tIns="101600" rIns="101600" bIns="50800" rtlCol="0" anchor="ctr"/>
          <a:lstStyle/>
          <a:p>
            <a:pPr algn="l" indent="0" marL="0">
              <a:buNone/>
            </a:pPr>
            <a:r>
              <a:rPr lang="en-US" sz="1200" b="1" dirty="0">
                <a:solidFill>
                  <a:srgbClr val="102B4E"/>
                </a:solidFill>
                <a:latin typeface="Consolas" pitchFamily="34" charset="0"/>
                <a:ea typeface="Consolas" pitchFamily="34" charset="-122"/>
                <a:cs typeface="Consolas" pitchFamily="34" charset="-120"/>
              </a:rPr>
              <a:t>Tier 2  </a:t>
            </a:r>
            <a:pPr algn="l" indent="0" marL="0">
              <a:buNone/>
            </a:pPr>
            <a:r>
              <a:rPr lang="en-US" sz="1200" dirty="0">
                <a:solidFill>
                  <a:srgbClr val="102B4E"/>
                </a:solidFill>
                <a:latin typeface="Calibri" pitchFamily="34" charset="0"/>
                <a:ea typeface="Calibri" pitchFamily="34" charset="-122"/>
                <a:cs typeface="Calibri" pitchFamily="34" charset="-120"/>
              </a:rPr>
              <a:t>routine commitments</a:t>
            </a:r>
            <a:endParaRPr lang="en-US" sz="1200" dirty="0"/>
          </a:p>
        </p:txBody>
      </p:sp>
      <p:sp>
        <p:nvSpPr>
          <p:cNvPr id="22" name="Text 19"/>
          <p:cNvSpPr/>
          <p:nvPr/>
        </p:nvSpPr>
        <p:spPr>
          <a:xfrm>
            <a:off x="4297680" y="4151376"/>
            <a:ext cx="2606040" cy="566928"/>
          </a:xfrm>
          <a:prstGeom prst="roundRect">
            <a:avLst>
              <a:gd name="adj" fmla="val 12903"/>
            </a:avLst>
          </a:prstGeom>
          <a:solidFill>
            <a:srgbClr val="FFFFFF"/>
          </a:solidFill>
          <a:ln w="12700">
            <a:solidFill>
              <a:srgbClr val="255E99"/>
            </a:solidFill>
          </a:ln>
        </p:spPr>
        <p:txBody>
          <a:bodyPr wrap="square" lIns="50800" tIns="101600" rIns="101600" bIns="50800" rtlCol="0" anchor="ctr"/>
          <a:lstStyle/>
          <a:p>
            <a:pPr algn="l" indent="0" marL="0">
              <a:buNone/>
            </a:pPr>
            <a:r>
              <a:rPr lang="en-US" sz="1200" b="1" dirty="0">
                <a:solidFill>
                  <a:srgbClr val="102B4E"/>
                </a:solidFill>
                <a:latin typeface="Consolas" pitchFamily="34" charset="0"/>
                <a:ea typeface="Consolas" pitchFamily="34" charset="-122"/>
                <a:cs typeface="Consolas" pitchFamily="34" charset="-120"/>
              </a:rPr>
              <a:t>Tier 3  </a:t>
            </a:r>
            <a:pPr algn="l" indent="0" marL="0">
              <a:buNone/>
            </a:pPr>
            <a:r>
              <a:rPr lang="en-US" sz="1200" dirty="0">
                <a:solidFill>
                  <a:srgbClr val="102B4E"/>
                </a:solidFill>
                <a:latin typeface="Calibri" pitchFamily="34" charset="0"/>
                <a:ea typeface="Calibri" pitchFamily="34" charset="-122"/>
                <a:cs typeface="Calibri" pitchFamily="34" charset="-120"/>
              </a:rPr>
              <a:t>deferrable convenience</a:t>
            </a:r>
            <a:endParaRPr lang="en-US" sz="1200" dirty="0"/>
          </a:p>
        </p:txBody>
      </p:sp>
      <p:sp>
        <p:nvSpPr>
          <p:cNvPr id="23" name="Text 20"/>
          <p:cNvSpPr/>
          <p:nvPr/>
        </p:nvSpPr>
        <p:spPr>
          <a:xfrm>
            <a:off x="4297680" y="4864608"/>
            <a:ext cx="2286000" cy="566928"/>
          </a:xfrm>
          <a:prstGeom prst="roundRect">
            <a:avLst>
              <a:gd name="adj" fmla="val 12903"/>
            </a:avLst>
          </a:prstGeom>
          <a:solidFill>
            <a:srgbClr val="FFFFFF"/>
          </a:solidFill>
          <a:ln w="12700">
            <a:solidFill>
              <a:srgbClr val="47789F"/>
            </a:solidFill>
          </a:ln>
        </p:spPr>
        <p:txBody>
          <a:bodyPr wrap="square" lIns="50800" tIns="101600" rIns="101600" bIns="50800" rtlCol="0" anchor="ctr"/>
          <a:lstStyle/>
          <a:p>
            <a:pPr algn="l" indent="0" marL="0">
              <a:buNone/>
            </a:pPr>
            <a:r>
              <a:rPr lang="en-US" sz="1200" b="1" dirty="0">
                <a:solidFill>
                  <a:srgbClr val="102B4E"/>
                </a:solidFill>
                <a:latin typeface="Consolas" pitchFamily="34" charset="0"/>
                <a:ea typeface="Consolas" pitchFamily="34" charset="-122"/>
                <a:cs typeface="Consolas" pitchFamily="34" charset="-120"/>
              </a:rPr>
              <a:t>then  </a:t>
            </a:r>
            <a:pPr algn="l" indent="0" marL="0">
              <a:buNone/>
            </a:pPr>
            <a:r>
              <a:rPr lang="en-US" sz="1200" dirty="0">
                <a:solidFill>
                  <a:srgbClr val="102B4E"/>
                </a:solidFill>
                <a:latin typeface="Calibri" pitchFamily="34" charset="0"/>
                <a:ea typeface="Calibri" pitchFamily="34" charset="-122"/>
                <a:cs typeface="Calibri" pitchFamily="34" charset="-120"/>
              </a:rPr>
              <a:t>preserve assignments · least displacement · balance</a:t>
            </a:r>
            <a:endParaRPr lang="en-US" sz="1200" dirty="0"/>
          </a:p>
        </p:txBody>
      </p:sp>
      <p:sp>
        <p:nvSpPr>
          <p:cNvPr id="24" name="Text 21"/>
          <p:cNvSpPr txBox="1"/>
          <p:nvPr/>
        </p:nvSpPr>
        <p:spPr>
          <a:xfrm>
            <a:off x="4297680" y="5623560"/>
            <a:ext cx="3566160" cy="502920"/>
          </a:xfrm>
          <a:prstGeom prst="rect">
            <a:avLst/>
          </a:prstGeom>
          <a:noFill/>
          <a:ln/>
        </p:spPr>
        <p:txBody>
          <a:bodyPr wrap="square" lIns="0" tIns="0" rIns="0" bIns="0" rtlCol="0" anchor="t"/>
          <a:lstStyle/>
          <a:p>
            <a:pPr indent="0" marL="0">
              <a:buNone/>
            </a:pPr>
            <a:r>
              <a:rPr lang="en-US" sz="1100" i="1" dirty="0">
                <a:solidFill>
                  <a:srgbClr val="5B6B7F"/>
                </a:solidFill>
                <a:latin typeface="Calibri" pitchFamily="34" charset="0"/>
                <a:ea typeface="Calibri" pitchFamily="34" charset="-122"/>
                <a:cs typeface="Calibri" pitchFamily="34" charset="-120"/>
              </a:rPr>
              <a:t>Lexicographic: optimize Tier 0, fix it, then Tier 1 … so low tiers can never outweigh essentials.</a:t>
            </a:r>
            <a:endParaRPr lang="en-US" sz="1100" dirty="0"/>
          </a:p>
        </p:txBody>
      </p:sp>
      <p:sp>
        <p:nvSpPr>
          <p:cNvPr id="25" name="Text 22"/>
          <p:cNvSpPr/>
          <p:nvPr/>
        </p:nvSpPr>
        <p:spPr>
          <a:xfrm>
            <a:off x="8046720" y="1417320"/>
            <a:ext cx="3566160" cy="411480"/>
          </a:xfrm>
          <a:prstGeom prst="roundRect">
            <a:avLst>
              <a:gd name="adj" fmla="val 17778"/>
            </a:avLst>
          </a:prstGeom>
          <a:solidFill>
            <a:srgbClr val="A23A3D"/>
          </a:solidFill>
          <a:ln/>
        </p:spPr>
        <p:txBody>
          <a:bodyPr wrap="square" lIns="0" tIns="152400" rIns="15240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REJECTED CANDIDATE — reason codes</a:t>
            </a:r>
            <a:endParaRPr lang="en-US" sz="1500" dirty="0"/>
          </a:p>
        </p:txBody>
      </p:sp>
      <p:sp>
        <p:nvSpPr>
          <p:cNvPr id="26" name="Shape 23"/>
          <p:cNvSpPr/>
          <p:nvPr/>
        </p:nvSpPr>
        <p:spPr>
          <a:xfrm>
            <a:off x="8046720" y="1828800"/>
            <a:ext cx="3566160" cy="4206240"/>
          </a:xfrm>
          <a:prstGeom prst="roundRect">
            <a:avLst>
              <a:gd name="adj" fmla="val 2051"/>
            </a:avLst>
          </a:prstGeom>
          <a:solidFill>
            <a:srgbClr val="FFFFFF"/>
          </a:solidFill>
          <a:ln w="12700">
            <a:solidFill>
              <a:srgbClr val="A23A3D"/>
            </a:solidFill>
            <a:prstDash val="solid"/>
          </a:ln>
        </p:spPr>
      </p:sp>
      <p:sp>
        <p:nvSpPr>
          <p:cNvPr id="27" name="Text 24"/>
          <p:cNvSpPr txBox="1"/>
          <p:nvPr/>
        </p:nvSpPr>
        <p:spPr>
          <a:xfrm>
            <a:off x="8229600" y="1965960"/>
            <a:ext cx="3200400" cy="365760"/>
          </a:xfrm>
          <a:prstGeom prst="rect">
            <a:avLst/>
          </a:prstGeom>
          <a:noFill/>
          <a:ln/>
        </p:spPr>
        <p:txBody>
          <a:bodyPr wrap="square" lIns="0" tIns="0" rIns="0" bIns="0" rtlCol="0" anchor="t"/>
          <a:lstStyle/>
          <a:p>
            <a:pPr indent="0" marL="0">
              <a:buNone/>
            </a:pPr>
            <a:r>
              <a:rPr lang="en-US" sz="1700" b="1" dirty="0">
                <a:solidFill>
                  <a:srgbClr val="A23A3D"/>
                </a:solidFill>
                <a:latin typeface="Calibri" pitchFamily="34" charset="0"/>
                <a:ea typeface="Calibri" pitchFamily="34" charset="-122"/>
                <a:cs typeface="Calibri" pitchFamily="34" charset="-120"/>
              </a:rPr>
              <a:t>Noura → School pickup  ✗</a:t>
            </a:r>
            <a:endParaRPr lang="en-US" sz="1700" dirty="0"/>
          </a:p>
        </p:txBody>
      </p:sp>
      <p:sp>
        <p:nvSpPr>
          <p:cNvPr id="28" name="Text 25"/>
          <p:cNvSpPr txBox="1"/>
          <p:nvPr/>
        </p:nvSpPr>
        <p:spPr>
          <a:xfrm>
            <a:off x="8229600" y="2423160"/>
            <a:ext cx="3291840" cy="2377440"/>
          </a:xfrm>
          <a:prstGeom prst="rect">
            <a:avLst/>
          </a:prstGeom>
          <a:noFill/>
          <a:ln/>
        </p:spPr>
        <p:txBody>
          <a:bodyPr wrap="square" lIns="0" tIns="0" rIns="0" bIns="0" rtlCol="0" anchor="t"/>
          <a:lstStyle/>
          <a:p>
            <a:pPr indent="0" marL="0">
              <a:buNone/>
            </a:pPr>
            <a:r>
              <a:rPr lang="en-US" sz="1100" dirty="0">
                <a:solidFill>
                  <a:srgbClr val="1B2533"/>
                </a:solidFill>
                <a:latin typeface="Consolas" pitchFamily="34" charset="0"/>
                <a:ea typeface="Consolas" pitchFamily="34" charset="-122"/>
                <a:cs typeface="Consolas" pitchFamily="34" charset="-120"/>
              </a:rPr>
              <a:t>MISSING_SKILL</a:t>
            </a:r>
            <a:endParaRPr lang="en-US" sz="1100" dirty="0"/>
          </a:p>
          <a:p>
            <a:pPr indent="0" marL="0">
              <a:buNone/>
            </a:pPr>
            <a:r>
              <a:rPr lang="en-US" sz="1100" dirty="0">
                <a:solidFill>
                  <a:srgbClr val="1B2533"/>
                </a:solidFill>
                <a:latin typeface="Consolas" pitchFamily="34" charset="0"/>
                <a:ea typeface="Consolas" pitchFamily="34" charset="-122"/>
                <a:cs typeface="Consolas" pitchFamily="34" charset="-120"/>
              </a:rPr>
              <a:t>  lacks skill 'driving'</a:t>
            </a:r>
            <a:endParaRPr lang="en-US" sz="1100" dirty="0"/>
          </a:p>
          <a:p>
            <a:pPr indent="0" marL="0">
              <a:buNone/>
            </a:pPr>
            <a:r>
              <a:rPr lang="en-US" sz="1100" dirty="0">
                <a:solidFill>
                  <a:srgbClr val="1B2533"/>
                </a:solidFill>
                <a:latin typeface="Consolas" pitchFamily="34" charset="0"/>
                <a:ea typeface="Consolas" pitchFamily="34" charset="-122"/>
                <a:cs typeface="Consolas" pitchFamily="34" charset="-120"/>
              </a:rPr>
              <a:t>MISSING_PERMISSION</a:t>
            </a:r>
            <a:endParaRPr lang="en-US" sz="1100" dirty="0"/>
          </a:p>
          <a:p>
            <a:pPr indent="0" marL="0">
              <a:buNone/>
            </a:pPr>
            <a:r>
              <a:rPr lang="en-US" sz="1100" dirty="0">
                <a:solidFill>
                  <a:srgbClr val="1B2533"/>
                </a:solidFill>
                <a:latin typeface="Consolas" pitchFamily="34" charset="0"/>
                <a:ea typeface="Consolas" pitchFamily="34" charset="-122"/>
                <a:cs typeface="Consolas" pitchFamily="34" charset="-120"/>
              </a:rPr>
              <a:t>  lacks 'drive'</a:t>
            </a:r>
            <a:endParaRPr lang="en-US" sz="1100" dirty="0"/>
          </a:p>
          <a:p>
            <a:pPr indent="0" marL="0">
              <a:buNone/>
            </a:pPr>
            <a:r>
              <a:rPr lang="en-US" sz="1100" dirty="0">
                <a:solidFill>
                  <a:srgbClr val="1B2533"/>
                </a:solidFill>
                <a:latin typeface="Consolas" pitchFamily="34" charset="0"/>
                <a:ea typeface="Consolas" pitchFamily="34" charset="-122"/>
                <a:cs typeface="Consolas" pitchFamily="34" charset="-120"/>
              </a:rPr>
              <a:t>  lacks 'pickup_authorized'</a:t>
            </a:r>
            <a:endParaRPr lang="en-US" sz="1100" dirty="0"/>
          </a:p>
          <a:p>
            <a:pPr indent="0" marL="0">
              <a:buNone/>
            </a:pPr>
            <a:r>
              <a:rPr lang="en-US" sz="1100" dirty="0">
                <a:solidFill>
                  <a:srgbClr val="1B2533"/>
                </a:solidFill>
                <a:latin typeface="Consolas" pitchFamily="34" charset="0"/>
                <a:ea typeface="Consolas" pitchFamily="34" charset="-122"/>
                <a:cs typeface="Consolas" pitchFamily="34" charset="-120"/>
              </a:rPr>
              <a:t>RESTRICTED</a:t>
            </a:r>
            <a:endParaRPr lang="en-US" sz="1100" dirty="0"/>
          </a:p>
          <a:p>
            <a:pPr indent="0" marL="0">
              <a:buNone/>
            </a:pPr>
            <a:r>
              <a:rPr lang="en-US" sz="1100" dirty="0">
                <a:solidFill>
                  <a:srgbClr val="1B2533"/>
                </a:solidFill>
                <a:latin typeface="Consolas" pitchFamily="34" charset="0"/>
                <a:ea typeface="Consolas" pitchFamily="34" charset="-122"/>
                <a:cs typeface="Consolas" pitchFamily="34" charset="-120"/>
              </a:rPr>
              <a:t>  restriction 'drive'</a:t>
            </a:r>
            <a:endParaRPr lang="en-US" sz="1100" dirty="0"/>
          </a:p>
          <a:p>
            <a:pPr indent="0" marL="0">
              <a:buNone/>
            </a:pPr>
            <a:r>
              <a:rPr lang="en-US" sz="1100" dirty="0">
                <a:solidFill>
                  <a:srgbClr val="1B2533"/>
                </a:solidFill>
                <a:latin typeface="Consolas" pitchFamily="34" charset="0"/>
                <a:ea typeface="Consolas" pitchFamily="34" charset="-122"/>
                <a:cs typeface="Consolas" pitchFamily="34" charset="-120"/>
              </a:rPr>
              <a:t>  restriction 'pickup_authorized'</a:t>
            </a:r>
            <a:endParaRPr lang="en-US" sz="1100" dirty="0"/>
          </a:p>
        </p:txBody>
      </p:sp>
      <p:sp>
        <p:nvSpPr>
          <p:cNvPr id="29" name="Text 26"/>
          <p:cNvSpPr txBox="1"/>
          <p:nvPr/>
        </p:nvSpPr>
        <p:spPr>
          <a:xfrm>
            <a:off x="8229600" y="4892040"/>
            <a:ext cx="3200400" cy="548640"/>
          </a:xfrm>
          <a:prstGeom prst="rect">
            <a:avLst/>
          </a:prstGeom>
          <a:noFill/>
          <a:ln/>
        </p:spPr>
        <p:txBody>
          <a:bodyPr wrap="square" lIns="0" tIns="0" rIns="0" bIns="0" rtlCol="0" anchor="t"/>
          <a:lstStyle/>
          <a:p>
            <a:pPr indent="0" marL="0">
              <a:buNone/>
            </a:pPr>
            <a:r>
              <a:rPr lang="en-US" sz="1200" dirty="0">
                <a:solidFill>
                  <a:srgbClr val="1B2533"/>
                </a:solidFill>
                <a:latin typeface="Calibri" pitchFamily="34" charset="0"/>
                <a:ea typeface="Calibri" pitchFamily="34" charset="-122"/>
                <a:cs typeface="Calibri" pitchFamily="34" charset="-120"/>
              </a:rPr>
              <a:t>Yusuf: DEPENDENT_MEMBER — never assigned responsibilities.</a:t>
            </a:r>
            <a:endParaRPr lang="en-US" sz="1200" dirty="0"/>
          </a:p>
        </p:txBody>
      </p:sp>
      <p:sp>
        <p:nvSpPr>
          <p:cNvPr id="30" name="Text 27"/>
          <p:cNvSpPr txBox="1"/>
          <p:nvPr/>
        </p:nvSpPr>
        <p:spPr>
          <a:xfrm>
            <a:off x="8229600" y="5486400"/>
            <a:ext cx="3200400" cy="502920"/>
          </a:xfrm>
          <a:prstGeom prst="rect">
            <a:avLst/>
          </a:prstGeom>
          <a:noFill/>
          <a:ln/>
        </p:spPr>
        <p:txBody>
          <a:bodyPr wrap="square" lIns="0" tIns="0" rIns="0" bIns="0" rtlCol="0" anchor="t"/>
          <a:lstStyle/>
          <a:p>
            <a:pPr indent="0" marL="0">
              <a:buNone/>
            </a:pPr>
            <a:r>
              <a:rPr lang="en-US" sz="1200" b="1" dirty="0">
                <a:solidFill>
                  <a:srgbClr val="A23A3D"/>
                </a:solidFill>
                <a:latin typeface="Calibri" pitchFamily="34" charset="0"/>
                <a:ea typeface="Calibri" pitchFamily="34" charset="-122"/>
                <a:cs typeface="Calibri" pitchFamily="34" charset="-120"/>
              </a:rPr>
              <a:t>DOMINO will not invent a caregiver, permission or resource.</a:t>
            </a:r>
            <a:endParaRPr lang="en-US" sz="1200" dirty="0"/>
          </a:p>
        </p:txBody>
      </p:sp>
      <p:sp>
        <p:nvSpPr>
          <p:cNvPr id="31"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candidate_generation.py / explanations.py; reason codes copied from the solver’s explanation records (live run).</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IV · THE EVIDENCE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Independent verification</a:t>
            </a:r>
            <a:endParaRPr lang="en-US" sz="3200" dirty="0"/>
          </a:p>
        </p:txBody>
      </p:sp>
      <p:sp>
        <p:nvSpPr>
          <p:cNvPr id="5" name="Text 2"/>
          <p:cNvSpPr/>
          <p:nvPr/>
        </p:nvSpPr>
        <p:spPr>
          <a:xfrm>
            <a:off x="548640" y="1463040"/>
            <a:ext cx="3657600" cy="777240"/>
          </a:xfrm>
          <a:prstGeom prst="roundRect">
            <a:avLst>
              <a:gd name="adj" fmla="val 9412"/>
            </a:avLst>
          </a:prstGeom>
          <a:solidFill>
            <a:srgbClr val="102B4E"/>
          </a:solidFill>
          <a:ln/>
        </p:spPr>
        <p:txBody>
          <a:bodyPr wrap="square" lIns="50800" tIns="101600" rIns="101600" bIns="508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CP-SAT optimizer</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proposes assignments</a:t>
            </a:r>
            <a:endParaRPr lang="en-US" sz="1500" dirty="0"/>
          </a:p>
        </p:txBody>
      </p:sp>
      <p:sp>
        <p:nvSpPr>
          <p:cNvPr id="6" name="Shape 3"/>
          <p:cNvSpPr/>
          <p:nvPr/>
        </p:nvSpPr>
        <p:spPr>
          <a:xfrm>
            <a:off x="2377440" y="2286000"/>
            <a:ext cx="0" cy="502920"/>
          </a:xfrm>
          <a:prstGeom prst="line">
            <a:avLst/>
          </a:prstGeom>
          <a:noFill/>
          <a:ln w="25400">
            <a:solidFill>
              <a:srgbClr val="47789F"/>
            </a:solidFill>
            <a:prstDash val="solid"/>
            <a:tailEnd type="triangle"/>
          </a:ln>
        </p:spPr>
      </p:sp>
      <p:sp>
        <p:nvSpPr>
          <p:cNvPr id="7" name="Text 4"/>
          <p:cNvSpPr txBox="1"/>
          <p:nvPr/>
        </p:nvSpPr>
        <p:spPr>
          <a:xfrm>
            <a:off x="2514600" y="2423160"/>
            <a:ext cx="1645920" cy="228600"/>
          </a:xfrm>
          <a:prstGeom prst="rect">
            <a:avLst/>
          </a:prstGeom>
          <a:noFill/>
          <a:ln/>
        </p:spPr>
        <p:txBody>
          <a:bodyPr wrap="square" lIns="0" tIns="0" rIns="0" bIns="0" rtlCol="0" anchor="t"/>
          <a:lstStyle/>
          <a:p>
            <a:pPr indent="0" marL="0">
              <a:buNone/>
            </a:pPr>
            <a:r>
              <a:rPr lang="en-US" sz="1000" dirty="0">
                <a:solidFill>
                  <a:srgbClr val="47789F"/>
                </a:solidFill>
                <a:latin typeface="Consolas" pitchFamily="34" charset="0"/>
                <a:ea typeface="Consolas" pitchFamily="34" charset="-122"/>
                <a:cs typeface="Consolas" pitchFamily="34" charset="-120"/>
              </a:rPr>
              <a:t>no shared code</a:t>
            </a:r>
            <a:endParaRPr lang="en-US" sz="1000" dirty="0"/>
          </a:p>
        </p:txBody>
      </p:sp>
      <p:sp>
        <p:nvSpPr>
          <p:cNvPr id="8" name="Text 5"/>
          <p:cNvSpPr/>
          <p:nvPr/>
        </p:nvSpPr>
        <p:spPr>
          <a:xfrm>
            <a:off x="548640" y="2834640"/>
            <a:ext cx="3657600" cy="777240"/>
          </a:xfrm>
          <a:prstGeom prst="roundRect">
            <a:avLst>
              <a:gd name="adj" fmla="val 9412"/>
            </a:avLst>
          </a:prstGeom>
          <a:solidFill>
            <a:srgbClr val="2B7557"/>
          </a:solidFill>
          <a:ln/>
        </p:spPr>
        <p:txBody>
          <a:bodyPr wrap="square" lIns="50800" tIns="101600" rIns="101600" bIns="508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Independent verifier</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recomputes every rule from raw data</a:t>
            </a:r>
            <a:endParaRPr lang="en-US" sz="1500" dirty="0"/>
          </a:p>
        </p:txBody>
      </p:sp>
      <p:sp>
        <p:nvSpPr>
          <p:cNvPr id="9" name="Shape 6"/>
          <p:cNvSpPr/>
          <p:nvPr/>
        </p:nvSpPr>
        <p:spPr>
          <a:xfrm>
            <a:off x="2377440" y="3657600"/>
            <a:ext cx="0" cy="502920"/>
          </a:xfrm>
          <a:prstGeom prst="line">
            <a:avLst/>
          </a:prstGeom>
          <a:noFill/>
          <a:ln w="25400">
            <a:solidFill>
              <a:srgbClr val="47789F"/>
            </a:solidFill>
            <a:prstDash val="solid"/>
            <a:tailEnd type="triangle"/>
          </a:ln>
        </p:spPr>
      </p:sp>
      <p:sp>
        <p:nvSpPr>
          <p:cNvPr id="10" name="Shape 7"/>
          <p:cNvSpPr/>
          <p:nvPr/>
        </p:nvSpPr>
        <p:spPr>
          <a:xfrm>
            <a:off x="548640" y="4206240"/>
            <a:ext cx="3657600" cy="1783080"/>
          </a:xfrm>
          <a:prstGeom prst="roundRect">
            <a:avLst>
              <a:gd name="adj" fmla="val 4103"/>
            </a:avLst>
          </a:prstGeom>
          <a:solidFill>
            <a:srgbClr val="E2F2EA"/>
          </a:solidFill>
          <a:ln w="12700">
            <a:solidFill>
              <a:srgbClr val="2B7557"/>
            </a:solidFill>
            <a:prstDash val="solid"/>
          </a:ln>
        </p:spPr>
      </p:sp>
      <p:sp>
        <p:nvSpPr>
          <p:cNvPr id="11" name="Text 8"/>
          <p:cNvSpPr txBox="1"/>
          <p:nvPr/>
        </p:nvSpPr>
        <p:spPr>
          <a:xfrm>
            <a:off x="731520" y="4279392"/>
            <a:ext cx="3291840" cy="731520"/>
          </a:xfrm>
          <a:prstGeom prst="rect">
            <a:avLst/>
          </a:prstGeom>
          <a:noFill/>
          <a:ln/>
        </p:spPr>
        <p:txBody>
          <a:bodyPr wrap="square" lIns="0" tIns="0" rIns="0" bIns="0" rtlCol="0" anchor="t"/>
          <a:lstStyle/>
          <a:p>
            <a:pPr indent="0" marL="0">
              <a:buNone/>
            </a:pPr>
            <a:r>
              <a:rPr lang="en-US" sz="4400" b="1" dirty="0">
                <a:solidFill>
                  <a:srgbClr val="2B7557"/>
                </a:solidFill>
                <a:latin typeface="Calibri" pitchFamily="34" charset="0"/>
                <a:ea typeface="Calibri" pitchFamily="34" charset="-122"/>
                <a:cs typeface="Calibri" pitchFamily="34" charset="-120"/>
              </a:rPr>
              <a:t>56 / 56</a:t>
            </a:r>
            <a:endParaRPr lang="en-US" sz="4400" dirty="0"/>
          </a:p>
        </p:txBody>
      </p:sp>
      <p:sp>
        <p:nvSpPr>
          <p:cNvPr id="12" name="Text 9"/>
          <p:cNvSpPr txBox="1"/>
          <p:nvPr/>
        </p:nvSpPr>
        <p:spPr>
          <a:xfrm>
            <a:off x="731520" y="5029200"/>
            <a:ext cx="3291840" cy="822960"/>
          </a:xfrm>
          <a:prstGeom prst="rect">
            <a:avLst/>
          </a:prstGeom>
          <a:noFill/>
          <a:ln/>
        </p:spPr>
        <p:txBody>
          <a:bodyPr wrap="square" lIns="0" tIns="0" rIns="0" bIns="0" rtlCol="0" anchor="t"/>
          <a:lstStyle/>
          <a:p>
            <a:pPr indent="0" marL="0">
              <a:buNone/>
            </a:pPr>
            <a:r>
              <a:rPr lang="en-US" sz="1200" dirty="0">
                <a:solidFill>
                  <a:srgbClr val="1B2533"/>
                </a:solidFill>
                <a:latin typeface="Calibri" pitchFamily="34" charset="0"/>
                <a:ea typeface="Calibri" pitchFamily="34" charset="-122"/>
                <a:cs typeface="Calibri" pitchFamily="34" charset="-120"/>
              </a:rPr>
              <a:t>checks passed · 18 rules · 0 hard violations</a:t>
            </a:r>
            <a:endParaRPr lang="en-US" sz="1200" dirty="0"/>
          </a:p>
          <a:p>
            <a:pPr indent="0" marL="0">
              <a:buNone/>
            </a:pPr>
            <a:r>
              <a:rPr lang="en-US" sz="1200" dirty="0">
                <a:solidFill>
                  <a:srgbClr val="1B2533"/>
                </a:solidFill>
                <a:latin typeface="Calibri" pitchFamily="34" charset="0"/>
                <a:ea typeface="Calibri" pitchFamily="34" charset="-122"/>
                <a:cs typeface="Calibri" pitchFamily="34" charset="-120"/>
              </a:rPr>
              <a:t>(flagship plan, re-run live)</a:t>
            </a:r>
            <a:endParaRPr lang="en-US" sz="1200" dirty="0"/>
          </a:p>
        </p:txBody>
      </p:sp>
      <p:sp>
        <p:nvSpPr>
          <p:cNvPr id="13" name="Text 10"/>
          <p:cNvSpPr txBox="1"/>
          <p:nvPr/>
        </p:nvSpPr>
        <p:spPr>
          <a:xfrm>
            <a:off x="4526280" y="1417320"/>
            <a:ext cx="3840480" cy="320040"/>
          </a:xfrm>
          <a:prstGeom prst="rect">
            <a:avLst/>
          </a:prstGeom>
          <a:noFill/>
          <a:ln/>
        </p:spPr>
        <p:txBody>
          <a:bodyPr wrap="square" lIns="0" tIns="0" rIns="0" bIns="0" rtlCol="0" anchor="t"/>
          <a:lstStyle/>
          <a:p>
            <a:pPr indent="0" marL="0">
              <a:buNone/>
            </a:pPr>
            <a:r>
              <a:rPr lang="en-US" sz="1700" b="1" dirty="0">
                <a:solidFill>
                  <a:srgbClr val="102B4E"/>
                </a:solidFill>
                <a:latin typeface="Calibri" pitchFamily="34" charset="0"/>
                <a:ea typeface="Calibri" pitchFamily="34" charset="-122"/>
                <a:cs typeface="Calibri" pitchFamily="34" charset="-120"/>
              </a:rPr>
              <a:t>What it checks</a:t>
            </a:r>
            <a:endParaRPr lang="en-US" sz="1700" dirty="0"/>
          </a:p>
        </p:txBody>
      </p:sp>
      <p:sp>
        <p:nvSpPr>
          <p:cNvPr id="14" name="Text 11"/>
          <p:cNvSpPr txBox="1"/>
          <p:nvPr/>
        </p:nvSpPr>
        <p:spPr>
          <a:xfrm>
            <a:off x="4526280" y="1828800"/>
            <a:ext cx="274320" cy="365760"/>
          </a:xfrm>
          <a:prstGeom prst="rect">
            <a:avLst/>
          </a:prstGeom>
          <a:noFill/>
          <a:ln/>
        </p:spPr>
        <p:txBody>
          <a:bodyPr wrap="square" lIns="0" tIns="0" rIns="0" bIns="0" rtlCol="0" anchor="t"/>
          <a:lstStyle/>
          <a:p>
            <a:pPr indent="0" marL="0">
              <a:buNone/>
            </a:pPr>
            <a:r>
              <a:rPr lang="en-US" sz="1400" b="1" dirty="0">
                <a:solidFill>
                  <a:srgbClr val="2B7557"/>
                </a:solidFill>
                <a:latin typeface="Calibri" pitchFamily="34" charset="0"/>
                <a:ea typeface="Calibri" pitchFamily="34" charset="-122"/>
                <a:cs typeface="Calibri" pitchFamily="34" charset="-120"/>
              </a:rPr>
              <a:t>✓</a:t>
            </a:r>
            <a:endParaRPr lang="en-US" sz="1400" dirty="0"/>
          </a:p>
        </p:txBody>
      </p:sp>
      <p:sp>
        <p:nvSpPr>
          <p:cNvPr id="15" name="Text 12"/>
          <p:cNvSpPr txBox="1"/>
          <p:nvPr/>
        </p:nvSpPr>
        <p:spPr>
          <a:xfrm>
            <a:off x="4846320" y="1856232"/>
            <a:ext cx="3566160" cy="36576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Eligibility and skills</a:t>
            </a:r>
            <a:endParaRPr lang="en-US" sz="1300" dirty="0"/>
          </a:p>
        </p:txBody>
      </p:sp>
      <p:sp>
        <p:nvSpPr>
          <p:cNvPr id="16" name="Text 13"/>
          <p:cNvSpPr txBox="1"/>
          <p:nvPr/>
        </p:nvSpPr>
        <p:spPr>
          <a:xfrm>
            <a:off x="4526280" y="2249424"/>
            <a:ext cx="274320" cy="365760"/>
          </a:xfrm>
          <a:prstGeom prst="rect">
            <a:avLst/>
          </a:prstGeom>
          <a:noFill/>
          <a:ln/>
        </p:spPr>
        <p:txBody>
          <a:bodyPr wrap="square" lIns="0" tIns="0" rIns="0" bIns="0" rtlCol="0" anchor="t"/>
          <a:lstStyle/>
          <a:p>
            <a:pPr indent="0" marL="0">
              <a:buNone/>
            </a:pPr>
            <a:r>
              <a:rPr lang="en-US" sz="1400" b="1" dirty="0">
                <a:solidFill>
                  <a:srgbClr val="2B7557"/>
                </a:solidFill>
                <a:latin typeface="Calibri" pitchFamily="34" charset="0"/>
                <a:ea typeface="Calibri" pitchFamily="34" charset="-122"/>
                <a:cs typeface="Calibri" pitchFamily="34" charset="-120"/>
              </a:rPr>
              <a:t>✓</a:t>
            </a:r>
            <a:endParaRPr lang="en-US" sz="1400" dirty="0"/>
          </a:p>
        </p:txBody>
      </p:sp>
      <p:sp>
        <p:nvSpPr>
          <p:cNvPr id="17" name="Text 14"/>
          <p:cNvSpPr txBox="1"/>
          <p:nvPr/>
        </p:nvSpPr>
        <p:spPr>
          <a:xfrm>
            <a:off x="4846320" y="2276856"/>
            <a:ext cx="3566160" cy="36576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Explicit permissions &amp; restrictions</a:t>
            </a:r>
            <a:endParaRPr lang="en-US" sz="1300" dirty="0"/>
          </a:p>
        </p:txBody>
      </p:sp>
      <p:sp>
        <p:nvSpPr>
          <p:cNvPr id="18" name="Text 15"/>
          <p:cNvSpPr txBox="1"/>
          <p:nvPr/>
        </p:nvSpPr>
        <p:spPr>
          <a:xfrm>
            <a:off x="4526280" y="2670048"/>
            <a:ext cx="274320" cy="365760"/>
          </a:xfrm>
          <a:prstGeom prst="rect">
            <a:avLst/>
          </a:prstGeom>
          <a:noFill/>
          <a:ln/>
        </p:spPr>
        <p:txBody>
          <a:bodyPr wrap="square" lIns="0" tIns="0" rIns="0" bIns="0" rtlCol="0" anchor="t"/>
          <a:lstStyle/>
          <a:p>
            <a:pPr indent="0" marL="0">
              <a:buNone/>
            </a:pPr>
            <a:r>
              <a:rPr lang="en-US" sz="1400" b="1" dirty="0">
                <a:solidFill>
                  <a:srgbClr val="2B7557"/>
                </a:solidFill>
                <a:latin typeface="Calibri" pitchFamily="34" charset="0"/>
                <a:ea typeface="Calibri" pitchFamily="34" charset="-122"/>
                <a:cs typeface="Calibri" pitchFamily="34" charset="-120"/>
              </a:rPr>
              <a:t>✓</a:t>
            </a:r>
            <a:endParaRPr lang="en-US" sz="1400" dirty="0"/>
          </a:p>
        </p:txBody>
      </p:sp>
      <p:sp>
        <p:nvSpPr>
          <p:cNvPr id="19" name="Text 16"/>
          <p:cNvSpPr txBox="1"/>
          <p:nvPr/>
        </p:nvSpPr>
        <p:spPr>
          <a:xfrm>
            <a:off x="4846320" y="2697480"/>
            <a:ext cx="3566160" cy="36576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Member availability</a:t>
            </a:r>
            <a:endParaRPr lang="en-US" sz="1300" dirty="0"/>
          </a:p>
        </p:txBody>
      </p:sp>
      <p:sp>
        <p:nvSpPr>
          <p:cNvPr id="20" name="Text 17"/>
          <p:cNvSpPr txBox="1"/>
          <p:nvPr/>
        </p:nvSpPr>
        <p:spPr>
          <a:xfrm>
            <a:off x="4526280" y="3090672"/>
            <a:ext cx="274320" cy="365760"/>
          </a:xfrm>
          <a:prstGeom prst="rect">
            <a:avLst/>
          </a:prstGeom>
          <a:noFill/>
          <a:ln/>
        </p:spPr>
        <p:txBody>
          <a:bodyPr wrap="square" lIns="0" tIns="0" rIns="0" bIns="0" rtlCol="0" anchor="t"/>
          <a:lstStyle/>
          <a:p>
            <a:pPr indent="0" marL="0">
              <a:buNone/>
            </a:pPr>
            <a:r>
              <a:rPr lang="en-US" sz="1400" b="1" dirty="0">
                <a:solidFill>
                  <a:srgbClr val="2B7557"/>
                </a:solidFill>
                <a:latin typeface="Calibri" pitchFamily="34" charset="0"/>
                <a:ea typeface="Calibri" pitchFamily="34" charset="-122"/>
                <a:cs typeface="Calibri" pitchFamily="34" charset="-120"/>
              </a:rPr>
              <a:t>✓</a:t>
            </a:r>
            <a:endParaRPr lang="en-US" sz="1400" dirty="0"/>
          </a:p>
        </p:txBody>
      </p:sp>
      <p:sp>
        <p:nvSpPr>
          <p:cNvPr id="21" name="Text 18"/>
          <p:cNvSpPr txBox="1"/>
          <p:nvPr/>
        </p:nvSpPr>
        <p:spPr>
          <a:xfrm>
            <a:off x="4846320" y="3118104"/>
            <a:ext cx="3566160" cy="36576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Scheduling conflicts and travel gaps</a:t>
            </a:r>
            <a:endParaRPr lang="en-US" sz="1300" dirty="0"/>
          </a:p>
        </p:txBody>
      </p:sp>
      <p:sp>
        <p:nvSpPr>
          <p:cNvPr id="22" name="Text 19"/>
          <p:cNvSpPr txBox="1"/>
          <p:nvPr/>
        </p:nvSpPr>
        <p:spPr>
          <a:xfrm>
            <a:off x="4526280" y="3511296"/>
            <a:ext cx="274320" cy="365760"/>
          </a:xfrm>
          <a:prstGeom prst="rect">
            <a:avLst/>
          </a:prstGeom>
          <a:noFill/>
          <a:ln/>
        </p:spPr>
        <p:txBody>
          <a:bodyPr wrap="square" lIns="0" tIns="0" rIns="0" bIns="0" rtlCol="0" anchor="t"/>
          <a:lstStyle/>
          <a:p>
            <a:pPr indent="0" marL="0">
              <a:buNone/>
            </a:pPr>
            <a:r>
              <a:rPr lang="en-US" sz="1400" b="1" dirty="0">
                <a:solidFill>
                  <a:srgbClr val="2B7557"/>
                </a:solidFill>
                <a:latin typeface="Calibri" pitchFamily="34" charset="0"/>
                <a:ea typeface="Calibri" pitchFamily="34" charset="-122"/>
                <a:cs typeface="Calibri" pitchFamily="34" charset="-120"/>
              </a:rPr>
              <a:t>✓</a:t>
            </a:r>
            <a:endParaRPr lang="en-US" sz="1400" dirty="0"/>
          </a:p>
        </p:txBody>
      </p:sp>
      <p:sp>
        <p:nvSpPr>
          <p:cNvPr id="23" name="Text 20"/>
          <p:cNvSpPr txBox="1"/>
          <p:nvPr/>
        </p:nvSpPr>
        <p:spPr>
          <a:xfrm>
            <a:off x="4846320" y="3538728"/>
            <a:ext cx="3566160" cy="36576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Resource availability, exclusivity, capacity</a:t>
            </a:r>
            <a:endParaRPr lang="en-US" sz="1300" dirty="0"/>
          </a:p>
        </p:txBody>
      </p:sp>
      <p:sp>
        <p:nvSpPr>
          <p:cNvPr id="24" name="Text 21"/>
          <p:cNvSpPr txBox="1"/>
          <p:nvPr/>
        </p:nvSpPr>
        <p:spPr>
          <a:xfrm>
            <a:off x="4526280" y="3931920"/>
            <a:ext cx="274320" cy="365760"/>
          </a:xfrm>
          <a:prstGeom prst="rect">
            <a:avLst/>
          </a:prstGeom>
          <a:noFill/>
          <a:ln/>
        </p:spPr>
        <p:txBody>
          <a:bodyPr wrap="square" lIns="0" tIns="0" rIns="0" bIns="0" rtlCol="0" anchor="t"/>
          <a:lstStyle/>
          <a:p>
            <a:pPr indent="0" marL="0">
              <a:buNone/>
            </a:pPr>
            <a:r>
              <a:rPr lang="en-US" sz="1400" b="1" dirty="0">
                <a:solidFill>
                  <a:srgbClr val="2B7557"/>
                </a:solidFill>
                <a:latin typeface="Calibri" pitchFamily="34" charset="0"/>
                <a:ea typeface="Calibri" pitchFamily="34" charset="-122"/>
                <a:cs typeface="Calibri" pitchFamily="34" charset="-120"/>
              </a:rPr>
              <a:t>✓</a:t>
            </a:r>
            <a:endParaRPr lang="en-US" sz="1400" dirty="0"/>
          </a:p>
        </p:txBody>
      </p:sp>
      <p:sp>
        <p:nvSpPr>
          <p:cNvPr id="25" name="Text 22"/>
          <p:cNvSpPr txBox="1"/>
          <p:nvPr/>
        </p:nvSpPr>
        <p:spPr>
          <a:xfrm>
            <a:off x="4846320" y="3959352"/>
            <a:ext cx="3566160" cy="36576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Dependent-person authorization</a:t>
            </a:r>
            <a:endParaRPr lang="en-US" sz="1300" dirty="0"/>
          </a:p>
        </p:txBody>
      </p:sp>
      <p:sp>
        <p:nvSpPr>
          <p:cNvPr id="26" name="Text 23"/>
          <p:cNvSpPr txBox="1"/>
          <p:nvPr/>
        </p:nvSpPr>
        <p:spPr>
          <a:xfrm>
            <a:off x="4526280" y="4352544"/>
            <a:ext cx="274320" cy="365760"/>
          </a:xfrm>
          <a:prstGeom prst="rect">
            <a:avLst/>
          </a:prstGeom>
          <a:noFill/>
          <a:ln/>
        </p:spPr>
        <p:txBody>
          <a:bodyPr wrap="square" lIns="0" tIns="0" rIns="0" bIns="0" rtlCol="0" anchor="t"/>
          <a:lstStyle/>
          <a:p>
            <a:pPr indent="0" marL="0">
              <a:buNone/>
            </a:pPr>
            <a:r>
              <a:rPr lang="en-US" sz="1400" b="1" dirty="0">
                <a:solidFill>
                  <a:srgbClr val="2B7557"/>
                </a:solidFill>
                <a:latin typeface="Calibri" pitchFamily="34" charset="0"/>
                <a:ea typeface="Calibri" pitchFamily="34" charset="-122"/>
                <a:cs typeface="Calibri" pitchFamily="34" charset="-120"/>
              </a:rPr>
              <a:t>✓</a:t>
            </a:r>
            <a:endParaRPr lang="en-US" sz="1400" dirty="0"/>
          </a:p>
        </p:txBody>
      </p:sp>
      <p:sp>
        <p:nvSpPr>
          <p:cNvPr id="27" name="Text 24"/>
          <p:cNvSpPr txBox="1"/>
          <p:nvPr/>
        </p:nvSpPr>
        <p:spPr>
          <a:xfrm>
            <a:off x="4846320" y="4379976"/>
            <a:ext cx="3566160" cy="36576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Prerequisite / dependency completion</a:t>
            </a:r>
            <a:endParaRPr lang="en-US" sz="1300" dirty="0"/>
          </a:p>
        </p:txBody>
      </p:sp>
      <p:sp>
        <p:nvSpPr>
          <p:cNvPr id="28" name="Text 25"/>
          <p:cNvSpPr txBox="1"/>
          <p:nvPr/>
        </p:nvSpPr>
        <p:spPr>
          <a:xfrm>
            <a:off x="4526280" y="4773168"/>
            <a:ext cx="274320" cy="365760"/>
          </a:xfrm>
          <a:prstGeom prst="rect">
            <a:avLst/>
          </a:prstGeom>
          <a:noFill/>
          <a:ln/>
        </p:spPr>
        <p:txBody>
          <a:bodyPr wrap="square" lIns="0" tIns="0" rIns="0" bIns="0" rtlCol="0" anchor="t"/>
          <a:lstStyle/>
          <a:p>
            <a:pPr indent="0" marL="0">
              <a:buNone/>
            </a:pPr>
            <a:r>
              <a:rPr lang="en-US" sz="1400" b="1" dirty="0">
                <a:solidFill>
                  <a:srgbClr val="2B7557"/>
                </a:solidFill>
                <a:latin typeface="Calibri" pitchFamily="34" charset="0"/>
                <a:ea typeface="Calibri" pitchFamily="34" charset="-122"/>
                <a:cs typeface="Calibri" pitchFamily="34" charset="-120"/>
              </a:rPr>
              <a:t>✓</a:t>
            </a:r>
            <a:endParaRPr lang="en-US" sz="1400" dirty="0"/>
          </a:p>
        </p:txBody>
      </p:sp>
      <p:sp>
        <p:nvSpPr>
          <p:cNvPr id="29" name="Text 26"/>
          <p:cNvSpPr txBox="1"/>
          <p:nvPr/>
        </p:nvSpPr>
        <p:spPr>
          <a:xfrm>
            <a:off x="4846320" y="4800600"/>
            <a:ext cx="3566160" cy="36576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Scenario version (hash) consistency</a:t>
            </a:r>
            <a:endParaRPr lang="en-US" sz="1300" dirty="0"/>
          </a:p>
        </p:txBody>
      </p:sp>
      <p:sp>
        <p:nvSpPr>
          <p:cNvPr id="30" name="Text 27"/>
          <p:cNvSpPr txBox="1"/>
          <p:nvPr/>
        </p:nvSpPr>
        <p:spPr>
          <a:xfrm>
            <a:off x="4526280" y="5193792"/>
            <a:ext cx="274320" cy="365760"/>
          </a:xfrm>
          <a:prstGeom prst="rect">
            <a:avLst/>
          </a:prstGeom>
          <a:noFill/>
          <a:ln/>
        </p:spPr>
        <p:txBody>
          <a:bodyPr wrap="square" lIns="0" tIns="0" rIns="0" bIns="0" rtlCol="0" anchor="t"/>
          <a:lstStyle/>
          <a:p>
            <a:pPr indent="0" marL="0">
              <a:buNone/>
            </a:pPr>
            <a:r>
              <a:rPr lang="en-US" sz="1400" b="1" dirty="0">
                <a:solidFill>
                  <a:srgbClr val="2B7557"/>
                </a:solidFill>
                <a:latin typeface="Calibri" pitchFamily="34" charset="0"/>
                <a:ea typeface="Calibri" pitchFamily="34" charset="-122"/>
                <a:cs typeface="Calibri" pitchFamily="34" charset="-120"/>
              </a:rPr>
              <a:t>✓</a:t>
            </a:r>
            <a:endParaRPr lang="en-US" sz="1400" dirty="0"/>
          </a:p>
        </p:txBody>
      </p:sp>
      <p:sp>
        <p:nvSpPr>
          <p:cNvPr id="31" name="Text 28"/>
          <p:cNvSpPr txBox="1"/>
          <p:nvPr/>
        </p:nvSpPr>
        <p:spPr>
          <a:xfrm>
            <a:off x="4846320" y="5221224"/>
            <a:ext cx="3566160" cy="36576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Human consent remains pending</a:t>
            </a:r>
            <a:endParaRPr lang="en-US" sz="1300" dirty="0"/>
          </a:p>
        </p:txBody>
      </p:sp>
      <p:sp>
        <p:nvSpPr>
          <p:cNvPr id="32" name="Text 29"/>
          <p:cNvSpPr txBox="1"/>
          <p:nvPr/>
        </p:nvSpPr>
        <p:spPr>
          <a:xfrm>
            <a:off x="4526280" y="5614416"/>
            <a:ext cx="274320" cy="365760"/>
          </a:xfrm>
          <a:prstGeom prst="rect">
            <a:avLst/>
          </a:prstGeom>
          <a:noFill/>
          <a:ln/>
        </p:spPr>
        <p:txBody>
          <a:bodyPr wrap="square" lIns="0" tIns="0" rIns="0" bIns="0" rtlCol="0" anchor="t"/>
          <a:lstStyle/>
          <a:p>
            <a:pPr indent="0" marL="0">
              <a:buNone/>
            </a:pPr>
            <a:r>
              <a:rPr lang="en-US" sz="1400" b="1" dirty="0">
                <a:solidFill>
                  <a:srgbClr val="2B7557"/>
                </a:solidFill>
                <a:latin typeface="Calibri" pitchFamily="34" charset="0"/>
                <a:ea typeface="Calibri" pitchFamily="34" charset="-122"/>
                <a:cs typeface="Calibri" pitchFamily="34" charset="-120"/>
              </a:rPr>
              <a:t>✓</a:t>
            </a:r>
            <a:endParaRPr lang="en-US" sz="1400" dirty="0"/>
          </a:p>
        </p:txBody>
      </p:sp>
      <p:sp>
        <p:nvSpPr>
          <p:cNvPr id="33" name="Text 30"/>
          <p:cNvSpPr txBox="1"/>
          <p:nvPr/>
        </p:nvSpPr>
        <p:spPr>
          <a:xfrm>
            <a:off x="4846320" y="5641848"/>
            <a:ext cx="3566160" cy="36576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Critical coverage reported accurately</a:t>
            </a:r>
            <a:endParaRPr lang="en-US" sz="1300" dirty="0"/>
          </a:p>
        </p:txBody>
      </p:sp>
      <p:pic>
        <p:nvPicPr>
          <p:cNvPr id="34" name="Image 0" descr="Independent verification panel from the Recovery Studio (real screenshot)">    </p:cNvPr>
          <p:cNvPicPr>
            <a:picLocks noChangeAspect="1"/>
          </p:cNvPicPr>
          <p:nvPr/>
        </p:nvPicPr>
        <p:blipFill>
          <a:blip r:embed="rId1"/>
          <a:stretch>
            <a:fillRect/>
          </a:stretch>
        </p:blipFill>
        <p:spPr>
          <a:xfrm>
            <a:off x="8778240" y="1417320"/>
            <a:ext cx="2351314" cy="4572000"/>
          </a:xfrm>
          <a:prstGeom prst="rect">
            <a:avLst/>
          </a:prstGeom>
        </p:spPr>
      </p:pic>
      <p:sp>
        <p:nvSpPr>
          <p:cNvPr id="35" name="Shape 31"/>
          <p:cNvSpPr/>
          <p:nvPr/>
        </p:nvSpPr>
        <p:spPr>
          <a:xfrm>
            <a:off x="8778240" y="1417320"/>
            <a:ext cx="2351314" cy="4572000"/>
          </a:xfrm>
          <a:prstGeom prst="rect">
            <a:avLst/>
          </a:prstGeom>
          <a:ln w="9525">
            <a:solidFill>
              <a:srgbClr val="D3DDE8"/>
            </a:solidFill>
            <a:prstDash val="solid"/>
          </a:ln>
        </p:spPr>
      </p:sp>
      <p:sp>
        <p:nvSpPr>
          <p:cNvPr id="36"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backend/app/services/verifier.py; panel is a real screenshot (28 Oct 2026). Negative tests: backend/tests/unit/test_optimizer_verifier.py, benchmark T16, T24, T25, T30.</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IV · THE EVIDENCE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The recovery result</a:t>
            </a:r>
            <a:endParaRPr lang="en-US" sz="3200" dirty="0"/>
          </a:p>
        </p:txBody>
      </p:sp>
      <p:sp>
        <p:nvSpPr>
          <p:cNvPr id="5" name="Shape 2"/>
          <p:cNvSpPr/>
          <p:nvPr/>
        </p:nvSpPr>
        <p:spPr>
          <a:xfrm>
            <a:off x="548640" y="1463040"/>
            <a:ext cx="3566160" cy="3063240"/>
          </a:xfrm>
          <a:prstGeom prst="roundRect">
            <a:avLst>
              <a:gd name="adj" fmla="val 2388"/>
            </a:avLst>
          </a:prstGeom>
          <a:solidFill>
            <a:srgbClr val="FFFFFF"/>
          </a:solidFill>
          <a:ln w="19050">
            <a:solidFill>
              <a:srgbClr val="255E99"/>
            </a:solidFill>
            <a:prstDash val="solid"/>
          </a:ln>
        </p:spPr>
      </p:sp>
      <p:sp>
        <p:nvSpPr>
          <p:cNvPr id="6" name="Text 3"/>
          <p:cNvSpPr txBox="1"/>
          <p:nvPr/>
        </p:nvSpPr>
        <p:spPr>
          <a:xfrm>
            <a:off x="777240" y="1600200"/>
            <a:ext cx="3108960" cy="365760"/>
          </a:xfrm>
          <a:prstGeom prst="rect">
            <a:avLst/>
          </a:prstGeom>
          <a:noFill/>
          <a:ln/>
        </p:spPr>
        <p:txBody>
          <a:bodyPr wrap="square" lIns="0" tIns="0" rIns="0" bIns="0" rtlCol="0" anchor="t"/>
          <a:lstStyle/>
          <a:p>
            <a:pPr indent="0" marL="0">
              <a:buNone/>
            </a:pPr>
            <a:r>
              <a:rPr lang="en-US" sz="1600" b="1" dirty="0">
                <a:solidFill>
                  <a:srgbClr val="255E99"/>
                </a:solidFill>
                <a:latin typeface="Calibri" pitchFamily="34" charset="0"/>
                <a:ea typeface="Calibri" pitchFamily="34" charset="-122"/>
                <a:cs typeface="Calibri" pitchFamily="34" charset="-120"/>
              </a:rPr>
              <a:t>Original schedule</a:t>
            </a:r>
            <a:endParaRPr lang="en-US" sz="1600" dirty="0"/>
          </a:p>
        </p:txBody>
      </p:sp>
      <p:sp>
        <p:nvSpPr>
          <p:cNvPr id="7" name="Text 4"/>
          <p:cNvSpPr txBox="1"/>
          <p:nvPr/>
        </p:nvSpPr>
        <p:spPr>
          <a:xfrm>
            <a:off x="777240" y="2011680"/>
            <a:ext cx="3108960" cy="822960"/>
          </a:xfrm>
          <a:prstGeom prst="rect">
            <a:avLst/>
          </a:prstGeom>
          <a:noFill/>
          <a:ln/>
        </p:spPr>
        <p:txBody>
          <a:bodyPr wrap="square" lIns="0" tIns="0" rIns="0" bIns="0" rtlCol="0" anchor="t"/>
          <a:lstStyle/>
          <a:p>
            <a:pPr indent="0" marL="0">
              <a:buNone/>
            </a:pPr>
            <a:r>
              <a:rPr lang="en-US" sz="5000" b="1" dirty="0">
                <a:solidFill>
                  <a:srgbClr val="102B4E"/>
                </a:solidFill>
                <a:latin typeface="Consolas" pitchFamily="34" charset="0"/>
                <a:ea typeface="Consolas" pitchFamily="34" charset="-122"/>
                <a:cs typeface="Consolas" pitchFamily="34" charset="-120"/>
              </a:rPr>
              <a:t>4 / 4</a:t>
            </a:r>
            <a:endParaRPr lang="en-US" sz="5000" dirty="0"/>
          </a:p>
        </p:txBody>
      </p:sp>
      <p:sp>
        <p:nvSpPr>
          <p:cNvPr id="8" name="Text 5"/>
          <p:cNvSpPr txBox="1"/>
          <p:nvPr/>
        </p:nvSpPr>
        <p:spPr>
          <a:xfrm>
            <a:off x="777240" y="2834640"/>
            <a:ext cx="310896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responsibilities covered</a:t>
            </a:r>
            <a:endParaRPr lang="en-US" sz="1200" dirty="0"/>
          </a:p>
        </p:txBody>
      </p:sp>
      <p:sp>
        <p:nvSpPr>
          <p:cNvPr id="9" name="Text 6"/>
          <p:cNvSpPr txBox="1"/>
          <p:nvPr/>
        </p:nvSpPr>
        <p:spPr>
          <a:xfrm>
            <a:off x="777240" y="3200400"/>
            <a:ext cx="1463040" cy="548640"/>
          </a:xfrm>
          <a:prstGeom prst="rect">
            <a:avLst/>
          </a:prstGeom>
          <a:noFill/>
          <a:ln/>
        </p:spPr>
        <p:txBody>
          <a:bodyPr wrap="square" lIns="0" tIns="0" rIns="0" bIns="0" rtlCol="0" anchor="t"/>
          <a:lstStyle/>
          <a:p>
            <a:pPr indent="0" marL="0">
              <a:buNone/>
            </a:pPr>
            <a:r>
              <a:rPr lang="en-US" sz="3000" b="1" dirty="0">
                <a:solidFill>
                  <a:srgbClr val="255E99"/>
                </a:solidFill>
                <a:latin typeface="Calibri" pitchFamily="34" charset="0"/>
                <a:ea typeface="Calibri" pitchFamily="34" charset="-122"/>
                <a:cs typeface="Calibri" pitchFamily="34" charset="-120"/>
              </a:rPr>
              <a:t>100%</a:t>
            </a:r>
            <a:endParaRPr lang="en-US" sz="3000" dirty="0"/>
          </a:p>
        </p:txBody>
      </p:sp>
      <p:sp>
        <p:nvSpPr>
          <p:cNvPr id="10" name="Text 7"/>
          <p:cNvSpPr txBox="1"/>
          <p:nvPr/>
        </p:nvSpPr>
        <p:spPr>
          <a:xfrm>
            <a:off x="2148840" y="3310128"/>
            <a:ext cx="1828800" cy="36576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weighted coverage</a:t>
            </a:r>
            <a:endParaRPr lang="en-US" sz="1100" dirty="0"/>
          </a:p>
        </p:txBody>
      </p:sp>
      <p:sp>
        <p:nvSpPr>
          <p:cNvPr id="11" name="Text 8"/>
          <p:cNvSpPr txBox="1"/>
          <p:nvPr/>
        </p:nvSpPr>
        <p:spPr>
          <a:xfrm>
            <a:off x="777240" y="3840480"/>
            <a:ext cx="640080" cy="182880"/>
          </a:xfrm>
          <a:prstGeom prst="rect">
            <a:avLst/>
          </a:prstGeom>
          <a:noFill/>
          <a:ln/>
        </p:spPr>
        <p:txBody>
          <a:bodyPr wrap="square" lIns="0" tIns="0" rIns="0" bIns="0" rtlCol="0" anchor="t"/>
          <a:lstStyle/>
          <a:p>
            <a:pPr indent="0" marL="0">
              <a:buNone/>
            </a:pPr>
            <a:r>
              <a:rPr lang="en-US" sz="900" dirty="0">
                <a:solidFill>
                  <a:srgbClr val="5B6B7F"/>
                </a:solidFill>
                <a:latin typeface="Consolas" pitchFamily="34" charset="0"/>
                <a:ea typeface="Consolas" pitchFamily="34" charset="-122"/>
                <a:cs typeface="Consolas" pitchFamily="34" charset="-120"/>
              </a:rPr>
              <a:t>Tier 0</a:t>
            </a:r>
            <a:endParaRPr lang="en-US" sz="900" dirty="0"/>
          </a:p>
        </p:txBody>
      </p:sp>
      <p:sp>
        <p:nvSpPr>
          <p:cNvPr id="12" name="Shape 9"/>
          <p:cNvSpPr/>
          <p:nvPr/>
        </p:nvSpPr>
        <p:spPr>
          <a:xfrm>
            <a:off x="1463040" y="3867912"/>
            <a:ext cx="2286000" cy="109728"/>
          </a:xfrm>
          <a:prstGeom prst="rect">
            <a:avLst/>
          </a:prstGeom>
          <a:solidFill>
            <a:srgbClr val="D3DDE8"/>
          </a:solidFill>
          <a:ln/>
        </p:spPr>
      </p:sp>
      <p:sp>
        <p:nvSpPr>
          <p:cNvPr id="13" name="Shape 10"/>
          <p:cNvSpPr/>
          <p:nvPr/>
        </p:nvSpPr>
        <p:spPr>
          <a:xfrm>
            <a:off x="1463040" y="3867912"/>
            <a:ext cx="2286000" cy="109728"/>
          </a:xfrm>
          <a:prstGeom prst="rect">
            <a:avLst/>
          </a:prstGeom>
          <a:solidFill>
            <a:srgbClr val="255E99"/>
          </a:solidFill>
          <a:ln/>
        </p:spPr>
      </p:sp>
      <p:sp>
        <p:nvSpPr>
          <p:cNvPr id="14" name="Text 11"/>
          <p:cNvSpPr txBox="1"/>
          <p:nvPr/>
        </p:nvSpPr>
        <p:spPr>
          <a:xfrm>
            <a:off x="777240" y="4023360"/>
            <a:ext cx="640080" cy="182880"/>
          </a:xfrm>
          <a:prstGeom prst="rect">
            <a:avLst/>
          </a:prstGeom>
          <a:noFill/>
          <a:ln/>
        </p:spPr>
        <p:txBody>
          <a:bodyPr wrap="square" lIns="0" tIns="0" rIns="0" bIns="0" rtlCol="0" anchor="t"/>
          <a:lstStyle/>
          <a:p>
            <a:pPr indent="0" marL="0">
              <a:buNone/>
            </a:pPr>
            <a:r>
              <a:rPr lang="en-US" sz="900" dirty="0">
                <a:solidFill>
                  <a:srgbClr val="5B6B7F"/>
                </a:solidFill>
                <a:latin typeface="Consolas" pitchFamily="34" charset="0"/>
                <a:ea typeface="Consolas" pitchFamily="34" charset="-122"/>
                <a:cs typeface="Consolas" pitchFamily="34" charset="-120"/>
              </a:rPr>
              <a:t>Tier 1</a:t>
            </a:r>
            <a:endParaRPr lang="en-US" sz="900" dirty="0"/>
          </a:p>
        </p:txBody>
      </p:sp>
      <p:sp>
        <p:nvSpPr>
          <p:cNvPr id="15" name="Shape 12"/>
          <p:cNvSpPr/>
          <p:nvPr/>
        </p:nvSpPr>
        <p:spPr>
          <a:xfrm>
            <a:off x="1463040" y="4050792"/>
            <a:ext cx="2286000" cy="109728"/>
          </a:xfrm>
          <a:prstGeom prst="rect">
            <a:avLst/>
          </a:prstGeom>
          <a:solidFill>
            <a:srgbClr val="D3DDE8"/>
          </a:solidFill>
          <a:ln/>
        </p:spPr>
      </p:sp>
      <p:sp>
        <p:nvSpPr>
          <p:cNvPr id="16" name="Shape 13"/>
          <p:cNvSpPr/>
          <p:nvPr/>
        </p:nvSpPr>
        <p:spPr>
          <a:xfrm>
            <a:off x="1463040" y="4050792"/>
            <a:ext cx="2286000" cy="109728"/>
          </a:xfrm>
          <a:prstGeom prst="rect">
            <a:avLst/>
          </a:prstGeom>
          <a:solidFill>
            <a:srgbClr val="255E99"/>
          </a:solidFill>
          <a:ln/>
        </p:spPr>
      </p:sp>
      <p:sp>
        <p:nvSpPr>
          <p:cNvPr id="17" name="Text 14"/>
          <p:cNvSpPr txBox="1"/>
          <p:nvPr/>
        </p:nvSpPr>
        <p:spPr>
          <a:xfrm>
            <a:off x="777240" y="4206240"/>
            <a:ext cx="640080" cy="182880"/>
          </a:xfrm>
          <a:prstGeom prst="rect">
            <a:avLst/>
          </a:prstGeom>
          <a:noFill/>
          <a:ln/>
        </p:spPr>
        <p:txBody>
          <a:bodyPr wrap="square" lIns="0" tIns="0" rIns="0" bIns="0" rtlCol="0" anchor="t"/>
          <a:lstStyle/>
          <a:p>
            <a:pPr indent="0" marL="0">
              <a:buNone/>
            </a:pPr>
            <a:r>
              <a:rPr lang="en-US" sz="900" dirty="0">
                <a:solidFill>
                  <a:srgbClr val="5B6B7F"/>
                </a:solidFill>
                <a:latin typeface="Consolas" pitchFamily="34" charset="0"/>
                <a:ea typeface="Consolas" pitchFamily="34" charset="-122"/>
                <a:cs typeface="Consolas" pitchFamily="34" charset="-120"/>
              </a:rPr>
              <a:t>Tier 3</a:t>
            </a:r>
            <a:endParaRPr lang="en-US" sz="900" dirty="0"/>
          </a:p>
        </p:txBody>
      </p:sp>
      <p:sp>
        <p:nvSpPr>
          <p:cNvPr id="18" name="Shape 15"/>
          <p:cNvSpPr/>
          <p:nvPr/>
        </p:nvSpPr>
        <p:spPr>
          <a:xfrm>
            <a:off x="1463040" y="4233672"/>
            <a:ext cx="2286000" cy="109728"/>
          </a:xfrm>
          <a:prstGeom prst="rect">
            <a:avLst/>
          </a:prstGeom>
          <a:solidFill>
            <a:srgbClr val="D3DDE8"/>
          </a:solidFill>
          <a:ln/>
        </p:spPr>
      </p:sp>
      <p:sp>
        <p:nvSpPr>
          <p:cNvPr id="19" name="Shape 16"/>
          <p:cNvSpPr/>
          <p:nvPr/>
        </p:nvSpPr>
        <p:spPr>
          <a:xfrm>
            <a:off x="1463040" y="4233672"/>
            <a:ext cx="2286000" cy="109728"/>
          </a:xfrm>
          <a:prstGeom prst="rect">
            <a:avLst/>
          </a:prstGeom>
          <a:solidFill>
            <a:srgbClr val="255E99"/>
          </a:solidFill>
          <a:ln/>
        </p:spPr>
      </p:sp>
      <p:sp>
        <p:nvSpPr>
          <p:cNvPr id="20" name="Shape 17"/>
          <p:cNvSpPr/>
          <p:nvPr/>
        </p:nvSpPr>
        <p:spPr>
          <a:xfrm>
            <a:off x="4315968" y="1463040"/>
            <a:ext cx="3566160" cy="3063240"/>
          </a:xfrm>
          <a:prstGeom prst="roundRect">
            <a:avLst>
              <a:gd name="adj" fmla="val 2388"/>
            </a:avLst>
          </a:prstGeom>
          <a:solidFill>
            <a:srgbClr val="FFFFFF"/>
          </a:solidFill>
          <a:ln w="19050">
            <a:solidFill>
              <a:srgbClr val="A23A3D"/>
            </a:solidFill>
            <a:prstDash val="solid"/>
          </a:ln>
        </p:spPr>
      </p:sp>
      <p:sp>
        <p:nvSpPr>
          <p:cNvPr id="21" name="Text 18"/>
          <p:cNvSpPr txBox="1"/>
          <p:nvPr/>
        </p:nvSpPr>
        <p:spPr>
          <a:xfrm>
            <a:off x="4544568" y="1600200"/>
            <a:ext cx="3108960" cy="365760"/>
          </a:xfrm>
          <a:prstGeom prst="rect">
            <a:avLst/>
          </a:prstGeom>
          <a:noFill/>
          <a:ln/>
        </p:spPr>
        <p:txBody>
          <a:bodyPr wrap="square" lIns="0" tIns="0" rIns="0" bIns="0" rtlCol="0" anchor="t"/>
          <a:lstStyle/>
          <a:p>
            <a:pPr indent="0" marL="0">
              <a:buNone/>
            </a:pPr>
            <a:r>
              <a:rPr lang="en-US" sz="1600" b="1" dirty="0">
                <a:solidFill>
                  <a:srgbClr val="A23A3D"/>
                </a:solidFill>
                <a:latin typeface="Calibri" pitchFamily="34" charset="0"/>
                <a:ea typeface="Calibri" pitchFamily="34" charset="-122"/>
                <a:cs typeface="Calibri" pitchFamily="34" charset="-120"/>
              </a:rPr>
              <a:t>After Amina’s disruption</a:t>
            </a:r>
            <a:endParaRPr lang="en-US" sz="1600" dirty="0"/>
          </a:p>
        </p:txBody>
      </p:sp>
      <p:sp>
        <p:nvSpPr>
          <p:cNvPr id="22" name="Text 19"/>
          <p:cNvSpPr txBox="1"/>
          <p:nvPr/>
        </p:nvSpPr>
        <p:spPr>
          <a:xfrm>
            <a:off x="4544568" y="2011680"/>
            <a:ext cx="3108960" cy="822960"/>
          </a:xfrm>
          <a:prstGeom prst="rect">
            <a:avLst/>
          </a:prstGeom>
          <a:noFill/>
          <a:ln/>
        </p:spPr>
        <p:txBody>
          <a:bodyPr wrap="square" lIns="0" tIns="0" rIns="0" bIns="0" rtlCol="0" anchor="t"/>
          <a:lstStyle/>
          <a:p>
            <a:pPr indent="0" marL="0">
              <a:buNone/>
            </a:pPr>
            <a:r>
              <a:rPr lang="en-US" sz="5000" b="1" dirty="0">
                <a:solidFill>
                  <a:srgbClr val="102B4E"/>
                </a:solidFill>
                <a:latin typeface="Consolas" pitchFamily="34" charset="0"/>
                <a:ea typeface="Consolas" pitchFamily="34" charset="-122"/>
                <a:cs typeface="Consolas" pitchFamily="34" charset="-120"/>
              </a:rPr>
              <a:t>1 / 4</a:t>
            </a:r>
            <a:endParaRPr lang="en-US" sz="5000" dirty="0"/>
          </a:p>
        </p:txBody>
      </p:sp>
      <p:sp>
        <p:nvSpPr>
          <p:cNvPr id="23" name="Text 20"/>
          <p:cNvSpPr txBox="1"/>
          <p:nvPr/>
        </p:nvSpPr>
        <p:spPr>
          <a:xfrm>
            <a:off x="4544568" y="2834640"/>
            <a:ext cx="310896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still valid (dinner)</a:t>
            </a:r>
            <a:endParaRPr lang="en-US" sz="1200" dirty="0"/>
          </a:p>
        </p:txBody>
      </p:sp>
      <p:sp>
        <p:nvSpPr>
          <p:cNvPr id="24" name="Text 21"/>
          <p:cNvSpPr txBox="1"/>
          <p:nvPr/>
        </p:nvSpPr>
        <p:spPr>
          <a:xfrm>
            <a:off x="4544568" y="3200400"/>
            <a:ext cx="1463040" cy="548640"/>
          </a:xfrm>
          <a:prstGeom prst="rect">
            <a:avLst/>
          </a:prstGeom>
          <a:noFill/>
          <a:ln/>
        </p:spPr>
        <p:txBody>
          <a:bodyPr wrap="square" lIns="0" tIns="0" rIns="0" bIns="0" rtlCol="0" anchor="t"/>
          <a:lstStyle/>
          <a:p>
            <a:pPr indent="0" marL="0">
              <a:buNone/>
            </a:pPr>
            <a:r>
              <a:rPr lang="en-US" sz="3000" b="1" dirty="0">
                <a:solidFill>
                  <a:srgbClr val="A23A3D"/>
                </a:solidFill>
                <a:latin typeface="Calibri" pitchFamily="34" charset="0"/>
                <a:ea typeface="Calibri" pitchFamily="34" charset="-122"/>
                <a:cs typeface="Calibri" pitchFamily="34" charset="-120"/>
              </a:rPr>
              <a:t>25%</a:t>
            </a:r>
            <a:endParaRPr lang="en-US" sz="3000" dirty="0"/>
          </a:p>
        </p:txBody>
      </p:sp>
      <p:sp>
        <p:nvSpPr>
          <p:cNvPr id="25" name="Text 22"/>
          <p:cNvSpPr txBox="1"/>
          <p:nvPr/>
        </p:nvSpPr>
        <p:spPr>
          <a:xfrm>
            <a:off x="5916168" y="3310128"/>
            <a:ext cx="1828800" cy="36576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weighted coverage</a:t>
            </a:r>
            <a:endParaRPr lang="en-US" sz="1100" dirty="0"/>
          </a:p>
        </p:txBody>
      </p:sp>
      <p:sp>
        <p:nvSpPr>
          <p:cNvPr id="26" name="Text 23"/>
          <p:cNvSpPr txBox="1"/>
          <p:nvPr/>
        </p:nvSpPr>
        <p:spPr>
          <a:xfrm>
            <a:off x="4544568" y="3840480"/>
            <a:ext cx="640080" cy="182880"/>
          </a:xfrm>
          <a:prstGeom prst="rect">
            <a:avLst/>
          </a:prstGeom>
          <a:noFill/>
          <a:ln/>
        </p:spPr>
        <p:txBody>
          <a:bodyPr wrap="square" lIns="0" tIns="0" rIns="0" bIns="0" rtlCol="0" anchor="t"/>
          <a:lstStyle/>
          <a:p>
            <a:pPr indent="0" marL="0">
              <a:buNone/>
            </a:pPr>
            <a:r>
              <a:rPr lang="en-US" sz="900" dirty="0">
                <a:solidFill>
                  <a:srgbClr val="5B6B7F"/>
                </a:solidFill>
                <a:latin typeface="Consolas" pitchFamily="34" charset="0"/>
                <a:ea typeface="Consolas" pitchFamily="34" charset="-122"/>
                <a:cs typeface="Consolas" pitchFamily="34" charset="-120"/>
              </a:rPr>
              <a:t>Tier 0</a:t>
            </a:r>
            <a:endParaRPr lang="en-US" sz="900" dirty="0"/>
          </a:p>
        </p:txBody>
      </p:sp>
      <p:sp>
        <p:nvSpPr>
          <p:cNvPr id="27" name="Shape 24"/>
          <p:cNvSpPr/>
          <p:nvPr/>
        </p:nvSpPr>
        <p:spPr>
          <a:xfrm>
            <a:off x="5230368" y="3867912"/>
            <a:ext cx="2286000" cy="109728"/>
          </a:xfrm>
          <a:prstGeom prst="rect">
            <a:avLst/>
          </a:prstGeom>
          <a:solidFill>
            <a:srgbClr val="D3DDE8"/>
          </a:solidFill>
          <a:ln/>
        </p:spPr>
      </p:sp>
      <p:sp>
        <p:nvSpPr>
          <p:cNvPr id="28" name="Text 25"/>
          <p:cNvSpPr txBox="1"/>
          <p:nvPr/>
        </p:nvSpPr>
        <p:spPr>
          <a:xfrm>
            <a:off x="4544568" y="4023360"/>
            <a:ext cx="640080" cy="182880"/>
          </a:xfrm>
          <a:prstGeom prst="rect">
            <a:avLst/>
          </a:prstGeom>
          <a:noFill/>
          <a:ln/>
        </p:spPr>
        <p:txBody>
          <a:bodyPr wrap="square" lIns="0" tIns="0" rIns="0" bIns="0" rtlCol="0" anchor="t"/>
          <a:lstStyle/>
          <a:p>
            <a:pPr indent="0" marL="0">
              <a:buNone/>
            </a:pPr>
            <a:r>
              <a:rPr lang="en-US" sz="900" dirty="0">
                <a:solidFill>
                  <a:srgbClr val="5B6B7F"/>
                </a:solidFill>
                <a:latin typeface="Consolas" pitchFamily="34" charset="0"/>
                <a:ea typeface="Consolas" pitchFamily="34" charset="-122"/>
                <a:cs typeface="Consolas" pitchFamily="34" charset="-120"/>
              </a:rPr>
              <a:t>Tier 1</a:t>
            </a:r>
            <a:endParaRPr lang="en-US" sz="900" dirty="0"/>
          </a:p>
        </p:txBody>
      </p:sp>
      <p:sp>
        <p:nvSpPr>
          <p:cNvPr id="29" name="Shape 26"/>
          <p:cNvSpPr/>
          <p:nvPr/>
        </p:nvSpPr>
        <p:spPr>
          <a:xfrm>
            <a:off x="5230368" y="4050792"/>
            <a:ext cx="2286000" cy="109728"/>
          </a:xfrm>
          <a:prstGeom prst="rect">
            <a:avLst/>
          </a:prstGeom>
          <a:solidFill>
            <a:srgbClr val="D3DDE8"/>
          </a:solidFill>
          <a:ln/>
        </p:spPr>
      </p:sp>
      <p:sp>
        <p:nvSpPr>
          <p:cNvPr id="30" name="Shape 27"/>
          <p:cNvSpPr/>
          <p:nvPr/>
        </p:nvSpPr>
        <p:spPr>
          <a:xfrm>
            <a:off x="5230368" y="4050792"/>
            <a:ext cx="1143000" cy="109728"/>
          </a:xfrm>
          <a:prstGeom prst="rect">
            <a:avLst/>
          </a:prstGeom>
          <a:solidFill>
            <a:srgbClr val="A23A3D"/>
          </a:solidFill>
          <a:ln/>
        </p:spPr>
      </p:sp>
      <p:sp>
        <p:nvSpPr>
          <p:cNvPr id="31" name="Text 28"/>
          <p:cNvSpPr txBox="1"/>
          <p:nvPr/>
        </p:nvSpPr>
        <p:spPr>
          <a:xfrm>
            <a:off x="4544568" y="4206240"/>
            <a:ext cx="640080" cy="182880"/>
          </a:xfrm>
          <a:prstGeom prst="rect">
            <a:avLst/>
          </a:prstGeom>
          <a:noFill/>
          <a:ln/>
        </p:spPr>
        <p:txBody>
          <a:bodyPr wrap="square" lIns="0" tIns="0" rIns="0" bIns="0" rtlCol="0" anchor="t"/>
          <a:lstStyle/>
          <a:p>
            <a:pPr indent="0" marL="0">
              <a:buNone/>
            </a:pPr>
            <a:r>
              <a:rPr lang="en-US" sz="900" dirty="0">
                <a:solidFill>
                  <a:srgbClr val="5B6B7F"/>
                </a:solidFill>
                <a:latin typeface="Consolas" pitchFamily="34" charset="0"/>
                <a:ea typeface="Consolas" pitchFamily="34" charset="-122"/>
                <a:cs typeface="Consolas" pitchFamily="34" charset="-120"/>
              </a:rPr>
              <a:t>Tier 3</a:t>
            </a:r>
            <a:endParaRPr lang="en-US" sz="900" dirty="0"/>
          </a:p>
        </p:txBody>
      </p:sp>
      <p:sp>
        <p:nvSpPr>
          <p:cNvPr id="32" name="Shape 29"/>
          <p:cNvSpPr/>
          <p:nvPr/>
        </p:nvSpPr>
        <p:spPr>
          <a:xfrm>
            <a:off x="5230368" y="4233672"/>
            <a:ext cx="2286000" cy="109728"/>
          </a:xfrm>
          <a:prstGeom prst="rect">
            <a:avLst/>
          </a:prstGeom>
          <a:solidFill>
            <a:srgbClr val="D3DDE8"/>
          </a:solidFill>
          <a:ln/>
        </p:spPr>
      </p:sp>
      <p:sp>
        <p:nvSpPr>
          <p:cNvPr id="33" name="Shape 30"/>
          <p:cNvSpPr/>
          <p:nvPr/>
        </p:nvSpPr>
        <p:spPr>
          <a:xfrm>
            <a:off x="8083296" y="1463040"/>
            <a:ext cx="3566160" cy="3063240"/>
          </a:xfrm>
          <a:prstGeom prst="roundRect">
            <a:avLst>
              <a:gd name="adj" fmla="val 2388"/>
            </a:avLst>
          </a:prstGeom>
          <a:solidFill>
            <a:srgbClr val="FFFFFF"/>
          </a:solidFill>
          <a:ln w="19050">
            <a:solidFill>
              <a:srgbClr val="2B7557"/>
            </a:solidFill>
            <a:prstDash val="solid"/>
          </a:ln>
        </p:spPr>
      </p:sp>
      <p:sp>
        <p:nvSpPr>
          <p:cNvPr id="34" name="Text 31"/>
          <p:cNvSpPr txBox="1"/>
          <p:nvPr/>
        </p:nvSpPr>
        <p:spPr>
          <a:xfrm>
            <a:off x="8311896" y="1600200"/>
            <a:ext cx="3108960" cy="365760"/>
          </a:xfrm>
          <a:prstGeom prst="rect">
            <a:avLst/>
          </a:prstGeom>
          <a:noFill/>
          <a:ln/>
        </p:spPr>
        <p:txBody>
          <a:bodyPr wrap="square" lIns="0" tIns="0" rIns="0" bIns="0" rtlCol="0" anchor="t"/>
          <a:lstStyle/>
          <a:p>
            <a:pPr indent="0" marL="0">
              <a:buNone/>
            </a:pPr>
            <a:r>
              <a:rPr lang="en-US" sz="1600" b="1" dirty="0">
                <a:solidFill>
                  <a:srgbClr val="2B7557"/>
                </a:solidFill>
                <a:latin typeface="Calibri" pitchFamily="34" charset="0"/>
                <a:ea typeface="Calibri" pitchFamily="34" charset="-122"/>
                <a:cs typeface="Calibri" pitchFamily="34" charset="-120"/>
              </a:rPr>
              <a:t>After optimization</a:t>
            </a:r>
            <a:endParaRPr lang="en-US" sz="1600" dirty="0"/>
          </a:p>
        </p:txBody>
      </p:sp>
      <p:sp>
        <p:nvSpPr>
          <p:cNvPr id="35" name="Text 32"/>
          <p:cNvSpPr txBox="1"/>
          <p:nvPr/>
        </p:nvSpPr>
        <p:spPr>
          <a:xfrm>
            <a:off x="8311896" y="2011680"/>
            <a:ext cx="3108960" cy="822960"/>
          </a:xfrm>
          <a:prstGeom prst="rect">
            <a:avLst/>
          </a:prstGeom>
          <a:noFill/>
          <a:ln/>
        </p:spPr>
        <p:txBody>
          <a:bodyPr wrap="square" lIns="0" tIns="0" rIns="0" bIns="0" rtlCol="0" anchor="t"/>
          <a:lstStyle/>
          <a:p>
            <a:pPr indent="0" marL="0">
              <a:buNone/>
            </a:pPr>
            <a:r>
              <a:rPr lang="en-US" sz="5000" b="1" dirty="0">
                <a:solidFill>
                  <a:srgbClr val="102B4E"/>
                </a:solidFill>
                <a:latin typeface="Consolas" pitchFamily="34" charset="0"/>
                <a:ea typeface="Consolas" pitchFamily="34" charset="-122"/>
                <a:cs typeface="Consolas" pitchFamily="34" charset="-120"/>
              </a:rPr>
              <a:t>4 / 4</a:t>
            </a:r>
            <a:endParaRPr lang="en-US" sz="5000" dirty="0"/>
          </a:p>
        </p:txBody>
      </p:sp>
      <p:sp>
        <p:nvSpPr>
          <p:cNvPr id="36" name="Text 33"/>
          <p:cNvSpPr txBox="1"/>
          <p:nvPr/>
        </p:nvSpPr>
        <p:spPr>
          <a:xfrm>
            <a:off x="8311896" y="2834640"/>
            <a:ext cx="310896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covered · 3 reassigned</a:t>
            </a:r>
            <a:endParaRPr lang="en-US" sz="1200" dirty="0"/>
          </a:p>
        </p:txBody>
      </p:sp>
      <p:sp>
        <p:nvSpPr>
          <p:cNvPr id="37" name="Text 34"/>
          <p:cNvSpPr txBox="1"/>
          <p:nvPr/>
        </p:nvSpPr>
        <p:spPr>
          <a:xfrm>
            <a:off x="8311896" y="3200400"/>
            <a:ext cx="1463040" cy="548640"/>
          </a:xfrm>
          <a:prstGeom prst="rect">
            <a:avLst/>
          </a:prstGeom>
          <a:noFill/>
          <a:ln/>
        </p:spPr>
        <p:txBody>
          <a:bodyPr wrap="square" lIns="0" tIns="0" rIns="0" bIns="0" rtlCol="0" anchor="t"/>
          <a:lstStyle/>
          <a:p>
            <a:pPr indent="0" marL="0">
              <a:buNone/>
            </a:pPr>
            <a:r>
              <a:rPr lang="en-US" sz="3000" b="1" dirty="0">
                <a:solidFill>
                  <a:srgbClr val="2B7557"/>
                </a:solidFill>
                <a:latin typeface="Calibri" pitchFamily="34" charset="0"/>
                <a:ea typeface="Calibri" pitchFamily="34" charset="-122"/>
                <a:cs typeface="Calibri" pitchFamily="34" charset="-120"/>
              </a:rPr>
              <a:t>100%</a:t>
            </a:r>
            <a:endParaRPr lang="en-US" sz="3000" dirty="0"/>
          </a:p>
        </p:txBody>
      </p:sp>
      <p:sp>
        <p:nvSpPr>
          <p:cNvPr id="38" name="Text 35"/>
          <p:cNvSpPr txBox="1"/>
          <p:nvPr/>
        </p:nvSpPr>
        <p:spPr>
          <a:xfrm>
            <a:off x="9683496" y="3310128"/>
            <a:ext cx="1828800" cy="36576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weighted coverage</a:t>
            </a:r>
            <a:endParaRPr lang="en-US" sz="1100" dirty="0"/>
          </a:p>
        </p:txBody>
      </p:sp>
      <p:sp>
        <p:nvSpPr>
          <p:cNvPr id="39" name="Text 36"/>
          <p:cNvSpPr txBox="1"/>
          <p:nvPr/>
        </p:nvSpPr>
        <p:spPr>
          <a:xfrm>
            <a:off x="8311896" y="3840480"/>
            <a:ext cx="640080" cy="182880"/>
          </a:xfrm>
          <a:prstGeom prst="rect">
            <a:avLst/>
          </a:prstGeom>
          <a:noFill/>
          <a:ln/>
        </p:spPr>
        <p:txBody>
          <a:bodyPr wrap="square" lIns="0" tIns="0" rIns="0" bIns="0" rtlCol="0" anchor="t"/>
          <a:lstStyle/>
          <a:p>
            <a:pPr indent="0" marL="0">
              <a:buNone/>
            </a:pPr>
            <a:r>
              <a:rPr lang="en-US" sz="900" dirty="0">
                <a:solidFill>
                  <a:srgbClr val="5B6B7F"/>
                </a:solidFill>
                <a:latin typeface="Consolas" pitchFamily="34" charset="0"/>
                <a:ea typeface="Consolas" pitchFamily="34" charset="-122"/>
                <a:cs typeface="Consolas" pitchFamily="34" charset="-120"/>
              </a:rPr>
              <a:t>Tier 0</a:t>
            </a:r>
            <a:endParaRPr lang="en-US" sz="900" dirty="0"/>
          </a:p>
        </p:txBody>
      </p:sp>
      <p:sp>
        <p:nvSpPr>
          <p:cNvPr id="40" name="Shape 37"/>
          <p:cNvSpPr/>
          <p:nvPr/>
        </p:nvSpPr>
        <p:spPr>
          <a:xfrm>
            <a:off x="8997696" y="3867912"/>
            <a:ext cx="2286000" cy="109728"/>
          </a:xfrm>
          <a:prstGeom prst="rect">
            <a:avLst/>
          </a:prstGeom>
          <a:solidFill>
            <a:srgbClr val="D3DDE8"/>
          </a:solidFill>
          <a:ln/>
        </p:spPr>
      </p:sp>
      <p:sp>
        <p:nvSpPr>
          <p:cNvPr id="41" name="Shape 38"/>
          <p:cNvSpPr/>
          <p:nvPr/>
        </p:nvSpPr>
        <p:spPr>
          <a:xfrm>
            <a:off x="8997696" y="3867912"/>
            <a:ext cx="2286000" cy="109728"/>
          </a:xfrm>
          <a:prstGeom prst="rect">
            <a:avLst/>
          </a:prstGeom>
          <a:solidFill>
            <a:srgbClr val="2B7557"/>
          </a:solidFill>
          <a:ln/>
        </p:spPr>
      </p:sp>
      <p:sp>
        <p:nvSpPr>
          <p:cNvPr id="42" name="Text 39"/>
          <p:cNvSpPr txBox="1"/>
          <p:nvPr/>
        </p:nvSpPr>
        <p:spPr>
          <a:xfrm>
            <a:off x="8311896" y="4023360"/>
            <a:ext cx="640080" cy="182880"/>
          </a:xfrm>
          <a:prstGeom prst="rect">
            <a:avLst/>
          </a:prstGeom>
          <a:noFill/>
          <a:ln/>
        </p:spPr>
        <p:txBody>
          <a:bodyPr wrap="square" lIns="0" tIns="0" rIns="0" bIns="0" rtlCol="0" anchor="t"/>
          <a:lstStyle/>
          <a:p>
            <a:pPr indent="0" marL="0">
              <a:buNone/>
            </a:pPr>
            <a:r>
              <a:rPr lang="en-US" sz="900" dirty="0">
                <a:solidFill>
                  <a:srgbClr val="5B6B7F"/>
                </a:solidFill>
                <a:latin typeface="Consolas" pitchFamily="34" charset="0"/>
                <a:ea typeface="Consolas" pitchFamily="34" charset="-122"/>
                <a:cs typeface="Consolas" pitchFamily="34" charset="-120"/>
              </a:rPr>
              <a:t>Tier 1</a:t>
            </a:r>
            <a:endParaRPr lang="en-US" sz="900" dirty="0"/>
          </a:p>
        </p:txBody>
      </p:sp>
      <p:sp>
        <p:nvSpPr>
          <p:cNvPr id="43" name="Shape 40"/>
          <p:cNvSpPr/>
          <p:nvPr/>
        </p:nvSpPr>
        <p:spPr>
          <a:xfrm>
            <a:off x="8997696" y="4050792"/>
            <a:ext cx="2286000" cy="109728"/>
          </a:xfrm>
          <a:prstGeom prst="rect">
            <a:avLst/>
          </a:prstGeom>
          <a:solidFill>
            <a:srgbClr val="D3DDE8"/>
          </a:solidFill>
          <a:ln/>
        </p:spPr>
      </p:sp>
      <p:sp>
        <p:nvSpPr>
          <p:cNvPr id="44" name="Shape 41"/>
          <p:cNvSpPr/>
          <p:nvPr/>
        </p:nvSpPr>
        <p:spPr>
          <a:xfrm>
            <a:off x="8997696" y="4050792"/>
            <a:ext cx="2286000" cy="109728"/>
          </a:xfrm>
          <a:prstGeom prst="rect">
            <a:avLst/>
          </a:prstGeom>
          <a:solidFill>
            <a:srgbClr val="2B7557"/>
          </a:solidFill>
          <a:ln/>
        </p:spPr>
      </p:sp>
      <p:sp>
        <p:nvSpPr>
          <p:cNvPr id="45" name="Text 42"/>
          <p:cNvSpPr txBox="1"/>
          <p:nvPr/>
        </p:nvSpPr>
        <p:spPr>
          <a:xfrm>
            <a:off x="8311896" y="4206240"/>
            <a:ext cx="640080" cy="182880"/>
          </a:xfrm>
          <a:prstGeom prst="rect">
            <a:avLst/>
          </a:prstGeom>
          <a:noFill/>
          <a:ln/>
        </p:spPr>
        <p:txBody>
          <a:bodyPr wrap="square" lIns="0" tIns="0" rIns="0" bIns="0" rtlCol="0" anchor="t"/>
          <a:lstStyle/>
          <a:p>
            <a:pPr indent="0" marL="0">
              <a:buNone/>
            </a:pPr>
            <a:r>
              <a:rPr lang="en-US" sz="900" dirty="0">
                <a:solidFill>
                  <a:srgbClr val="5B6B7F"/>
                </a:solidFill>
                <a:latin typeface="Consolas" pitchFamily="34" charset="0"/>
                <a:ea typeface="Consolas" pitchFamily="34" charset="-122"/>
                <a:cs typeface="Consolas" pitchFamily="34" charset="-120"/>
              </a:rPr>
              <a:t>Tier 3</a:t>
            </a:r>
            <a:endParaRPr lang="en-US" sz="900" dirty="0"/>
          </a:p>
        </p:txBody>
      </p:sp>
      <p:sp>
        <p:nvSpPr>
          <p:cNvPr id="46" name="Shape 43"/>
          <p:cNvSpPr/>
          <p:nvPr/>
        </p:nvSpPr>
        <p:spPr>
          <a:xfrm>
            <a:off x="8997696" y="4233672"/>
            <a:ext cx="2286000" cy="109728"/>
          </a:xfrm>
          <a:prstGeom prst="rect">
            <a:avLst/>
          </a:prstGeom>
          <a:solidFill>
            <a:srgbClr val="D3DDE8"/>
          </a:solidFill>
          <a:ln/>
        </p:spPr>
      </p:sp>
      <p:sp>
        <p:nvSpPr>
          <p:cNvPr id="47" name="Shape 44"/>
          <p:cNvSpPr/>
          <p:nvPr/>
        </p:nvSpPr>
        <p:spPr>
          <a:xfrm>
            <a:off x="8997696" y="4233672"/>
            <a:ext cx="2286000" cy="109728"/>
          </a:xfrm>
          <a:prstGeom prst="rect">
            <a:avLst/>
          </a:prstGeom>
          <a:solidFill>
            <a:srgbClr val="2B7557"/>
          </a:solidFill>
          <a:ln/>
        </p:spPr>
      </p:sp>
      <p:sp>
        <p:nvSpPr>
          <p:cNvPr id="48" name="Shape 45"/>
          <p:cNvSpPr/>
          <p:nvPr/>
        </p:nvSpPr>
        <p:spPr>
          <a:xfrm>
            <a:off x="4133088" y="2926080"/>
            <a:ext cx="182880" cy="0"/>
          </a:xfrm>
          <a:prstGeom prst="line">
            <a:avLst/>
          </a:prstGeom>
          <a:noFill/>
          <a:ln w="25400">
            <a:solidFill>
              <a:srgbClr val="47789F"/>
            </a:solidFill>
            <a:prstDash val="solid"/>
            <a:tailEnd type="triangle"/>
          </a:ln>
        </p:spPr>
      </p:sp>
      <p:sp>
        <p:nvSpPr>
          <p:cNvPr id="49" name="Shape 46"/>
          <p:cNvSpPr/>
          <p:nvPr/>
        </p:nvSpPr>
        <p:spPr>
          <a:xfrm>
            <a:off x="7900416" y="2926080"/>
            <a:ext cx="182880" cy="0"/>
          </a:xfrm>
          <a:prstGeom prst="line">
            <a:avLst/>
          </a:prstGeom>
          <a:noFill/>
          <a:ln w="25400">
            <a:solidFill>
              <a:srgbClr val="47789F"/>
            </a:solidFill>
            <a:prstDash val="solid"/>
            <a:tailEnd type="triangle"/>
          </a:ln>
        </p:spPr>
      </p:sp>
      <p:sp>
        <p:nvSpPr>
          <p:cNvPr id="50" name="Shape 47"/>
          <p:cNvSpPr/>
          <p:nvPr/>
        </p:nvSpPr>
        <p:spPr>
          <a:xfrm>
            <a:off x="548640" y="4709160"/>
            <a:ext cx="6766560" cy="1325880"/>
          </a:xfrm>
          <a:prstGeom prst="roundRect">
            <a:avLst>
              <a:gd name="adj" fmla="val 5517"/>
            </a:avLst>
          </a:prstGeom>
          <a:solidFill>
            <a:srgbClr val="102B4E"/>
          </a:solidFill>
          <a:ln/>
        </p:spPr>
      </p:sp>
      <p:sp>
        <p:nvSpPr>
          <p:cNvPr id="51" name="Text 48"/>
          <p:cNvSpPr txBox="1"/>
          <p:nvPr/>
        </p:nvSpPr>
        <p:spPr>
          <a:xfrm>
            <a:off x="777240" y="4800600"/>
            <a:ext cx="64008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Coverage ≠ approval</a:t>
            </a:r>
            <a:endParaRPr lang="en-US" sz="1800" dirty="0"/>
          </a:p>
        </p:txBody>
      </p:sp>
      <p:sp>
        <p:nvSpPr>
          <p:cNvPr id="52" name="Text 49"/>
          <p:cNvSpPr txBox="1"/>
          <p:nvPr/>
        </p:nvSpPr>
        <p:spPr>
          <a:xfrm>
            <a:off x="777240" y="5212080"/>
            <a:ext cx="6355080" cy="777240"/>
          </a:xfrm>
          <a:prstGeom prst="rect">
            <a:avLst/>
          </a:prstGeom>
          <a:noFill/>
          <a:ln/>
        </p:spPr>
        <p:txBody>
          <a:bodyPr wrap="square" lIns="0" tIns="0" rIns="0" bIns="0" rtlCol="0" anchor="t"/>
          <a:lstStyle/>
          <a:p>
            <a:pPr indent="0" marL="0">
              <a:buNone/>
            </a:pPr>
            <a:r>
              <a:rPr lang="en-US" sz="1300" dirty="0">
                <a:solidFill>
                  <a:srgbClr val="82B2D6"/>
                </a:solidFill>
                <a:latin typeface="Calibri" pitchFamily="34" charset="0"/>
                <a:ea typeface="Calibri" pitchFamily="34" charset="-122"/>
                <a:cs typeface="Calibri" pitchFamily="34" charset="-120"/>
              </a:rPr>
              <a:t>A human must still approve. School pickup needs the new assignee’s consent (pending). Approval records an internal simulation receipt only — no one is notified.</a:t>
            </a:r>
            <a:endParaRPr lang="en-US" sz="1300" dirty="0"/>
          </a:p>
        </p:txBody>
      </p:sp>
      <p:sp>
        <p:nvSpPr>
          <p:cNvPr id="53" name="Shape 50"/>
          <p:cNvSpPr/>
          <p:nvPr/>
        </p:nvSpPr>
        <p:spPr>
          <a:xfrm>
            <a:off x="7498080" y="4709160"/>
            <a:ext cx="4114800" cy="1325880"/>
          </a:xfrm>
          <a:prstGeom prst="roundRect">
            <a:avLst>
              <a:gd name="adj" fmla="val 5517"/>
            </a:avLst>
          </a:prstGeom>
          <a:solidFill>
            <a:srgbClr val="FFFFFF"/>
          </a:solidFill>
          <a:ln w="12700">
            <a:solidFill>
              <a:srgbClr val="D3DDE8"/>
            </a:solidFill>
            <a:prstDash val="solid"/>
          </a:ln>
        </p:spPr>
      </p:sp>
      <p:sp>
        <p:nvSpPr>
          <p:cNvPr id="54" name="Text 51"/>
          <p:cNvSpPr txBox="1"/>
          <p:nvPr/>
        </p:nvSpPr>
        <p:spPr>
          <a:xfrm>
            <a:off x="7635240" y="4800600"/>
            <a:ext cx="3886200" cy="1188720"/>
          </a:xfrm>
          <a:prstGeom prst="rect">
            <a:avLst/>
          </a:prstGeom>
          <a:noFill/>
          <a:ln/>
        </p:spPr>
        <p:txBody>
          <a:bodyPr wrap="square" lIns="0" tIns="0" rIns="0" bIns="0" rtlCol="0" anchor="t"/>
          <a:lstStyle/>
          <a:p>
            <a:pPr indent="0" marL="0">
              <a:buNone/>
            </a:pPr>
            <a:r>
              <a:rPr lang="en-US" sz="1050" dirty="0">
                <a:solidFill>
                  <a:srgbClr val="102B4E"/>
                </a:solidFill>
                <a:latin typeface="Consolas" pitchFamily="34" charset="0"/>
                <a:ea typeface="Consolas" pitchFamily="34" charset="-122"/>
                <a:cs typeface="Consolas" pitchFamily="34" charset="-120"/>
              </a:rPr>
              <a:t>Solver, 10 hosted runs: 43–167 ms</a:t>
            </a:r>
            <a:endParaRPr lang="en-US" sz="1050" dirty="0"/>
          </a:p>
          <a:p>
            <a:pPr indent="0" marL="0">
              <a:buNone/>
            </a:pPr>
            <a:r>
              <a:rPr lang="en-US" sz="1050" dirty="0">
                <a:solidFill>
                  <a:srgbClr val="102B4E"/>
                </a:solidFill>
                <a:latin typeface="Consolas" pitchFamily="34" charset="0"/>
                <a:ea typeface="Consolas" pitchFamily="34" charset="-122"/>
                <a:cs typeface="Consolas" pitchFamily="34" charset="-120"/>
              </a:rPr>
              <a:t>median 133 ms · status OPTIMAL · 0 violations</a:t>
            </a:r>
            <a:endParaRPr lang="en-US" sz="1050" dirty="0"/>
          </a:p>
          <a:p>
            <a:pPr indent="0" marL="0">
              <a:buNone/>
            </a:pPr>
            <a:r>
              <a:rPr lang="en-US" sz="1050" dirty="0">
                <a:solidFill>
                  <a:srgbClr val="102B4E"/>
                </a:solidFill>
                <a:latin typeface="Consolas" pitchFamily="34" charset="0"/>
                <a:ea typeface="Consolas" pitchFamily="34" charset="-122"/>
                <a:cs typeface="Consolas" pitchFamily="34" charset="-120"/>
              </a:rPr>
              <a:t>Round trip incl. network:</a:t>
            </a:r>
            <a:endParaRPr lang="en-US" sz="1050" dirty="0"/>
          </a:p>
          <a:p>
            <a:pPr indent="0" marL="0">
              <a:buNone/>
            </a:pPr>
            <a:r>
              <a:rPr lang="en-US" sz="1050" dirty="0">
                <a:solidFill>
                  <a:srgbClr val="102B4E"/>
                </a:solidFill>
                <a:latin typeface="Consolas" pitchFamily="34" charset="0"/>
                <a:ea typeface="Consolas" pitchFamily="34" charset="-122"/>
                <a:cs typeface="Consolas" pitchFamily="34" charset="-120"/>
              </a:rPr>
              <a:t>0.5 s simulate · 0.9 s recover</a:t>
            </a:r>
            <a:endParaRPr lang="en-US" sz="1050" dirty="0"/>
          </a:p>
        </p:txBody>
      </p:sp>
      <p:sp>
        <p:nvSpPr>
          <p:cNvPr id="55"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live API runs on 28 Oct 2026 (evidence/live_flagship.json). Free-tier hosting: timings vary; they are measurements, not guarantees.</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82B2D6"/>
                </a:solidFill>
                <a:latin typeface="Consolas" pitchFamily="34" charset="0"/>
                <a:ea typeface="Consolas" pitchFamily="34" charset="-122"/>
                <a:cs typeface="Consolas" pitchFamily="34" charset="-120"/>
              </a:rPr>
              <a:t>ACT IV · THE EVIDENCE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When recovery is impossible</a:t>
            </a:r>
            <a:endParaRPr lang="en-US" sz="3200" dirty="0"/>
          </a:p>
        </p:txBody>
      </p:sp>
      <p:pic>
        <p:nvPicPr>
          <p:cNvPr id="5" name="Image 0" descr="Engine explanation of why School pickup cannot be covered (real screenshot)">    </p:cNvPr>
          <p:cNvPicPr>
            <a:picLocks noChangeAspect="1"/>
          </p:cNvPicPr>
          <p:nvPr/>
        </p:nvPicPr>
        <p:blipFill>
          <a:blip r:embed="rId1"/>
          <a:stretch>
            <a:fillRect/>
          </a:stretch>
        </p:blipFill>
        <p:spPr>
          <a:xfrm>
            <a:off x="548640" y="1417320"/>
            <a:ext cx="11064240" cy="777954"/>
          </a:xfrm>
          <a:prstGeom prst="rect">
            <a:avLst/>
          </a:prstGeom>
        </p:spPr>
      </p:pic>
      <p:sp>
        <p:nvSpPr>
          <p:cNvPr id="6" name="Shape 2"/>
          <p:cNvSpPr/>
          <p:nvPr/>
        </p:nvSpPr>
        <p:spPr>
          <a:xfrm>
            <a:off x="548640" y="1417320"/>
            <a:ext cx="11064240" cy="777954"/>
          </a:xfrm>
          <a:prstGeom prst="rect">
            <a:avLst/>
          </a:prstGeom>
          <a:ln w="9525">
            <a:solidFill>
              <a:srgbClr val="D3DDE8"/>
            </a:solidFill>
            <a:prstDash val="solid"/>
          </a:ln>
        </p:spPr>
      </p:sp>
      <p:pic>
        <p:nvPicPr>
          <p:cNvPr id="7" name="Image 1" descr="Reference: verified complete recovery (real screenshot)">    </p:cNvPr>
          <p:cNvPicPr>
            <a:picLocks noChangeAspect="1"/>
          </p:cNvPicPr>
          <p:nvPr/>
        </p:nvPicPr>
        <p:blipFill>
          <a:blip r:embed="rId2"/>
          <a:stretch>
            <a:fillRect/>
          </a:stretch>
        </p:blipFill>
        <p:spPr>
          <a:xfrm>
            <a:off x="548640" y="2305002"/>
            <a:ext cx="3144632" cy="2514600"/>
          </a:xfrm>
          <a:prstGeom prst="rect">
            <a:avLst/>
          </a:prstGeom>
        </p:spPr>
      </p:pic>
      <p:sp>
        <p:nvSpPr>
          <p:cNvPr id="8" name="Shape 3"/>
          <p:cNvSpPr/>
          <p:nvPr/>
        </p:nvSpPr>
        <p:spPr>
          <a:xfrm>
            <a:off x="548640" y="2305002"/>
            <a:ext cx="3144632" cy="2514600"/>
          </a:xfrm>
          <a:prstGeom prst="rect">
            <a:avLst/>
          </a:prstGeom>
          <a:ln w="9525">
            <a:solidFill>
              <a:srgbClr val="D3DDE8"/>
            </a:solidFill>
            <a:prstDash val="solid"/>
          </a:ln>
        </p:spPr>
      </p:sp>
      <p:pic>
        <p:nvPicPr>
          <p:cNvPr id="9" name="Image 2" descr="Modified: valid partial plan, critical tasks uncovered (real screenshot)">    </p:cNvPr>
          <p:cNvPicPr>
            <a:picLocks noChangeAspect="1"/>
          </p:cNvPicPr>
          <p:nvPr/>
        </p:nvPicPr>
        <p:blipFill>
          <a:blip r:embed="rId3"/>
          <a:stretch>
            <a:fillRect/>
          </a:stretch>
        </p:blipFill>
        <p:spPr>
          <a:xfrm>
            <a:off x="3876152" y="2305002"/>
            <a:ext cx="3144632" cy="2514600"/>
          </a:xfrm>
          <a:prstGeom prst="rect">
            <a:avLst/>
          </a:prstGeom>
        </p:spPr>
      </p:pic>
      <p:sp>
        <p:nvSpPr>
          <p:cNvPr id="10" name="Shape 4"/>
          <p:cNvSpPr/>
          <p:nvPr/>
        </p:nvSpPr>
        <p:spPr>
          <a:xfrm>
            <a:off x="3876152" y="2305002"/>
            <a:ext cx="3144632" cy="2514600"/>
          </a:xfrm>
          <a:prstGeom prst="rect">
            <a:avLst/>
          </a:prstGeom>
          <a:ln w="9525">
            <a:solidFill>
              <a:srgbClr val="D3DDE8"/>
            </a:solidFill>
            <a:prstDash val="solid"/>
          </a:ln>
        </p:spPr>
      </p:sp>
      <p:sp>
        <p:nvSpPr>
          <p:cNvPr id="11" name="Text 5"/>
          <p:cNvSpPr txBox="1"/>
          <p:nvPr/>
        </p:nvSpPr>
        <p:spPr>
          <a:xfrm>
            <a:off x="548640" y="4911042"/>
            <a:ext cx="768096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Why not give the pickup to Noura?</a:t>
            </a:r>
            <a:endParaRPr lang="en-US" sz="1400" dirty="0"/>
          </a:p>
        </p:txBody>
      </p:sp>
      <p:sp>
        <p:nvSpPr>
          <p:cNvPr id="12" name="Text 6"/>
          <p:cNvSpPr txBox="1"/>
          <p:nvPr/>
        </p:nvSpPr>
        <p:spPr>
          <a:xfrm>
            <a:off x="548640" y="5203650"/>
            <a:ext cx="3886200" cy="2560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  Noura lacks the driving skill</a:t>
            </a:r>
            <a:endParaRPr lang="en-US" sz="1200" dirty="0"/>
          </a:p>
        </p:txBody>
      </p:sp>
      <p:sp>
        <p:nvSpPr>
          <p:cNvPr id="13" name="Text 7"/>
          <p:cNvSpPr txBox="1"/>
          <p:nvPr/>
        </p:nvSpPr>
        <p:spPr>
          <a:xfrm>
            <a:off x="4480560" y="5203650"/>
            <a:ext cx="3886200" cy="2560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  Noura lacks drive and pickup_authorized permissions</a:t>
            </a:r>
            <a:endParaRPr lang="en-US" sz="1200" dirty="0"/>
          </a:p>
        </p:txBody>
      </p:sp>
      <p:sp>
        <p:nvSpPr>
          <p:cNvPr id="14" name="Text 8"/>
          <p:cNvSpPr txBox="1"/>
          <p:nvPr/>
        </p:nvSpPr>
        <p:spPr>
          <a:xfrm>
            <a:off x="548640" y="5459682"/>
            <a:ext cx="3886200" cy="2560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  Noura carries restrictions on drive and pickup</a:t>
            </a:r>
            <a:endParaRPr lang="en-US" sz="1200" dirty="0"/>
          </a:p>
        </p:txBody>
      </p:sp>
      <p:sp>
        <p:nvSpPr>
          <p:cNvPr id="15" name="Text 9"/>
          <p:cNvSpPr txBox="1"/>
          <p:nvPr/>
        </p:nvSpPr>
        <p:spPr>
          <a:xfrm>
            <a:off x="4480560" y="5459682"/>
            <a:ext cx="3886200" cy="2560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  Yusuf is a dependent — never assigned</a:t>
            </a:r>
            <a:endParaRPr lang="en-US" sz="1200" dirty="0"/>
          </a:p>
        </p:txBody>
      </p:sp>
      <p:sp>
        <p:nvSpPr>
          <p:cNvPr id="16" name="Shape 10"/>
          <p:cNvSpPr/>
          <p:nvPr/>
        </p:nvSpPr>
        <p:spPr>
          <a:xfrm>
            <a:off x="8503920" y="2305002"/>
            <a:ext cx="3108960" cy="1645920"/>
          </a:xfrm>
          <a:prstGeom prst="roundRect">
            <a:avLst>
              <a:gd name="adj" fmla="val 4444"/>
            </a:avLst>
          </a:prstGeom>
          <a:solidFill>
            <a:srgbClr val="17375F"/>
          </a:solidFill>
          <a:ln w="12700">
            <a:solidFill>
              <a:srgbClr val="6FCAA0"/>
            </a:solidFill>
            <a:prstDash val="solid"/>
          </a:ln>
        </p:spPr>
      </p:sp>
      <p:sp>
        <p:nvSpPr>
          <p:cNvPr id="17" name="Text 11"/>
          <p:cNvSpPr txBox="1"/>
          <p:nvPr/>
        </p:nvSpPr>
        <p:spPr>
          <a:xfrm>
            <a:off x="8686800" y="2378154"/>
            <a:ext cx="2743200" cy="274320"/>
          </a:xfrm>
          <a:prstGeom prst="rect">
            <a:avLst/>
          </a:prstGeom>
          <a:noFill/>
          <a:ln/>
        </p:spPr>
        <p:txBody>
          <a:bodyPr wrap="square" lIns="0" tIns="0" rIns="0" bIns="0" rtlCol="0" anchor="t"/>
          <a:lstStyle/>
          <a:p>
            <a:pPr indent="0" marL="0">
              <a:buNone/>
            </a:pPr>
            <a:r>
              <a:rPr lang="en-US" sz="1200" b="1" dirty="0">
                <a:solidFill>
                  <a:srgbClr val="6FCAA0"/>
                </a:solidFill>
                <a:latin typeface="Calibri" pitchFamily="34" charset="0"/>
                <a:ea typeface="Calibri" pitchFamily="34" charset="-122"/>
                <a:cs typeface="Calibri" pitchFamily="34" charset="-120"/>
              </a:rPr>
              <a:t>Amina out</a:t>
            </a:r>
            <a:endParaRPr lang="en-US" sz="1200" dirty="0"/>
          </a:p>
        </p:txBody>
      </p:sp>
      <p:sp>
        <p:nvSpPr>
          <p:cNvPr id="18" name="Text 12"/>
          <p:cNvSpPr txBox="1"/>
          <p:nvPr/>
        </p:nvSpPr>
        <p:spPr>
          <a:xfrm>
            <a:off x="8686800" y="2670762"/>
            <a:ext cx="274320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Verified complete recovery</a:t>
            </a:r>
            <a:endParaRPr lang="en-US" sz="1600" dirty="0"/>
          </a:p>
        </p:txBody>
      </p:sp>
      <p:sp>
        <p:nvSpPr>
          <p:cNvPr id="19" name="Text 13"/>
          <p:cNvSpPr txBox="1"/>
          <p:nvPr/>
        </p:nvSpPr>
        <p:spPr>
          <a:xfrm>
            <a:off x="8686800" y="3173682"/>
            <a:ext cx="2743200" cy="640080"/>
          </a:xfrm>
          <a:prstGeom prst="rect">
            <a:avLst/>
          </a:prstGeom>
          <a:noFill/>
          <a:ln/>
        </p:spPr>
        <p:txBody>
          <a:bodyPr wrap="square" lIns="0" tIns="0" rIns="0" bIns="0" rtlCol="0" anchor="t"/>
          <a:lstStyle/>
          <a:p>
            <a:pPr indent="0" marL="0">
              <a:buNone/>
            </a:pPr>
            <a:r>
              <a:rPr lang="en-US" sz="1200" dirty="0">
                <a:solidFill>
                  <a:srgbClr val="82B2D6"/>
                </a:solidFill>
                <a:latin typeface="Consolas" pitchFamily="34" charset="0"/>
                <a:ea typeface="Consolas" pitchFamily="34" charset="-122"/>
                <a:cs typeface="Consolas" pitchFamily="34" charset="-120"/>
              </a:rPr>
              <a:t>4/4 covered · 100%</a:t>
            </a:r>
            <a:endParaRPr lang="en-US" sz="1200" dirty="0"/>
          </a:p>
          <a:p>
            <a:pPr indent="0" marL="0">
              <a:buNone/>
            </a:pPr>
            <a:r>
              <a:rPr lang="en-US" sz="1200" dirty="0">
                <a:solidFill>
                  <a:srgbClr val="82B2D6"/>
                </a:solidFill>
                <a:latin typeface="Consolas" pitchFamily="34" charset="0"/>
                <a:ea typeface="Consolas" pitchFamily="34" charset="-122"/>
                <a:cs typeface="Consolas" pitchFamily="34" charset="-120"/>
              </a:rPr>
              <a:t>56/56 checks · 0 violations</a:t>
            </a:r>
            <a:endParaRPr lang="en-US" sz="1200" dirty="0"/>
          </a:p>
        </p:txBody>
      </p:sp>
      <p:sp>
        <p:nvSpPr>
          <p:cNvPr id="20" name="Shape 14"/>
          <p:cNvSpPr/>
          <p:nvPr/>
        </p:nvSpPr>
        <p:spPr>
          <a:xfrm>
            <a:off x="8503920" y="4088082"/>
            <a:ext cx="3108960" cy="1920240"/>
          </a:xfrm>
          <a:prstGeom prst="roundRect">
            <a:avLst>
              <a:gd name="adj" fmla="val 3810"/>
            </a:avLst>
          </a:prstGeom>
          <a:solidFill>
            <a:srgbClr val="3A1B22"/>
          </a:solidFill>
          <a:ln w="12700">
            <a:solidFill>
              <a:srgbClr val="E08A8E"/>
            </a:solidFill>
            <a:prstDash val="solid"/>
          </a:ln>
        </p:spPr>
      </p:sp>
      <p:sp>
        <p:nvSpPr>
          <p:cNvPr id="21" name="Text 15"/>
          <p:cNvSpPr txBox="1"/>
          <p:nvPr/>
        </p:nvSpPr>
        <p:spPr>
          <a:xfrm>
            <a:off x="8686800" y="4161234"/>
            <a:ext cx="2743200" cy="274320"/>
          </a:xfrm>
          <a:prstGeom prst="rect">
            <a:avLst/>
          </a:prstGeom>
          <a:noFill/>
          <a:ln/>
        </p:spPr>
        <p:txBody>
          <a:bodyPr wrap="square" lIns="0" tIns="0" rIns="0" bIns="0" rtlCol="0" anchor="t"/>
          <a:lstStyle/>
          <a:p>
            <a:pPr indent="0" marL="0">
              <a:buNone/>
            </a:pPr>
            <a:r>
              <a:rPr lang="en-US" sz="1200" b="1" dirty="0">
                <a:solidFill>
                  <a:srgbClr val="E08A8E"/>
                </a:solidFill>
                <a:latin typeface="Calibri" pitchFamily="34" charset="0"/>
                <a:ea typeface="Calibri" pitchFamily="34" charset="-122"/>
                <a:cs typeface="Calibri" pitchFamily="34" charset="-120"/>
              </a:rPr>
              <a:t>Amina + Khalid out 14:40–15:45</a:t>
            </a:r>
            <a:endParaRPr lang="en-US" sz="1200" dirty="0"/>
          </a:p>
        </p:txBody>
      </p:sp>
      <p:sp>
        <p:nvSpPr>
          <p:cNvPr id="22" name="Text 16"/>
          <p:cNvSpPr txBox="1"/>
          <p:nvPr/>
        </p:nvSpPr>
        <p:spPr>
          <a:xfrm>
            <a:off x="8686800" y="4453842"/>
            <a:ext cx="2743200" cy="6858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Valid partial plan — human intervention required</a:t>
            </a:r>
            <a:endParaRPr lang="en-US" sz="1500" dirty="0"/>
          </a:p>
        </p:txBody>
      </p:sp>
      <p:sp>
        <p:nvSpPr>
          <p:cNvPr id="23" name="Text 17"/>
          <p:cNvSpPr txBox="1"/>
          <p:nvPr/>
        </p:nvSpPr>
        <p:spPr>
          <a:xfrm>
            <a:off x="8686800" y="5185362"/>
            <a:ext cx="2743200" cy="777240"/>
          </a:xfrm>
          <a:prstGeom prst="rect">
            <a:avLst/>
          </a:prstGeom>
          <a:noFill/>
          <a:ln/>
        </p:spPr>
        <p:txBody>
          <a:bodyPr wrap="square" lIns="0" tIns="0" rIns="0" bIns="0" rtlCol="0" anchor="t"/>
          <a:lstStyle/>
          <a:p>
            <a:pPr indent="0" marL="0">
              <a:buNone/>
            </a:pPr>
            <a:r>
              <a:rPr lang="en-US" sz="1100" dirty="0">
                <a:solidFill>
                  <a:srgbClr val="82B2D6"/>
                </a:solidFill>
                <a:latin typeface="Consolas" pitchFamily="34" charset="0"/>
                <a:ea typeface="Consolas" pitchFamily="34" charset="-122"/>
                <a:cs typeface="Consolas" pitchFamily="34" charset="-120"/>
              </a:rPr>
              <a:t>2 critical uncovered: pickup, homework</a:t>
            </a:r>
            <a:endParaRPr lang="en-US" sz="1100" dirty="0"/>
          </a:p>
          <a:p>
            <a:pPr indent="0" marL="0">
              <a:buNone/>
            </a:pPr>
            <a:r>
              <a:rPr lang="en-US" sz="1100" dirty="0">
                <a:solidFill>
                  <a:srgbClr val="82B2D6"/>
                </a:solidFill>
                <a:latin typeface="Consolas" pitchFamily="34" charset="0"/>
                <a:ea typeface="Consolas" pitchFamily="34" charset="-122"/>
                <a:cs typeface="Consolas" pitchFamily="34" charset="-120"/>
              </a:rPr>
              <a:t>33% coverage · 30/30 checks</a:t>
            </a:r>
            <a:endParaRPr lang="en-US" sz="1100" dirty="0"/>
          </a:p>
          <a:p>
            <a:pPr indent="0" marL="0">
              <a:buNone/>
            </a:pPr>
            <a:r>
              <a:rPr lang="en-US" sz="1100" dirty="0">
                <a:solidFill>
                  <a:srgbClr val="82B2D6"/>
                </a:solidFill>
                <a:latin typeface="Consolas" pitchFamily="34" charset="0"/>
                <a:ea typeface="Consolas" pitchFamily="34" charset="-122"/>
                <a:cs typeface="Consolas" pitchFamily="34" charset="-120"/>
              </a:rPr>
              <a:t>solver OPTIMAL</a:t>
            </a:r>
            <a:endParaRPr lang="en-US" sz="1100" dirty="0"/>
          </a:p>
        </p:txBody>
      </p:sp>
      <p:sp>
        <p:nvSpPr>
          <p:cNvPr id="24"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82B2D6"/>
                </a:solidFill>
                <a:latin typeface="Calibri" pitchFamily="34" charset="0"/>
                <a:ea typeface="Calibri" pitchFamily="34" charset="-122"/>
                <a:cs typeface="Calibri" pitchFamily="34" charset="-120"/>
              </a:rPr>
              <a:t>Source: real screenshot + live run 28 Oct 2026. An uncovered critical task is never presented as a complete recovery.</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2B2D6"/>
                </a:solidFill>
                <a:latin typeface="Consolas"/>
                <a:ea typeface="Consolas"/>
                <a:cs typeface="Consola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IV · THE EVIDENCE</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Benchmarking and test evidence</a:t>
            </a:r>
            <a:endParaRPr lang="en-US" sz="3200" dirty="0"/>
          </a:p>
        </p:txBody>
      </p:sp>
      <p:graphicFrame>
        <p:nvGraphicFramePr>
          <p:cNvPr id="5" name="Chart 0" descr=""/>
          <p:cNvGraphicFramePr/>
          <p:nvPr/>
        </p:nvGraphicFramePr>
        <p:xfrm>
          <a:off x="457200" y="1371600"/>
          <a:ext cx="329184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3840480" y="1371600"/>
          <a:ext cx="4114800" cy="3566160"/>
        </p:xfrm>
        <a:graphic xmlns:a="http://schemas.openxmlformats.org/drawingml/2006/main">
          <a:graphicData uri="http://schemas.openxmlformats.org/drawingml/2006/chart">
            <c:chart xmlns:c="http://schemas.openxmlformats.org/drawingml/2006/chart" r:id="rId2"/>
          </a:graphicData>
        </a:graphic>
      </p:graphicFrame>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8092440" y="1417320"/>
          <a:ext cx="3566160" cy="914400"/>
        </p:xfrm>
        <a:graphic>
          <a:graphicData uri="http://schemas.openxmlformats.org/drawingml/2006/table">
            <a:tbl>
              <a:tblPr/>
              <a:tblGrid>
                <a:gridCol w="1005840"/>
                <a:gridCol w="868680"/>
                <a:gridCol w="914400"/>
                <a:gridCol w="777240"/>
              </a:tblGrid>
              <a:tr h="5486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102B4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Mean weighted coverage</a:t>
                      </a:r>
                      <a:endParaRPr lang="en-US" sz="11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102B4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Cases with uncovered critical</a:t>
                      </a:r>
                      <a:endParaRPr lang="en-US" sz="11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102B4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Mean changes</a:t>
                      </a:r>
                      <a:endParaRPr lang="en-US" sz="11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102B4E"/>
                    </a:solidFill>
                  </a:tcPr>
                </a:tc>
              </a:tr>
              <a:tr h="548640">
                <a:tc>
                  <a:txBody>
                    <a:bodyPr/>
                    <a:lstStyle/>
                    <a:p>
                      <a:pPr algn="l" indent="0" marL="0">
                        <a:buNone/>
                      </a:pPr>
                      <a:r>
                        <a:rPr lang="en-US" sz="1200" b="1" dirty="0">
                          <a:solidFill>
                            <a:srgbClr val="1B2533"/>
                          </a:solidFill>
                          <a:latin typeface="Calibri" pitchFamily="34" charset="0"/>
                          <a:ea typeface="Calibri" pitchFamily="34" charset="-122"/>
                          <a:cs typeface="Calibri" pitchFamily="34" charset="-120"/>
                        </a:rPr>
                        <a:t>DOMINO</a:t>
                      </a:r>
                      <a:endParaRPr lang="en-US" sz="12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533"/>
                          </a:solidFill>
                          <a:latin typeface="Calibri" pitchFamily="34" charset="0"/>
                          <a:ea typeface="Calibri" pitchFamily="34" charset="-122"/>
                          <a:cs typeface="Calibri" pitchFamily="34" charset="-120"/>
                        </a:rPr>
                        <a:t>71.5%</a:t>
                      </a:r>
                      <a:endParaRPr lang="en-US" sz="12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533"/>
                          </a:solidFill>
                          <a:latin typeface="Calibri" pitchFamily="34" charset="0"/>
                          <a:ea typeface="Calibri" pitchFamily="34" charset="-122"/>
                          <a:cs typeface="Calibri" pitchFamily="34" charset="-120"/>
                        </a:rPr>
                        <a:t>10 / 21</a:t>
                      </a:r>
                      <a:endParaRPr lang="en-US" sz="12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533"/>
                          </a:solidFill>
                          <a:latin typeface="Calibri" pitchFamily="34" charset="0"/>
                          <a:ea typeface="Calibri" pitchFamily="34" charset="-122"/>
                          <a:cs typeface="Calibri" pitchFamily="34" charset="-120"/>
                        </a:rPr>
                        <a:t>2.48</a:t>
                      </a:r>
                      <a:endParaRPr lang="en-US" sz="12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1B2533"/>
                          </a:solidFill>
                          <a:latin typeface="Calibri" pitchFamily="34" charset="0"/>
                          <a:ea typeface="Calibri" pitchFamily="34" charset="-122"/>
                          <a:cs typeface="Calibri" pitchFamily="34" charset="-120"/>
                        </a:rPr>
                        <a:t>Greedy first-fit</a:t>
                      </a:r>
                      <a:endParaRPr lang="en-US" sz="12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533"/>
                          </a:solidFill>
                          <a:latin typeface="Calibri" pitchFamily="34" charset="0"/>
                          <a:ea typeface="Calibri" pitchFamily="34" charset="-122"/>
                          <a:cs typeface="Calibri" pitchFamily="34" charset="-120"/>
                        </a:rPr>
                        <a:t>71.1%</a:t>
                      </a:r>
                      <a:endParaRPr lang="en-US" sz="12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533"/>
                          </a:solidFill>
                          <a:latin typeface="Calibri" pitchFamily="34" charset="0"/>
                          <a:ea typeface="Calibri" pitchFamily="34" charset="-122"/>
                          <a:cs typeface="Calibri" pitchFamily="34" charset="-120"/>
                        </a:rPr>
                        <a:t>10 / 21</a:t>
                      </a:r>
                      <a:endParaRPr lang="en-US" sz="12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533"/>
                          </a:solidFill>
                          <a:latin typeface="Calibri" pitchFamily="34" charset="0"/>
                          <a:ea typeface="Calibri" pitchFamily="34" charset="-122"/>
                          <a:cs typeface="Calibri" pitchFamily="34" charset="-120"/>
                        </a:rPr>
                        <a:t>3.14</a:t>
                      </a:r>
                      <a:endParaRPr lang="en-US" sz="12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1B2533"/>
                          </a:solidFill>
                          <a:latin typeface="Calibri" pitchFamily="34" charset="0"/>
                          <a:ea typeface="Calibri" pitchFamily="34" charset="-122"/>
                          <a:cs typeface="Calibri" pitchFamily="34" charset="-120"/>
                        </a:rPr>
                        <a:t>No recovery</a:t>
                      </a:r>
                      <a:endParaRPr lang="en-US" sz="12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533"/>
                          </a:solidFill>
                          <a:latin typeface="Calibri" pitchFamily="34" charset="0"/>
                          <a:ea typeface="Calibri" pitchFamily="34" charset="-122"/>
                          <a:cs typeface="Calibri" pitchFamily="34" charset="-120"/>
                        </a:rPr>
                        <a:t>36.6%</a:t>
                      </a:r>
                      <a:endParaRPr lang="en-US" sz="12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533"/>
                          </a:solidFill>
                          <a:latin typeface="Calibri" pitchFamily="34" charset="0"/>
                          <a:ea typeface="Calibri" pitchFamily="34" charset="-122"/>
                          <a:cs typeface="Calibri" pitchFamily="34" charset="-120"/>
                        </a:rPr>
                        <a:t>20 / 21</a:t>
                      </a:r>
                      <a:endParaRPr lang="en-US" sz="12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53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18288" marB="18288" anchor="ctr">
                    <a:lnL w="9525" cap="flat" cmpd="sng" algn="ctr">
                      <a:solidFill>
                        <a:srgbClr val="D3DDE8"/>
                      </a:solidFill>
                      <a:prstDash val="solid"/>
                      <a:round/>
                      <a:headEnd type="none" w="med" len="med"/>
                      <a:tailEnd type="none" w="med" len="med"/>
                    </a:lnL>
                    <a:lnR w="9525" cap="flat" cmpd="sng" algn="ctr">
                      <a:solidFill>
                        <a:srgbClr val="D3DDE8"/>
                      </a:solidFill>
                      <a:prstDash val="solid"/>
                      <a:round/>
                      <a:headEnd type="none" w="med" len="med"/>
                      <a:tailEnd type="none" w="med" len="med"/>
                    </a:lnR>
                    <a:lnT w="9525" cap="flat" cmpd="sng" algn="ctr">
                      <a:solidFill>
                        <a:srgbClr val="D3DDE8"/>
                      </a:solidFill>
                      <a:prstDash val="solid"/>
                      <a:round/>
                      <a:headEnd type="none" w="med" len="med"/>
                      <a:tailEnd type="none" w="med" len="med"/>
                    </a:lnT>
                    <a:lnB w="9525" cap="flat" cmpd="sng" algn="ctr">
                      <a:solidFill>
                        <a:srgbClr val="D3DDE8"/>
                      </a:solidFill>
                      <a:prstDash val="solid"/>
                      <a:round/>
                      <a:headEnd type="none" w="med" len="med"/>
                      <a:tailEnd type="none" w="med" len="med"/>
                    </a:lnB>
                    <a:solidFill>
                      <a:srgbClr val="FFFFFF"/>
                    </a:solidFill>
                  </a:tcPr>
                </a:tc>
              </a:tr>
            </a:tbl>
          </a:graphicData>
        </a:graphic>
      </p:graphicFrame>
      <p:sp>
        <p:nvSpPr>
          <p:cNvPr id="8" name="Text 2"/>
          <p:cNvSpPr txBox="1"/>
          <p:nvPr/>
        </p:nvSpPr>
        <p:spPr>
          <a:xfrm>
            <a:off x="8092440" y="3749040"/>
            <a:ext cx="3566160" cy="868680"/>
          </a:xfrm>
          <a:prstGeom prst="rect">
            <a:avLst/>
          </a:prstGeom>
          <a:noFill/>
          <a:ln/>
        </p:spPr>
        <p:txBody>
          <a:bodyPr wrap="square" lIns="0" tIns="0" rIns="0" bIns="0" rtlCol="0" anchor="t"/>
          <a:lstStyle/>
          <a:p>
            <a:pPr indent="0" marL="0">
              <a:buNone/>
            </a:pPr>
            <a:r>
              <a:rPr lang="en-US" sz="1200" dirty="0">
                <a:solidFill>
                  <a:srgbClr val="1B2533"/>
                </a:solidFill>
                <a:latin typeface="Calibri" pitchFamily="34" charset="0"/>
                <a:ea typeface="Calibri" pitchFamily="34" charset="-122"/>
                <a:cs typeface="Calibri" pitchFamily="34" charset="-120"/>
              </a:rPr>
              <a:t>DOMINO tied greedy on critical coverage in all 21 cases; it made fewer changes. All baseline outputs also passed the independent verifier.</a:t>
            </a:r>
            <a:endParaRPr lang="en-US" sz="1200" dirty="0"/>
          </a:p>
        </p:txBody>
      </p:sp>
      <p:sp>
        <p:nvSpPr>
          <p:cNvPr id="9" name="Text 3"/>
          <p:cNvSpPr txBox="1"/>
          <p:nvPr/>
        </p:nvSpPr>
        <p:spPr>
          <a:xfrm>
            <a:off x="8092440" y="4663440"/>
            <a:ext cx="3566160" cy="457200"/>
          </a:xfrm>
          <a:prstGeom prst="rect">
            <a:avLst/>
          </a:prstGeom>
          <a:noFill/>
          <a:ln/>
        </p:spPr>
        <p:txBody>
          <a:bodyPr wrap="square" lIns="0" tIns="0" rIns="0" bIns="0" rtlCol="0" anchor="t"/>
          <a:lstStyle/>
          <a:p>
            <a:pPr indent="0" marL="0">
              <a:buNone/>
            </a:pPr>
            <a:r>
              <a:rPr lang="en-US" sz="1050" dirty="0">
                <a:solidFill>
                  <a:srgbClr val="102B4E"/>
                </a:solidFill>
                <a:latin typeface="Consolas" pitchFamily="34" charset="0"/>
                <a:ea typeface="Consolas" pitchFamily="34" charset="-122"/>
                <a:cs typeface="Consolas" pitchFamily="34" charset="-120"/>
              </a:rPr>
              <a:t>Dependency detection: 11 cases</a:t>
            </a:r>
            <a:endParaRPr lang="en-US" sz="1050" dirty="0"/>
          </a:p>
          <a:p>
            <a:pPr indent="0" marL="0">
              <a:buNone/>
            </a:pPr>
            <a:r>
              <a:rPr lang="en-US" sz="1050" dirty="0">
                <a:solidFill>
                  <a:srgbClr val="102B4E"/>
                </a:solidFill>
                <a:latin typeface="Consolas" pitchFamily="34" charset="0"/>
                <a:ea typeface="Consolas" pitchFamily="34" charset="-122"/>
                <a:cs typeface="Consolas" pitchFamily="34" charset="-120"/>
              </a:rPr>
              <a:t>P 1 · R 1 · F1 1</a:t>
            </a:r>
            <a:endParaRPr lang="en-US" sz="1050" dirty="0"/>
          </a:p>
        </p:txBody>
      </p:sp>
      <p:sp>
        <p:nvSpPr>
          <p:cNvPr id="10" name="Text 4"/>
          <p:cNvSpPr txBox="1"/>
          <p:nvPr/>
        </p:nvSpPr>
        <p:spPr>
          <a:xfrm>
            <a:off x="548640" y="5074920"/>
            <a:ext cx="7406640" cy="457200"/>
          </a:xfrm>
          <a:prstGeom prst="rect">
            <a:avLst/>
          </a:prstGeom>
          <a:noFill/>
          <a:ln/>
        </p:spPr>
        <p:txBody>
          <a:bodyPr wrap="square" lIns="0" tIns="0" rIns="0" bIns="0" rtlCol="0" anchor="t"/>
          <a:lstStyle/>
          <a:p>
            <a:pPr indent="0" marL="0">
              <a:buNone/>
            </a:pPr>
            <a:r>
              <a:rPr lang="en-US" sz="1050" dirty="0">
                <a:solidFill>
                  <a:srgbClr val="102B4E"/>
                </a:solidFill>
                <a:latin typeface="Consolas" pitchFamily="34" charset="0"/>
                <a:ea typeface="Consolas" pitchFamily="34" charset="-122"/>
                <a:cs typeface="Consolas" pitchFamily="34" charset="-120"/>
              </a:rPr>
              <a:t>Solver per case (n=27): median 187 ms · max 393 ms · case wall: median 801.7 ms, p95 1699.8 ms</a:t>
            </a:r>
            <a:endParaRPr lang="en-US" sz="1050" dirty="0"/>
          </a:p>
        </p:txBody>
      </p:sp>
      <p:sp>
        <p:nvSpPr>
          <p:cNvPr id="11" name="Text 5"/>
          <p:cNvSpPr txBox="1"/>
          <p:nvPr/>
        </p:nvSpPr>
        <p:spPr>
          <a:xfrm>
            <a:off x="548640" y="5440680"/>
            <a:ext cx="11064240" cy="54864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Categories covered: baseline validation · overlaps · missing permissions · resource unavailability · conflicting schedules · dependent restrictions · secondary disruptions · stale scenario versions.</a:t>
            </a:r>
            <a:endParaRPr lang="en-US" sz="1200" dirty="0"/>
          </a:p>
        </p:txBody>
      </p:sp>
      <p:sp>
        <p:nvSpPr>
          <p:cNvPr id="12"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POST /v1/benchmarks/run on the hosted API, 28 Oct 2026 (Linux, Python 3.12.16, OR-Tools 9.15.6755, 1 worker, seed 1). Synthetic, hand-authored cases; targets are not results.</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V · THE IMPACT</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Security, responsible AI and deployment</a:t>
            </a:r>
            <a:endParaRPr lang="en-US" sz="3200" dirty="0"/>
          </a:p>
        </p:txBody>
      </p:sp>
      <p:sp>
        <p:nvSpPr>
          <p:cNvPr id="5" name="Text 2"/>
          <p:cNvSpPr/>
          <p:nvPr/>
        </p:nvSpPr>
        <p:spPr>
          <a:xfrm>
            <a:off x="548640" y="1435608"/>
            <a:ext cx="384048" cy="384048"/>
          </a:xfrm>
          <a:prstGeom prst="ellipse">
            <a:avLst/>
          </a:prstGeom>
          <a:solidFill>
            <a:srgbClr val="2B7557"/>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6" name="Text 3"/>
          <p:cNvSpPr txBox="1"/>
          <p:nvPr/>
        </p:nvSpPr>
        <p:spPr>
          <a:xfrm>
            <a:off x="1097280" y="1399032"/>
            <a:ext cx="3017520" cy="274320"/>
          </a:xfrm>
          <a:prstGeom prst="rect">
            <a:avLst/>
          </a:prstGeom>
          <a:noFill/>
          <a:ln/>
        </p:spPr>
        <p:txBody>
          <a:bodyPr wrap="square" lIns="0" tIns="0" rIns="0" bIns="0" rtlCol="0" anchor="t"/>
          <a:lstStyle/>
          <a:p>
            <a:pPr indent="0" marL="0">
              <a:buNone/>
            </a:pPr>
            <a:r>
              <a:rPr lang="en-US" sz="1400" b="1" dirty="0">
                <a:solidFill>
                  <a:srgbClr val="102B4E"/>
                </a:solidFill>
                <a:latin typeface="Calibri" pitchFamily="34" charset="0"/>
                <a:ea typeface="Calibri" pitchFamily="34" charset="-122"/>
                <a:cs typeface="Calibri" pitchFamily="34" charset="-120"/>
              </a:rPr>
              <a:t>Synthetic data only</a:t>
            </a:r>
            <a:endParaRPr lang="en-US" sz="1400" dirty="0"/>
          </a:p>
        </p:txBody>
      </p:sp>
      <p:sp>
        <p:nvSpPr>
          <p:cNvPr id="7" name="Text 4"/>
          <p:cNvSpPr txBox="1"/>
          <p:nvPr/>
        </p:nvSpPr>
        <p:spPr>
          <a:xfrm>
            <a:off x="1097280" y="1673352"/>
            <a:ext cx="310896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three fictional households</a:t>
            </a:r>
            <a:endParaRPr lang="en-US" sz="1100" dirty="0"/>
          </a:p>
        </p:txBody>
      </p:sp>
      <p:sp>
        <p:nvSpPr>
          <p:cNvPr id="8" name="Text 5"/>
          <p:cNvSpPr/>
          <p:nvPr/>
        </p:nvSpPr>
        <p:spPr>
          <a:xfrm>
            <a:off x="548640" y="2075688"/>
            <a:ext cx="384048" cy="384048"/>
          </a:xfrm>
          <a:prstGeom prst="ellipse">
            <a:avLst/>
          </a:prstGeom>
          <a:solidFill>
            <a:srgbClr val="2B7557"/>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6"/>
          <p:cNvSpPr txBox="1"/>
          <p:nvPr/>
        </p:nvSpPr>
        <p:spPr>
          <a:xfrm>
            <a:off x="1097280" y="2039112"/>
            <a:ext cx="3017520" cy="274320"/>
          </a:xfrm>
          <a:prstGeom prst="rect">
            <a:avLst/>
          </a:prstGeom>
          <a:noFill/>
          <a:ln/>
        </p:spPr>
        <p:txBody>
          <a:bodyPr wrap="square" lIns="0" tIns="0" rIns="0" bIns="0" rtlCol="0" anchor="t"/>
          <a:lstStyle/>
          <a:p>
            <a:pPr indent="0" marL="0">
              <a:buNone/>
            </a:pPr>
            <a:r>
              <a:rPr lang="en-US" sz="1400" b="1" dirty="0">
                <a:solidFill>
                  <a:srgbClr val="102B4E"/>
                </a:solidFill>
                <a:latin typeface="Calibri" pitchFamily="34" charset="0"/>
                <a:ea typeface="Calibri" pitchFamily="34" charset="-122"/>
                <a:cs typeface="Calibri" pitchFamily="34" charset="-120"/>
              </a:rPr>
              <a:t>Server-side secrets</a:t>
            </a:r>
            <a:endParaRPr lang="en-US" sz="1400" dirty="0"/>
          </a:p>
        </p:txBody>
      </p:sp>
      <p:sp>
        <p:nvSpPr>
          <p:cNvPr id="10" name="Text 7"/>
          <p:cNvSpPr txBox="1"/>
          <p:nvPr/>
        </p:nvSpPr>
        <p:spPr>
          <a:xfrm>
            <a:off x="1097280" y="2313432"/>
            <a:ext cx="310896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no keys in browser code</a:t>
            </a:r>
            <a:endParaRPr lang="en-US" sz="1100" dirty="0"/>
          </a:p>
        </p:txBody>
      </p:sp>
      <p:sp>
        <p:nvSpPr>
          <p:cNvPr id="11" name="Text 8"/>
          <p:cNvSpPr/>
          <p:nvPr/>
        </p:nvSpPr>
        <p:spPr>
          <a:xfrm>
            <a:off x="548640" y="2715768"/>
            <a:ext cx="384048" cy="384048"/>
          </a:xfrm>
          <a:prstGeom prst="ellipse">
            <a:avLst/>
          </a:prstGeom>
          <a:solidFill>
            <a:srgbClr val="2B7557"/>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9"/>
          <p:cNvSpPr txBox="1"/>
          <p:nvPr/>
        </p:nvSpPr>
        <p:spPr>
          <a:xfrm>
            <a:off x="1097280" y="2679192"/>
            <a:ext cx="3017520" cy="274320"/>
          </a:xfrm>
          <a:prstGeom prst="rect">
            <a:avLst/>
          </a:prstGeom>
          <a:noFill/>
          <a:ln/>
        </p:spPr>
        <p:txBody>
          <a:bodyPr wrap="square" lIns="0" tIns="0" rIns="0" bIns="0" rtlCol="0" anchor="t"/>
          <a:lstStyle/>
          <a:p>
            <a:pPr indent="0" marL="0">
              <a:buNone/>
            </a:pPr>
            <a:r>
              <a:rPr lang="en-US" sz="1400" b="1" dirty="0">
                <a:solidFill>
                  <a:srgbClr val="102B4E"/>
                </a:solidFill>
                <a:latin typeface="Calibri" pitchFamily="34" charset="0"/>
                <a:ea typeface="Calibri" pitchFamily="34" charset="-122"/>
                <a:cs typeface="Calibri" pitchFamily="34" charset="-120"/>
              </a:rPr>
              <a:t>Input validation</a:t>
            </a:r>
            <a:endParaRPr lang="en-US" sz="1400" dirty="0"/>
          </a:p>
        </p:txBody>
      </p:sp>
      <p:sp>
        <p:nvSpPr>
          <p:cNvPr id="13" name="Text 10"/>
          <p:cNvSpPr txBox="1"/>
          <p:nvPr/>
        </p:nvSpPr>
        <p:spPr>
          <a:xfrm>
            <a:off x="1097280" y="2953512"/>
            <a:ext cx="310896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Pydantic · size &amp; rate limits · CORS allow-list</a:t>
            </a:r>
            <a:endParaRPr lang="en-US" sz="1100" dirty="0"/>
          </a:p>
        </p:txBody>
      </p:sp>
      <p:sp>
        <p:nvSpPr>
          <p:cNvPr id="14" name="Text 11"/>
          <p:cNvSpPr/>
          <p:nvPr/>
        </p:nvSpPr>
        <p:spPr>
          <a:xfrm>
            <a:off x="548640" y="3355848"/>
            <a:ext cx="384048" cy="384048"/>
          </a:xfrm>
          <a:prstGeom prst="ellipse">
            <a:avLst/>
          </a:prstGeom>
          <a:solidFill>
            <a:srgbClr val="2B7557"/>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5" name="Text 12"/>
          <p:cNvSpPr txBox="1"/>
          <p:nvPr/>
        </p:nvSpPr>
        <p:spPr>
          <a:xfrm>
            <a:off x="1097280" y="3319272"/>
            <a:ext cx="3017520" cy="274320"/>
          </a:xfrm>
          <a:prstGeom prst="rect">
            <a:avLst/>
          </a:prstGeom>
          <a:noFill/>
          <a:ln/>
        </p:spPr>
        <p:txBody>
          <a:bodyPr wrap="square" lIns="0" tIns="0" rIns="0" bIns="0" rtlCol="0" anchor="t"/>
          <a:lstStyle/>
          <a:p>
            <a:pPr indent="0" marL="0">
              <a:buNone/>
            </a:pPr>
            <a:r>
              <a:rPr lang="en-US" sz="1400" b="1" dirty="0">
                <a:solidFill>
                  <a:srgbClr val="102B4E"/>
                </a:solidFill>
                <a:latin typeface="Calibri" pitchFamily="34" charset="0"/>
                <a:ea typeface="Calibri" pitchFamily="34" charset="-122"/>
                <a:cs typeface="Calibri" pitchFamily="34" charset="-120"/>
              </a:rPr>
              <a:t>Permission-aware assignment</a:t>
            </a:r>
            <a:endParaRPr lang="en-US" sz="1400" dirty="0"/>
          </a:p>
        </p:txBody>
      </p:sp>
      <p:sp>
        <p:nvSpPr>
          <p:cNvPr id="16" name="Text 13"/>
          <p:cNvSpPr txBox="1"/>
          <p:nvPr/>
        </p:nvSpPr>
        <p:spPr>
          <a:xfrm>
            <a:off x="1097280" y="3593592"/>
            <a:ext cx="310896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age never grants permission</a:t>
            </a:r>
            <a:endParaRPr lang="en-US" sz="1100" dirty="0"/>
          </a:p>
        </p:txBody>
      </p:sp>
      <p:sp>
        <p:nvSpPr>
          <p:cNvPr id="17" name="Text 14"/>
          <p:cNvSpPr/>
          <p:nvPr/>
        </p:nvSpPr>
        <p:spPr>
          <a:xfrm>
            <a:off x="548640" y="3995928"/>
            <a:ext cx="384048" cy="384048"/>
          </a:xfrm>
          <a:prstGeom prst="ellipse">
            <a:avLst/>
          </a:prstGeom>
          <a:solidFill>
            <a:srgbClr val="2B7557"/>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5"/>
          <p:cNvSpPr txBox="1"/>
          <p:nvPr/>
        </p:nvSpPr>
        <p:spPr>
          <a:xfrm>
            <a:off x="1097280" y="3959352"/>
            <a:ext cx="3017520" cy="274320"/>
          </a:xfrm>
          <a:prstGeom prst="rect">
            <a:avLst/>
          </a:prstGeom>
          <a:noFill/>
          <a:ln/>
        </p:spPr>
        <p:txBody>
          <a:bodyPr wrap="square" lIns="0" tIns="0" rIns="0" bIns="0" rtlCol="0" anchor="t"/>
          <a:lstStyle/>
          <a:p>
            <a:pPr indent="0" marL="0">
              <a:buNone/>
            </a:pPr>
            <a:r>
              <a:rPr lang="en-US" sz="1400" b="1" dirty="0">
                <a:solidFill>
                  <a:srgbClr val="102B4E"/>
                </a:solidFill>
                <a:latin typeface="Calibri" pitchFamily="34" charset="0"/>
                <a:ea typeface="Calibri" pitchFamily="34" charset="-122"/>
                <a:cs typeface="Calibri" pitchFamily="34" charset="-120"/>
              </a:rPr>
              <a:t>Human approval</a:t>
            </a:r>
            <a:endParaRPr lang="en-US" sz="1400" dirty="0"/>
          </a:p>
        </p:txBody>
      </p:sp>
      <p:sp>
        <p:nvSpPr>
          <p:cNvPr id="19" name="Text 16"/>
          <p:cNvSpPr txBox="1"/>
          <p:nvPr/>
        </p:nvSpPr>
        <p:spPr>
          <a:xfrm>
            <a:off x="1097280" y="4233672"/>
            <a:ext cx="310896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simulation receipt; no one is notified</a:t>
            </a:r>
            <a:endParaRPr lang="en-US" sz="1100" dirty="0"/>
          </a:p>
        </p:txBody>
      </p:sp>
      <p:sp>
        <p:nvSpPr>
          <p:cNvPr id="20" name="Text 17"/>
          <p:cNvSpPr/>
          <p:nvPr/>
        </p:nvSpPr>
        <p:spPr>
          <a:xfrm>
            <a:off x="548640" y="4636008"/>
            <a:ext cx="384048" cy="384048"/>
          </a:xfrm>
          <a:prstGeom prst="ellipse">
            <a:avLst/>
          </a:prstGeom>
          <a:solidFill>
            <a:srgbClr val="2B7557"/>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1" name="Text 18"/>
          <p:cNvSpPr txBox="1"/>
          <p:nvPr/>
        </p:nvSpPr>
        <p:spPr>
          <a:xfrm>
            <a:off x="1097280" y="4599432"/>
            <a:ext cx="3017520" cy="274320"/>
          </a:xfrm>
          <a:prstGeom prst="rect">
            <a:avLst/>
          </a:prstGeom>
          <a:noFill/>
          <a:ln/>
        </p:spPr>
        <p:txBody>
          <a:bodyPr wrap="square" lIns="0" tIns="0" rIns="0" bIns="0" rtlCol="0" anchor="t"/>
          <a:lstStyle/>
          <a:p>
            <a:pPr indent="0" marL="0">
              <a:buNone/>
            </a:pPr>
            <a:r>
              <a:rPr lang="en-US" sz="1400" b="1" dirty="0">
                <a:solidFill>
                  <a:srgbClr val="102B4E"/>
                </a:solidFill>
                <a:latin typeface="Calibri" pitchFamily="34" charset="0"/>
                <a:ea typeface="Calibri" pitchFamily="34" charset="-122"/>
                <a:cs typeface="Calibri" pitchFamily="34" charset="-120"/>
              </a:rPr>
              <a:t>Independent verification</a:t>
            </a:r>
            <a:endParaRPr lang="en-US" sz="1400" dirty="0"/>
          </a:p>
        </p:txBody>
      </p:sp>
      <p:sp>
        <p:nvSpPr>
          <p:cNvPr id="22" name="Text 19"/>
          <p:cNvSpPr txBox="1"/>
          <p:nvPr/>
        </p:nvSpPr>
        <p:spPr>
          <a:xfrm>
            <a:off x="1097280" y="4873752"/>
            <a:ext cx="310896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18 rules, 0 violations required</a:t>
            </a:r>
            <a:endParaRPr lang="en-US" sz="1100" dirty="0"/>
          </a:p>
        </p:txBody>
      </p:sp>
      <p:sp>
        <p:nvSpPr>
          <p:cNvPr id="23" name="Text 20"/>
          <p:cNvSpPr/>
          <p:nvPr/>
        </p:nvSpPr>
        <p:spPr>
          <a:xfrm>
            <a:off x="548640" y="5276088"/>
            <a:ext cx="384048" cy="384048"/>
          </a:xfrm>
          <a:prstGeom prst="ellipse">
            <a:avLst/>
          </a:prstGeom>
          <a:solidFill>
            <a:srgbClr val="2B7557"/>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4" name="Text 21"/>
          <p:cNvSpPr txBox="1"/>
          <p:nvPr/>
        </p:nvSpPr>
        <p:spPr>
          <a:xfrm>
            <a:off x="1097280" y="5239512"/>
            <a:ext cx="3017520" cy="274320"/>
          </a:xfrm>
          <a:prstGeom prst="rect">
            <a:avLst/>
          </a:prstGeom>
          <a:noFill/>
          <a:ln/>
        </p:spPr>
        <p:txBody>
          <a:bodyPr wrap="square" lIns="0" tIns="0" rIns="0" bIns="0" rtlCol="0" anchor="t"/>
          <a:lstStyle/>
          <a:p>
            <a:pPr indent="0" marL="0">
              <a:buNone/>
            </a:pPr>
            <a:r>
              <a:rPr lang="en-US" sz="1400" b="1" dirty="0">
                <a:solidFill>
                  <a:srgbClr val="102B4E"/>
                </a:solidFill>
                <a:latin typeface="Calibri" pitchFamily="34" charset="0"/>
                <a:ea typeface="Calibri" pitchFamily="34" charset="-122"/>
                <a:cs typeface="Calibri" pitchFamily="34" charset="-120"/>
              </a:rPr>
              <a:t>Transparent limitations</a:t>
            </a:r>
            <a:endParaRPr lang="en-US" sz="1400" dirty="0"/>
          </a:p>
        </p:txBody>
      </p:sp>
      <p:sp>
        <p:nvSpPr>
          <p:cNvPr id="25" name="Text 22"/>
          <p:cNvSpPr txBox="1"/>
          <p:nvPr/>
        </p:nvSpPr>
        <p:spPr>
          <a:xfrm>
            <a:off x="1097280" y="5513832"/>
            <a:ext cx="310896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single day · fictional · no prediction</a:t>
            </a:r>
            <a:endParaRPr lang="en-US" sz="1100" dirty="0"/>
          </a:p>
        </p:txBody>
      </p:sp>
      <p:sp>
        <p:nvSpPr>
          <p:cNvPr id="26" name="Text 23"/>
          <p:cNvSpPr/>
          <p:nvPr/>
        </p:nvSpPr>
        <p:spPr>
          <a:xfrm>
            <a:off x="4754880" y="1463040"/>
            <a:ext cx="2011680" cy="914400"/>
          </a:xfrm>
          <a:prstGeom prst="roundRect">
            <a:avLst>
              <a:gd name="adj" fmla="val 8000"/>
            </a:avLst>
          </a:prstGeom>
          <a:solidFill>
            <a:srgbClr val="FFFFFF"/>
          </a:solidFill>
          <a:ln w="12700">
            <a:solidFill>
              <a:srgbClr val="47789F"/>
            </a:solidFill>
          </a:ln>
        </p:spPr>
        <p:txBody>
          <a:bodyPr wrap="square" lIns="50800" tIns="101600" rIns="101600" bIns="50800" rtlCol="0" anchor="ctr"/>
          <a:lstStyle/>
          <a:p>
            <a:pPr algn="ctr" indent="0" marL="0">
              <a:buNone/>
            </a:pPr>
            <a:r>
              <a:rPr lang="en-US" sz="1400" b="1" dirty="0">
                <a:solidFill>
                  <a:srgbClr val="102B4E"/>
                </a:solidFill>
                <a:latin typeface="Calibri" pitchFamily="34" charset="0"/>
                <a:ea typeface="Calibri" pitchFamily="34" charset="-122"/>
                <a:cs typeface="Calibri" pitchFamily="34" charset="-120"/>
              </a:rPr>
              <a:t>Browser</a:t>
            </a:r>
            <a:endParaRPr lang="en-US" sz="1400" dirty="0"/>
          </a:p>
          <a:p>
            <a:pPr algn="ctr" indent="0" marL="0">
              <a:buNone/>
            </a:pPr>
            <a:r>
              <a:rPr lang="en-US" sz="1100" dirty="0">
                <a:solidFill>
                  <a:srgbClr val="102B4E"/>
                </a:solidFill>
                <a:latin typeface="Calibri" pitchFamily="34" charset="0"/>
                <a:ea typeface="Calibri" pitchFamily="34" charset="-122"/>
                <a:cs typeface="Calibri" pitchFamily="34" charset="-120"/>
              </a:rPr>
              <a:t>any device</a:t>
            </a:r>
            <a:endParaRPr lang="en-US" sz="1400" dirty="0"/>
          </a:p>
        </p:txBody>
      </p:sp>
      <p:sp>
        <p:nvSpPr>
          <p:cNvPr id="27" name="Text 24"/>
          <p:cNvSpPr/>
          <p:nvPr/>
        </p:nvSpPr>
        <p:spPr>
          <a:xfrm>
            <a:off x="4754880" y="2743200"/>
            <a:ext cx="2011680" cy="914400"/>
          </a:xfrm>
          <a:prstGeom prst="roundRect">
            <a:avLst>
              <a:gd name="adj" fmla="val 8000"/>
            </a:avLst>
          </a:prstGeom>
          <a:solidFill>
            <a:srgbClr val="255E99"/>
          </a:solidFill>
          <a:ln/>
        </p:spPr>
        <p:txBody>
          <a:bodyPr wrap="square" lIns="50800" tIns="101600" rIns="101600" bIns="508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GitHub Pages</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React + TypeScript (static)</a:t>
            </a:r>
            <a:endParaRPr lang="en-US" sz="1400" dirty="0"/>
          </a:p>
        </p:txBody>
      </p:sp>
      <p:sp>
        <p:nvSpPr>
          <p:cNvPr id="28" name="Text 25"/>
          <p:cNvSpPr/>
          <p:nvPr/>
        </p:nvSpPr>
        <p:spPr>
          <a:xfrm>
            <a:off x="7406640" y="2743200"/>
            <a:ext cx="2377440" cy="914400"/>
          </a:xfrm>
          <a:prstGeom prst="roundRect">
            <a:avLst>
              <a:gd name="adj" fmla="val 8000"/>
            </a:avLst>
          </a:prstGeom>
          <a:solidFill>
            <a:srgbClr val="102B4E"/>
          </a:solidFill>
          <a:ln/>
        </p:spPr>
        <p:txBody>
          <a:bodyPr wrap="square" lIns="50800" tIns="101600" rIns="101600" bIns="508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FastAPI on Render</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Docker · Pydantic · CP-SAT</a:t>
            </a:r>
            <a:endParaRPr lang="en-US" sz="1400" dirty="0"/>
          </a:p>
        </p:txBody>
      </p:sp>
      <p:sp>
        <p:nvSpPr>
          <p:cNvPr id="29" name="Text 26"/>
          <p:cNvSpPr/>
          <p:nvPr/>
        </p:nvSpPr>
        <p:spPr>
          <a:xfrm>
            <a:off x="7406640" y="4206240"/>
            <a:ext cx="2377440" cy="914400"/>
          </a:xfrm>
          <a:prstGeom prst="roundRect">
            <a:avLst>
              <a:gd name="adj" fmla="val 8000"/>
            </a:avLst>
          </a:prstGeom>
          <a:solidFill>
            <a:srgbClr val="EAF3FA"/>
          </a:solidFill>
          <a:ln w="12700">
            <a:solidFill>
              <a:srgbClr val="255E99"/>
            </a:solidFill>
          </a:ln>
        </p:spPr>
        <p:txBody>
          <a:bodyPr wrap="square" lIns="50800" tIns="101600" rIns="101600" bIns="50800" rtlCol="0" anchor="ctr"/>
          <a:lstStyle/>
          <a:p>
            <a:pPr algn="ctr" indent="0" marL="0">
              <a:buNone/>
            </a:pPr>
            <a:r>
              <a:rPr lang="en-US" sz="1400" b="1" dirty="0">
                <a:solidFill>
                  <a:srgbClr val="102B4E"/>
                </a:solidFill>
                <a:latin typeface="Calibri" pitchFamily="34" charset="0"/>
                <a:ea typeface="Calibri" pitchFamily="34" charset="-122"/>
                <a:cs typeface="Calibri" pitchFamily="34" charset="-120"/>
              </a:rPr>
              <a:t>Google OR-Tools</a:t>
            </a:r>
            <a:endParaRPr lang="en-US" sz="1400" dirty="0"/>
          </a:p>
          <a:p>
            <a:pPr algn="ctr" indent="0" marL="0">
              <a:buNone/>
            </a:pPr>
            <a:r>
              <a:rPr lang="en-US" sz="1100" dirty="0">
                <a:solidFill>
                  <a:srgbClr val="102B4E"/>
                </a:solidFill>
                <a:latin typeface="Calibri" pitchFamily="34" charset="0"/>
                <a:ea typeface="Calibri" pitchFamily="34" charset="-122"/>
                <a:cs typeface="Calibri" pitchFamily="34" charset="-120"/>
              </a:rPr>
              <a:t>local solver</a:t>
            </a:r>
            <a:endParaRPr lang="en-US" sz="1400" dirty="0"/>
          </a:p>
        </p:txBody>
      </p:sp>
      <p:sp>
        <p:nvSpPr>
          <p:cNvPr id="30" name="Text 27"/>
          <p:cNvSpPr/>
          <p:nvPr/>
        </p:nvSpPr>
        <p:spPr>
          <a:xfrm>
            <a:off x="10058400" y="2743200"/>
            <a:ext cx="1600200" cy="914400"/>
          </a:xfrm>
          <a:prstGeom prst="roundRect">
            <a:avLst>
              <a:gd name="adj" fmla="val 8000"/>
            </a:avLst>
          </a:prstGeom>
          <a:solidFill>
            <a:srgbClr val="82B2D6"/>
          </a:solidFill>
          <a:ln/>
        </p:spPr>
        <p:txBody>
          <a:bodyPr wrap="square" lIns="50800" tIns="101600" rIns="101600" bIns="50800" rtlCol="0" anchor="ctr"/>
          <a:lstStyle/>
          <a:p>
            <a:pPr algn="ctr" indent="0" marL="0">
              <a:buNone/>
            </a:pPr>
            <a:r>
              <a:rPr lang="en-US" sz="1400" b="1" dirty="0">
                <a:solidFill>
                  <a:srgbClr val="102B4E"/>
                </a:solidFill>
                <a:latin typeface="Calibri" pitchFamily="34" charset="0"/>
                <a:ea typeface="Calibri" pitchFamily="34" charset="-122"/>
                <a:cs typeface="Calibri" pitchFamily="34" charset="-120"/>
              </a:rPr>
              <a:t>Gemini API</a:t>
            </a:r>
            <a:endParaRPr lang="en-US" sz="1400" dirty="0"/>
          </a:p>
          <a:p>
            <a:pPr algn="ctr" indent="0" marL="0">
              <a:buNone/>
            </a:pPr>
            <a:r>
              <a:rPr lang="en-US" sz="1100" dirty="0">
                <a:solidFill>
                  <a:srgbClr val="102B4E"/>
                </a:solidFill>
                <a:latin typeface="Calibri" pitchFamily="34" charset="0"/>
                <a:ea typeface="Calibri" pitchFamily="34" charset="-122"/>
                <a:cs typeface="Calibri" pitchFamily="34" charset="-120"/>
              </a:rPr>
              <a:t>language only</a:t>
            </a:r>
            <a:endParaRPr lang="en-US" sz="1400" dirty="0"/>
          </a:p>
        </p:txBody>
      </p:sp>
      <p:sp>
        <p:nvSpPr>
          <p:cNvPr id="31" name="Shape 28"/>
          <p:cNvSpPr/>
          <p:nvPr/>
        </p:nvSpPr>
        <p:spPr>
          <a:xfrm>
            <a:off x="5760720" y="2395728"/>
            <a:ext cx="0" cy="347472"/>
          </a:xfrm>
          <a:prstGeom prst="line">
            <a:avLst/>
          </a:prstGeom>
          <a:noFill/>
          <a:ln w="25400">
            <a:solidFill>
              <a:srgbClr val="47789F"/>
            </a:solidFill>
            <a:prstDash val="solid"/>
            <a:tailEnd type="triangle"/>
          </a:ln>
        </p:spPr>
      </p:sp>
      <p:sp>
        <p:nvSpPr>
          <p:cNvPr id="32" name="Shape 29"/>
          <p:cNvSpPr/>
          <p:nvPr/>
        </p:nvSpPr>
        <p:spPr>
          <a:xfrm>
            <a:off x="6784848" y="3200400"/>
            <a:ext cx="621792" cy="0"/>
          </a:xfrm>
          <a:prstGeom prst="line">
            <a:avLst/>
          </a:prstGeom>
          <a:noFill/>
          <a:ln w="25400">
            <a:solidFill>
              <a:srgbClr val="255E99"/>
            </a:solidFill>
            <a:prstDash val="solid"/>
            <a:tailEnd type="triangle"/>
          </a:ln>
        </p:spPr>
      </p:sp>
      <p:sp>
        <p:nvSpPr>
          <p:cNvPr id="33" name="Shape 30"/>
          <p:cNvSpPr/>
          <p:nvPr/>
        </p:nvSpPr>
        <p:spPr>
          <a:xfrm>
            <a:off x="9802368" y="3200400"/>
            <a:ext cx="256032" cy="0"/>
          </a:xfrm>
          <a:prstGeom prst="line">
            <a:avLst/>
          </a:prstGeom>
          <a:noFill/>
          <a:ln w="25400">
            <a:solidFill>
              <a:srgbClr val="47789F"/>
            </a:solidFill>
            <a:prstDash val="dash"/>
            <a:tailEnd type="triangle"/>
          </a:ln>
        </p:spPr>
      </p:sp>
      <p:sp>
        <p:nvSpPr>
          <p:cNvPr id="34" name="Shape 31"/>
          <p:cNvSpPr/>
          <p:nvPr/>
        </p:nvSpPr>
        <p:spPr>
          <a:xfrm>
            <a:off x="8595360" y="3675888"/>
            <a:ext cx="0" cy="530352"/>
          </a:xfrm>
          <a:prstGeom prst="line">
            <a:avLst/>
          </a:prstGeom>
          <a:noFill/>
          <a:ln w="25400">
            <a:solidFill>
              <a:srgbClr val="255E99"/>
            </a:solidFill>
            <a:prstDash val="solid"/>
            <a:tailEnd type="triangle"/>
          </a:ln>
        </p:spPr>
      </p:sp>
      <p:sp>
        <p:nvSpPr>
          <p:cNvPr id="35" name="Text 32"/>
          <p:cNvSpPr txBox="1"/>
          <p:nvPr/>
        </p:nvSpPr>
        <p:spPr>
          <a:xfrm>
            <a:off x="6784848" y="2944368"/>
            <a:ext cx="621792" cy="201168"/>
          </a:xfrm>
          <a:prstGeom prst="rect">
            <a:avLst/>
          </a:prstGeom>
          <a:noFill/>
          <a:ln/>
        </p:spPr>
        <p:txBody>
          <a:bodyPr wrap="square" lIns="0" tIns="0" rIns="0" bIns="0" rtlCol="0" anchor="t"/>
          <a:lstStyle/>
          <a:p>
            <a:pPr algn="ctr" indent="0" marL="0">
              <a:buNone/>
            </a:pPr>
            <a:r>
              <a:rPr lang="en-US" sz="900" dirty="0">
                <a:solidFill>
                  <a:srgbClr val="47789F"/>
                </a:solidFill>
                <a:latin typeface="Consolas" pitchFamily="34" charset="0"/>
                <a:ea typeface="Consolas" pitchFamily="34" charset="-122"/>
                <a:cs typeface="Consolas" pitchFamily="34" charset="-120"/>
              </a:rPr>
              <a:t>HTTPS</a:t>
            </a:r>
            <a:endParaRPr lang="en-US" sz="900" dirty="0"/>
          </a:p>
        </p:txBody>
      </p:sp>
      <p:sp>
        <p:nvSpPr>
          <p:cNvPr id="36" name="Shape 33"/>
          <p:cNvSpPr/>
          <p:nvPr/>
        </p:nvSpPr>
        <p:spPr>
          <a:xfrm>
            <a:off x="7406640" y="1463040"/>
            <a:ext cx="4251960" cy="914400"/>
          </a:xfrm>
          <a:prstGeom prst="roundRect">
            <a:avLst>
              <a:gd name="adj" fmla="val 8000"/>
            </a:avLst>
          </a:prstGeom>
          <a:solidFill>
            <a:srgbClr val="FFFFFF"/>
          </a:solidFill>
          <a:ln w="12700">
            <a:solidFill>
              <a:srgbClr val="D3DDE8"/>
            </a:solidFill>
            <a:prstDash val="solid"/>
          </a:ln>
        </p:spPr>
      </p:sp>
      <p:sp>
        <p:nvSpPr>
          <p:cNvPr id="37" name="Text 34"/>
          <p:cNvSpPr txBox="1"/>
          <p:nvPr/>
        </p:nvSpPr>
        <p:spPr>
          <a:xfrm>
            <a:off x="7589520" y="1572768"/>
            <a:ext cx="3931920" cy="731520"/>
          </a:xfrm>
          <a:prstGeom prst="rect">
            <a:avLst/>
          </a:prstGeom>
          <a:noFill/>
          <a:ln/>
        </p:spPr>
        <p:txBody>
          <a:bodyPr wrap="square" lIns="0" tIns="0" rIns="0" bIns="0" rtlCol="0" anchor="t"/>
          <a:lstStyle/>
          <a:p>
            <a:pPr indent="0" marL="0">
              <a:buNone/>
            </a:pPr>
            <a:r>
              <a:rPr lang="en-US" sz="1200" dirty="0">
                <a:solidFill>
                  <a:srgbClr val="102B4E"/>
                </a:solidFill>
                <a:latin typeface="Calibri" pitchFamily="34" charset="0"/>
                <a:ea typeface="Calibri" pitchFamily="34" charset="-122"/>
                <a:cs typeface="Calibri" pitchFamily="34" charset="-120"/>
              </a:rPr>
              <a:t>Secrets stay on the server: the browser never sees the Gemini key, and CORS accepts only the published site.</a:t>
            </a:r>
            <a:endParaRPr lang="en-US" sz="1200" dirty="0"/>
          </a:p>
        </p:txBody>
      </p:sp>
      <p:sp>
        <p:nvSpPr>
          <p:cNvPr id="38" name="Shape 35"/>
          <p:cNvSpPr/>
          <p:nvPr/>
        </p:nvSpPr>
        <p:spPr>
          <a:xfrm>
            <a:off x="4754880" y="5440680"/>
            <a:ext cx="6903720" cy="640080"/>
          </a:xfrm>
          <a:prstGeom prst="roundRect">
            <a:avLst>
              <a:gd name="adj" fmla="val 11429"/>
            </a:avLst>
          </a:prstGeom>
          <a:solidFill>
            <a:srgbClr val="FFFFFF"/>
          </a:solidFill>
          <a:ln w="12700">
            <a:solidFill>
              <a:srgbClr val="D3DDE8"/>
            </a:solidFill>
            <a:prstDash val="solid"/>
          </a:ln>
        </p:spPr>
      </p:sp>
      <p:sp>
        <p:nvSpPr>
          <p:cNvPr id="39" name="Text 36"/>
          <p:cNvSpPr txBox="1"/>
          <p:nvPr/>
        </p:nvSpPr>
        <p:spPr>
          <a:xfrm>
            <a:off x="4892040" y="5504688"/>
            <a:ext cx="6675120" cy="502920"/>
          </a:xfrm>
          <a:prstGeom prst="rect">
            <a:avLst/>
          </a:prstGeom>
          <a:noFill/>
          <a:ln/>
        </p:spPr>
        <p:txBody>
          <a:bodyPr wrap="square" lIns="0" tIns="0" rIns="0" bIns="0" rtlCol="0" anchor="t"/>
          <a:lstStyle/>
          <a:p>
            <a:pPr indent="0" marL="0">
              <a:buNone/>
            </a:pPr>
            <a:r>
              <a:rPr lang="en-US" sz="1100" dirty="0">
                <a:solidFill>
                  <a:srgbClr val="1B2533"/>
                </a:solidFill>
                <a:latin typeface="Calibri" pitchFamily="34" charset="0"/>
                <a:ea typeface="Calibri" pitchFamily="34" charset="-122"/>
                <a:cs typeface="Calibri" pitchFamily="34" charset="-120"/>
              </a:rPr>
              <a:t>Status snapshot 28 Oct 2026: /v1/health → ok · OR-Tools CP-SAT · language engines: Gemini + built-in parser. Not an uptime guarantee.</a:t>
            </a:r>
            <a:endParaRPr lang="en-US" sz="1100" dirty="0"/>
          </a:p>
        </p:txBody>
      </p:sp>
      <p:sp>
        <p:nvSpPr>
          <p:cNvPr id="40"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render.yaml, Dockerfile, pages.yml, backend/app/main.py (middleware, CORS, limits). No credentials or private URLs are shown anywhere in this deck.</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82B2D6"/>
                </a:solidFill>
                <a:latin typeface="Consolas" pitchFamily="34" charset="0"/>
                <a:ea typeface="Consolas" pitchFamily="34" charset="-122"/>
                <a:cs typeface="Consolas" pitchFamily="34" charset="-120"/>
              </a:rPr>
              <a:t>ACT V · THE IMPACT</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Family wellbeing and UAE relevance</a:t>
            </a:r>
            <a:endParaRPr lang="en-US" sz="3200" dirty="0"/>
          </a:p>
        </p:txBody>
      </p:sp>
      <p:sp>
        <p:nvSpPr>
          <p:cNvPr id="5" name="Shape 2"/>
          <p:cNvSpPr/>
          <p:nvPr/>
        </p:nvSpPr>
        <p:spPr>
          <a:xfrm flipH="1">
            <a:off x="1660550" y="2551176"/>
            <a:ext cx="1448410" cy="100584"/>
          </a:xfrm>
          <a:prstGeom prst="line">
            <a:avLst/>
          </a:prstGeom>
          <a:noFill/>
          <a:ln w="11430">
            <a:solidFill>
              <a:srgbClr val="47789F"/>
            </a:solidFill>
            <a:prstDash val="solid"/>
          </a:ln>
        </p:spPr>
      </p:sp>
      <p:sp>
        <p:nvSpPr>
          <p:cNvPr id="6" name="Shape 3"/>
          <p:cNvSpPr/>
          <p:nvPr/>
        </p:nvSpPr>
        <p:spPr>
          <a:xfrm flipV="1">
            <a:off x="3108960" y="1686154"/>
            <a:ext cx="603504" cy="865022"/>
          </a:xfrm>
          <a:prstGeom prst="line">
            <a:avLst/>
          </a:prstGeom>
          <a:noFill/>
          <a:ln w="11430">
            <a:solidFill>
              <a:srgbClr val="47789F"/>
            </a:solidFill>
            <a:prstDash val="solid"/>
          </a:ln>
        </p:spPr>
      </p:sp>
      <p:sp>
        <p:nvSpPr>
          <p:cNvPr id="7" name="Shape 4"/>
          <p:cNvSpPr/>
          <p:nvPr/>
        </p:nvSpPr>
        <p:spPr>
          <a:xfrm flipH="1">
            <a:off x="2807208" y="2551176"/>
            <a:ext cx="301752" cy="1307592"/>
          </a:xfrm>
          <a:prstGeom prst="line">
            <a:avLst/>
          </a:prstGeom>
          <a:noFill/>
          <a:ln w="11430">
            <a:solidFill>
              <a:srgbClr val="47789F"/>
            </a:solidFill>
            <a:prstDash val="solid"/>
          </a:ln>
        </p:spPr>
      </p:sp>
      <p:sp>
        <p:nvSpPr>
          <p:cNvPr id="8" name="Shape 5"/>
          <p:cNvSpPr/>
          <p:nvPr/>
        </p:nvSpPr>
        <p:spPr>
          <a:xfrm flipV="1">
            <a:off x="4356202" y="2410358"/>
            <a:ext cx="663854" cy="945490"/>
          </a:xfrm>
          <a:prstGeom prst="line">
            <a:avLst/>
          </a:prstGeom>
          <a:noFill/>
          <a:ln w="11430">
            <a:solidFill>
              <a:srgbClr val="47789F"/>
            </a:solidFill>
            <a:prstDash val="solid"/>
          </a:ln>
        </p:spPr>
      </p:sp>
      <p:sp>
        <p:nvSpPr>
          <p:cNvPr id="9" name="Shape 6"/>
          <p:cNvSpPr/>
          <p:nvPr/>
        </p:nvSpPr>
        <p:spPr>
          <a:xfrm>
            <a:off x="4356202" y="3355848"/>
            <a:ext cx="724205" cy="1207008"/>
          </a:xfrm>
          <a:prstGeom prst="line">
            <a:avLst/>
          </a:prstGeom>
          <a:noFill/>
          <a:ln w="11430">
            <a:solidFill>
              <a:srgbClr val="47789F"/>
            </a:solidFill>
            <a:prstDash val="solid"/>
          </a:ln>
        </p:spPr>
      </p:sp>
      <p:sp>
        <p:nvSpPr>
          <p:cNvPr id="10" name="Shape 7"/>
          <p:cNvSpPr/>
          <p:nvPr/>
        </p:nvSpPr>
        <p:spPr>
          <a:xfrm flipH="1">
            <a:off x="2706624" y="4824374"/>
            <a:ext cx="965606" cy="744322"/>
          </a:xfrm>
          <a:prstGeom prst="line">
            <a:avLst/>
          </a:prstGeom>
          <a:noFill/>
          <a:ln w="11430">
            <a:solidFill>
              <a:srgbClr val="47789F"/>
            </a:solidFill>
            <a:prstDash val="solid"/>
          </a:ln>
        </p:spPr>
      </p:sp>
      <p:sp>
        <p:nvSpPr>
          <p:cNvPr id="11" name="Shape 8"/>
          <p:cNvSpPr/>
          <p:nvPr/>
        </p:nvSpPr>
        <p:spPr>
          <a:xfrm>
            <a:off x="3672230" y="4824374"/>
            <a:ext cx="543154" cy="804672"/>
          </a:xfrm>
          <a:prstGeom prst="line">
            <a:avLst/>
          </a:prstGeom>
          <a:noFill/>
          <a:ln w="11430">
            <a:solidFill>
              <a:srgbClr val="47789F"/>
            </a:solidFill>
            <a:prstDash val="solid"/>
          </a:ln>
        </p:spPr>
      </p:sp>
      <p:sp>
        <p:nvSpPr>
          <p:cNvPr id="12" name="Shape 9"/>
          <p:cNvSpPr/>
          <p:nvPr/>
        </p:nvSpPr>
        <p:spPr>
          <a:xfrm flipH="1" flipV="1">
            <a:off x="1137514" y="3657600"/>
            <a:ext cx="965606" cy="764438"/>
          </a:xfrm>
          <a:prstGeom prst="line">
            <a:avLst/>
          </a:prstGeom>
          <a:noFill/>
          <a:ln w="11430">
            <a:solidFill>
              <a:srgbClr val="47789F"/>
            </a:solidFill>
            <a:prstDash val="solid"/>
          </a:ln>
        </p:spPr>
      </p:sp>
      <p:sp>
        <p:nvSpPr>
          <p:cNvPr id="13" name="Shape 10"/>
          <p:cNvSpPr/>
          <p:nvPr/>
        </p:nvSpPr>
        <p:spPr>
          <a:xfrm flipV="1">
            <a:off x="2103120" y="3858768"/>
            <a:ext cx="704088" cy="563270"/>
          </a:xfrm>
          <a:prstGeom prst="line">
            <a:avLst/>
          </a:prstGeom>
          <a:noFill/>
          <a:ln w="11430">
            <a:solidFill>
              <a:srgbClr val="47789F"/>
            </a:solidFill>
            <a:prstDash val="solid"/>
          </a:ln>
        </p:spPr>
      </p:sp>
      <p:sp>
        <p:nvSpPr>
          <p:cNvPr id="14" name="Shape 11"/>
          <p:cNvSpPr/>
          <p:nvPr/>
        </p:nvSpPr>
        <p:spPr>
          <a:xfrm flipV="1">
            <a:off x="2807208" y="3355848"/>
            <a:ext cx="1548994" cy="502920"/>
          </a:xfrm>
          <a:prstGeom prst="line">
            <a:avLst/>
          </a:prstGeom>
          <a:noFill/>
          <a:ln w="11430">
            <a:solidFill>
              <a:srgbClr val="47789F"/>
            </a:solidFill>
            <a:prstDash val="solid"/>
          </a:ln>
        </p:spPr>
      </p:sp>
      <p:sp>
        <p:nvSpPr>
          <p:cNvPr id="15" name="Shape 12"/>
          <p:cNvSpPr/>
          <p:nvPr/>
        </p:nvSpPr>
        <p:spPr>
          <a:xfrm flipH="1">
            <a:off x="1137514" y="2651760"/>
            <a:ext cx="523037" cy="1005840"/>
          </a:xfrm>
          <a:prstGeom prst="line">
            <a:avLst/>
          </a:prstGeom>
          <a:noFill/>
          <a:ln w="11430">
            <a:solidFill>
              <a:srgbClr val="47789F"/>
            </a:solidFill>
            <a:prstDash val="solid"/>
          </a:ln>
        </p:spPr>
      </p:sp>
      <p:sp>
        <p:nvSpPr>
          <p:cNvPr id="16" name="Shape 13"/>
          <p:cNvSpPr/>
          <p:nvPr/>
        </p:nvSpPr>
        <p:spPr>
          <a:xfrm>
            <a:off x="3712464" y="1686154"/>
            <a:ext cx="1307592" cy="724205"/>
          </a:xfrm>
          <a:prstGeom prst="line">
            <a:avLst/>
          </a:prstGeom>
          <a:noFill/>
          <a:ln w="11430">
            <a:solidFill>
              <a:srgbClr val="47789F"/>
            </a:solidFill>
            <a:prstDash val="solid"/>
          </a:ln>
        </p:spPr>
      </p:sp>
      <p:sp>
        <p:nvSpPr>
          <p:cNvPr id="17" name="Shape 14"/>
          <p:cNvSpPr/>
          <p:nvPr/>
        </p:nvSpPr>
        <p:spPr>
          <a:xfrm>
            <a:off x="2706624" y="5568696"/>
            <a:ext cx="1508760" cy="60350"/>
          </a:xfrm>
          <a:prstGeom prst="line">
            <a:avLst/>
          </a:prstGeom>
          <a:noFill/>
          <a:ln w="11430">
            <a:solidFill>
              <a:srgbClr val="47789F"/>
            </a:solidFill>
            <a:prstDash val="solid"/>
          </a:ln>
        </p:spPr>
      </p:sp>
      <p:sp>
        <p:nvSpPr>
          <p:cNvPr id="18" name="Text 15"/>
          <p:cNvSpPr/>
          <p:nvPr/>
        </p:nvSpPr>
        <p:spPr>
          <a:xfrm>
            <a:off x="2871216" y="2313432"/>
            <a:ext cx="475488" cy="475488"/>
          </a:xfrm>
          <a:prstGeom prst="ellipse">
            <a:avLst/>
          </a:prstGeom>
          <a:solidFill>
            <a:srgbClr val="255E99"/>
          </a:solidFill>
          <a:ln w="12700">
            <a:solidFill>
              <a:srgbClr val="EAF3F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9" name="Text 16"/>
          <p:cNvSpPr/>
          <p:nvPr/>
        </p:nvSpPr>
        <p:spPr>
          <a:xfrm>
            <a:off x="4118458" y="3118104"/>
            <a:ext cx="475488" cy="475488"/>
          </a:xfrm>
          <a:prstGeom prst="ellipse">
            <a:avLst/>
          </a:prstGeom>
          <a:solidFill>
            <a:srgbClr val="255E99"/>
          </a:solidFill>
          <a:ln w="12700">
            <a:solidFill>
              <a:srgbClr val="EAF3F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a:t>
            </a:r>
            <a:endParaRPr lang="en-US" sz="1200" dirty="0"/>
          </a:p>
        </p:txBody>
      </p:sp>
      <p:sp>
        <p:nvSpPr>
          <p:cNvPr id="20" name="Text 17"/>
          <p:cNvSpPr/>
          <p:nvPr/>
        </p:nvSpPr>
        <p:spPr>
          <a:xfrm>
            <a:off x="3434486" y="4586630"/>
            <a:ext cx="475488" cy="475488"/>
          </a:xfrm>
          <a:prstGeom prst="ellipse">
            <a:avLst/>
          </a:prstGeom>
          <a:solidFill>
            <a:srgbClr val="255E99"/>
          </a:solidFill>
          <a:ln w="12700">
            <a:solidFill>
              <a:srgbClr val="EAF3F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p>
        </p:txBody>
      </p:sp>
      <p:sp>
        <p:nvSpPr>
          <p:cNvPr id="21" name="Text 18"/>
          <p:cNvSpPr/>
          <p:nvPr/>
        </p:nvSpPr>
        <p:spPr>
          <a:xfrm>
            <a:off x="1920240" y="4239158"/>
            <a:ext cx="365760" cy="365760"/>
          </a:xfrm>
          <a:prstGeom prst="ellipse">
            <a:avLst/>
          </a:prstGeom>
          <a:solidFill>
            <a:srgbClr val="47789F"/>
          </a:solidFill>
          <a:ln w="12700">
            <a:solidFill>
              <a:srgbClr val="EAF3F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a:t>
            </a:r>
            <a:endParaRPr lang="en-US" sz="1200" dirty="0"/>
          </a:p>
        </p:txBody>
      </p:sp>
      <p:sp>
        <p:nvSpPr>
          <p:cNvPr id="22" name="Text 19"/>
          <p:cNvSpPr/>
          <p:nvPr/>
        </p:nvSpPr>
        <p:spPr>
          <a:xfrm>
            <a:off x="1523390" y="2514600"/>
            <a:ext cx="274320" cy="274320"/>
          </a:xfrm>
          <a:prstGeom prst="diamond">
            <a:avLst/>
          </a:prstGeom>
          <a:solidFill>
            <a:srgbClr val="82B2D6"/>
          </a:solidFill>
          <a:ln/>
        </p:spPr>
        <p:txBody>
          <a:bodyPr wrap="square" lIns="0" tIns="0" rIns="0" bIns="0" rtlCol="0" anchor="ctr"/>
          <a:lstStyle/>
          <a:p>
            <a:pPr algn="ctr" indent="0" marL="0">
              <a:buNone/>
            </a:pPr>
            <a:endParaRPr lang="en-US" sz="1200" dirty="0"/>
          </a:p>
        </p:txBody>
      </p:sp>
      <p:sp>
        <p:nvSpPr>
          <p:cNvPr id="23" name="Text 20"/>
          <p:cNvSpPr/>
          <p:nvPr/>
        </p:nvSpPr>
        <p:spPr>
          <a:xfrm>
            <a:off x="4882896" y="2273198"/>
            <a:ext cx="274320" cy="274320"/>
          </a:xfrm>
          <a:prstGeom prst="diamond">
            <a:avLst/>
          </a:prstGeom>
          <a:solidFill>
            <a:srgbClr val="82B2D6"/>
          </a:solidFill>
          <a:ln/>
        </p:spPr>
        <p:txBody>
          <a:bodyPr wrap="square" lIns="0" tIns="0" rIns="0" bIns="0" rtlCol="0" anchor="ctr"/>
          <a:lstStyle/>
          <a:p>
            <a:pPr algn="ctr" indent="0" marL="0">
              <a:buNone/>
            </a:pPr>
            <a:endParaRPr lang="en-US" sz="1200" dirty="0"/>
          </a:p>
        </p:txBody>
      </p:sp>
      <p:sp>
        <p:nvSpPr>
          <p:cNvPr id="24" name="Text 21"/>
          <p:cNvSpPr/>
          <p:nvPr/>
        </p:nvSpPr>
        <p:spPr>
          <a:xfrm>
            <a:off x="3575304" y="1548994"/>
            <a:ext cx="274320" cy="274320"/>
          </a:xfrm>
          <a:prstGeom prst="diamond">
            <a:avLst/>
          </a:prstGeom>
          <a:solidFill>
            <a:srgbClr val="82B2D6"/>
          </a:solidFill>
          <a:ln/>
        </p:spPr>
        <p:txBody>
          <a:bodyPr wrap="square" lIns="0" tIns="0" rIns="0" bIns="0" rtlCol="0" anchor="ctr"/>
          <a:lstStyle/>
          <a:p>
            <a:pPr algn="ctr" indent="0" marL="0">
              <a:buNone/>
            </a:pPr>
            <a:endParaRPr lang="en-US" sz="1200" dirty="0"/>
          </a:p>
        </p:txBody>
      </p:sp>
      <p:sp>
        <p:nvSpPr>
          <p:cNvPr id="25" name="Text 22"/>
          <p:cNvSpPr/>
          <p:nvPr/>
        </p:nvSpPr>
        <p:spPr>
          <a:xfrm>
            <a:off x="2569464" y="5431536"/>
            <a:ext cx="274320" cy="274320"/>
          </a:xfrm>
          <a:prstGeom prst="diamond">
            <a:avLst/>
          </a:prstGeom>
          <a:solidFill>
            <a:srgbClr val="82B2D6"/>
          </a:solidFill>
          <a:ln/>
        </p:spPr>
        <p:txBody>
          <a:bodyPr wrap="square" lIns="0" tIns="0" rIns="0" bIns="0" rtlCol="0" anchor="ctr"/>
          <a:lstStyle/>
          <a:p>
            <a:pPr algn="ctr" indent="0" marL="0">
              <a:buNone/>
            </a:pPr>
            <a:endParaRPr lang="en-US" sz="1200" dirty="0"/>
          </a:p>
        </p:txBody>
      </p:sp>
      <p:sp>
        <p:nvSpPr>
          <p:cNvPr id="26" name="Text 23"/>
          <p:cNvSpPr/>
          <p:nvPr/>
        </p:nvSpPr>
        <p:spPr>
          <a:xfrm>
            <a:off x="4943246" y="4425696"/>
            <a:ext cx="274320" cy="274320"/>
          </a:xfrm>
          <a:prstGeom prst="hexagon">
            <a:avLst/>
          </a:prstGeom>
          <a:solidFill>
            <a:srgbClr val="102B4E"/>
          </a:solidFill>
          <a:ln w="12700">
            <a:solidFill>
              <a:srgbClr val="82B2D6"/>
            </a:solidFill>
          </a:ln>
        </p:spPr>
        <p:txBody>
          <a:bodyPr wrap="square" lIns="0" tIns="0" rIns="0" bIns="0" rtlCol="0" anchor="ctr"/>
          <a:lstStyle/>
          <a:p>
            <a:pPr algn="ctr" indent="0" marL="0">
              <a:buNone/>
            </a:pPr>
            <a:endParaRPr lang="en-US" sz="1200" dirty="0"/>
          </a:p>
        </p:txBody>
      </p:sp>
      <p:sp>
        <p:nvSpPr>
          <p:cNvPr id="27" name="Text 24"/>
          <p:cNvSpPr/>
          <p:nvPr/>
        </p:nvSpPr>
        <p:spPr>
          <a:xfrm>
            <a:off x="1000354" y="3520440"/>
            <a:ext cx="274320" cy="274320"/>
          </a:xfrm>
          <a:prstGeom prst="hexagon">
            <a:avLst/>
          </a:prstGeom>
          <a:solidFill>
            <a:srgbClr val="102B4E"/>
          </a:solidFill>
          <a:ln w="12700">
            <a:solidFill>
              <a:srgbClr val="82B2D6"/>
            </a:solidFill>
          </a:ln>
        </p:spPr>
        <p:txBody>
          <a:bodyPr wrap="square" lIns="0" tIns="0" rIns="0" bIns="0" rtlCol="0" anchor="ctr"/>
          <a:lstStyle/>
          <a:p>
            <a:pPr algn="ctr" indent="0" marL="0">
              <a:buNone/>
            </a:pPr>
            <a:endParaRPr lang="en-US" sz="1200" dirty="0"/>
          </a:p>
        </p:txBody>
      </p:sp>
      <p:sp>
        <p:nvSpPr>
          <p:cNvPr id="28" name="Text 25"/>
          <p:cNvSpPr/>
          <p:nvPr/>
        </p:nvSpPr>
        <p:spPr>
          <a:xfrm>
            <a:off x="4078224" y="5491886"/>
            <a:ext cx="274320" cy="274320"/>
          </a:xfrm>
          <a:prstGeom prst="hexagon">
            <a:avLst/>
          </a:prstGeom>
          <a:solidFill>
            <a:srgbClr val="102B4E"/>
          </a:solidFill>
          <a:ln w="12700">
            <a:solidFill>
              <a:srgbClr val="82B2D6"/>
            </a:solidFill>
          </a:ln>
        </p:spPr>
        <p:txBody>
          <a:bodyPr wrap="square" lIns="0" tIns="0" rIns="0" bIns="0" rtlCol="0" anchor="ctr"/>
          <a:lstStyle/>
          <a:p>
            <a:pPr algn="ctr" indent="0" marL="0">
              <a:buNone/>
            </a:pPr>
            <a:endParaRPr lang="en-US" sz="1200" dirty="0"/>
          </a:p>
        </p:txBody>
      </p:sp>
      <p:sp>
        <p:nvSpPr>
          <p:cNvPr id="29" name="Text 26"/>
          <p:cNvSpPr/>
          <p:nvPr/>
        </p:nvSpPr>
        <p:spPr>
          <a:xfrm>
            <a:off x="2715768" y="3767328"/>
            <a:ext cx="182880" cy="182880"/>
          </a:xfrm>
          <a:prstGeom prst="ellipse">
            <a:avLst/>
          </a:prstGeom>
          <a:solidFill>
            <a:srgbClr val="EAF3FA"/>
          </a:solidFill>
          <a:ln/>
        </p:spPr>
        <p:txBody>
          <a:bodyPr wrap="square" lIns="0" tIns="0" rIns="0" bIns="0" rtlCol="0" anchor="ctr"/>
          <a:lstStyle/>
          <a:p>
            <a:pPr algn="ctr" indent="0" marL="0">
              <a:buNone/>
            </a:pPr>
            <a:endParaRPr lang="en-US" sz="1200" dirty="0"/>
          </a:p>
        </p:txBody>
      </p:sp>
      <p:sp>
        <p:nvSpPr>
          <p:cNvPr id="30" name="Text 27"/>
          <p:cNvSpPr txBox="1"/>
          <p:nvPr/>
        </p:nvSpPr>
        <p:spPr>
          <a:xfrm>
            <a:off x="548640" y="5870448"/>
            <a:ext cx="5120640" cy="228600"/>
          </a:xfrm>
          <a:prstGeom prst="rect">
            <a:avLst/>
          </a:prstGeom>
          <a:noFill/>
          <a:ln/>
        </p:spPr>
        <p:txBody>
          <a:bodyPr wrap="square" lIns="0" tIns="0" rIns="0" bIns="0" rtlCol="0" anchor="t"/>
          <a:lstStyle/>
          <a:p>
            <a:pPr indent="0" marL="0">
              <a:buNone/>
            </a:pPr>
            <a:r>
              <a:rPr lang="en-US" sz="1000" i="1" dirty="0">
                <a:solidFill>
                  <a:srgbClr val="82B2D6"/>
                </a:solidFill>
                <a:latin typeface="Calibri" pitchFamily="34" charset="0"/>
                <a:ea typeface="Calibri" pitchFamily="34" charset="-122"/>
                <a:cs typeface="Calibri" pitchFamily="34" charset="-120"/>
              </a:rPr>
              <a:t>Conceptual illustration — not data</a:t>
            </a:r>
            <a:endParaRPr lang="en-US" sz="1000" dirty="0"/>
          </a:p>
        </p:txBody>
      </p:sp>
      <p:sp>
        <p:nvSpPr>
          <p:cNvPr id="31" name="Text 28"/>
          <p:cNvSpPr txBox="1"/>
          <p:nvPr/>
        </p:nvSpPr>
        <p:spPr>
          <a:xfrm>
            <a:off x="6217920" y="1417320"/>
            <a:ext cx="5394960" cy="6400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Potential contribution (not yet measured with real families)</a:t>
            </a:r>
            <a:endParaRPr lang="en-US" sz="2000" dirty="0"/>
          </a:p>
        </p:txBody>
      </p:sp>
      <p:sp>
        <p:nvSpPr>
          <p:cNvPr id="32" name="Text 29"/>
          <p:cNvSpPr/>
          <p:nvPr/>
        </p:nvSpPr>
        <p:spPr>
          <a:xfrm>
            <a:off x="6217920" y="2194560"/>
            <a:ext cx="384048" cy="384048"/>
          </a:xfrm>
          <a:prstGeom prst="ellipse">
            <a:avLst/>
          </a:prstGeom>
          <a:solidFill>
            <a:srgbClr val="255E99"/>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3" name="Text 30"/>
          <p:cNvSpPr txBox="1"/>
          <p:nvPr/>
        </p:nvSpPr>
        <p:spPr>
          <a:xfrm>
            <a:off x="6766560" y="2240280"/>
            <a:ext cx="4846320" cy="5029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More reliable family coordination when plans change</a:t>
            </a:r>
            <a:endParaRPr lang="en-US" sz="1500" dirty="0"/>
          </a:p>
        </p:txBody>
      </p:sp>
      <p:sp>
        <p:nvSpPr>
          <p:cNvPr id="34" name="Text 31"/>
          <p:cNvSpPr/>
          <p:nvPr/>
        </p:nvSpPr>
        <p:spPr>
          <a:xfrm>
            <a:off x="6217920" y="2816352"/>
            <a:ext cx="384048" cy="384048"/>
          </a:xfrm>
          <a:prstGeom prst="ellipse">
            <a:avLst/>
          </a:prstGeom>
          <a:solidFill>
            <a:srgbClr val="255E99"/>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5" name="Text 32"/>
          <p:cNvSpPr txBox="1"/>
          <p:nvPr/>
        </p:nvSpPr>
        <p:spPr>
          <a:xfrm>
            <a:off x="6766560" y="2862072"/>
            <a:ext cx="4846320" cy="5029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Clearer sharing of responsibilities</a:t>
            </a:r>
            <a:endParaRPr lang="en-US" sz="1500" dirty="0"/>
          </a:p>
        </p:txBody>
      </p:sp>
      <p:sp>
        <p:nvSpPr>
          <p:cNvPr id="36" name="Text 33"/>
          <p:cNvSpPr/>
          <p:nvPr/>
        </p:nvSpPr>
        <p:spPr>
          <a:xfrm>
            <a:off x="6217920" y="3438144"/>
            <a:ext cx="384048" cy="384048"/>
          </a:xfrm>
          <a:prstGeom prst="ellipse">
            <a:avLst/>
          </a:prstGeom>
          <a:solidFill>
            <a:srgbClr val="255E99"/>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6766560" y="3483864"/>
            <a:ext cx="4846320" cy="5029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Better understanding of interdependencies</a:t>
            </a:r>
            <a:endParaRPr lang="en-US" sz="1500" dirty="0"/>
          </a:p>
        </p:txBody>
      </p:sp>
      <p:sp>
        <p:nvSpPr>
          <p:cNvPr id="38" name="Text 35"/>
          <p:cNvSpPr/>
          <p:nvPr/>
        </p:nvSpPr>
        <p:spPr>
          <a:xfrm>
            <a:off x="6217920" y="4059936"/>
            <a:ext cx="384048" cy="384048"/>
          </a:xfrm>
          <a:prstGeom prst="ellipse">
            <a:avLst/>
          </a:prstGeom>
          <a:solidFill>
            <a:srgbClr val="255E99"/>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9" name="Text 36"/>
          <p:cNvSpPr txBox="1"/>
          <p:nvPr/>
        </p:nvSpPr>
        <p:spPr>
          <a:xfrm>
            <a:off x="6766560" y="4105656"/>
            <a:ext cx="4846320" cy="5029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Less uncertainty when something goes wrong</a:t>
            </a:r>
            <a:endParaRPr lang="en-US" sz="1500" dirty="0"/>
          </a:p>
        </p:txBody>
      </p:sp>
      <p:sp>
        <p:nvSpPr>
          <p:cNvPr id="40" name="Text 37"/>
          <p:cNvSpPr/>
          <p:nvPr/>
        </p:nvSpPr>
        <p:spPr>
          <a:xfrm>
            <a:off x="6217920" y="4681728"/>
            <a:ext cx="384048" cy="384048"/>
          </a:xfrm>
          <a:prstGeom prst="ellipse">
            <a:avLst/>
          </a:prstGeom>
          <a:solidFill>
            <a:srgbClr val="255E99"/>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1" name="Text 38"/>
          <p:cNvSpPr txBox="1"/>
          <p:nvPr/>
        </p:nvSpPr>
        <p:spPr>
          <a:xfrm>
            <a:off x="6766560" y="4727448"/>
            <a:ext cx="4846320" cy="5029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Transparent decision support, with a human in charge</a:t>
            </a:r>
            <a:endParaRPr lang="en-US" sz="1500" dirty="0"/>
          </a:p>
        </p:txBody>
      </p:sp>
      <p:sp>
        <p:nvSpPr>
          <p:cNvPr id="42" name="Shape 39"/>
          <p:cNvSpPr/>
          <p:nvPr/>
        </p:nvSpPr>
        <p:spPr>
          <a:xfrm>
            <a:off x="6217920" y="5394960"/>
            <a:ext cx="5394960" cy="685800"/>
          </a:xfrm>
          <a:prstGeom prst="roundRect">
            <a:avLst>
              <a:gd name="adj" fmla="val 10667"/>
            </a:avLst>
          </a:prstGeom>
          <a:solidFill>
            <a:srgbClr val="17375F"/>
          </a:solidFill>
          <a:ln w="12700">
            <a:solidFill>
              <a:srgbClr val="47789F"/>
            </a:solidFill>
            <a:prstDash val="solid"/>
          </a:ln>
        </p:spPr>
      </p:sp>
      <p:sp>
        <p:nvSpPr>
          <p:cNvPr id="43" name="Text 40"/>
          <p:cNvSpPr txBox="1"/>
          <p:nvPr/>
        </p:nvSpPr>
        <p:spPr>
          <a:xfrm>
            <a:off x="6355080" y="5440680"/>
            <a:ext cx="5120640" cy="594360"/>
          </a:xfrm>
          <a:prstGeom prst="rect">
            <a:avLst/>
          </a:prstGeom>
          <a:noFill/>
          <a:ln/>
        </p:spPr>
        <p:txBody>
          <a:bodyPr wrap="square" lIns="0" tIns="0" rIns="0" bIns="0" rtlCol="0" anchor="t"/>
          <a:lstStyle/>
          <a:p>
            <a:pPr indent="0" marL="0">
              <a:buNone/>
            </a:pPr>
            <a:r>
              <a:rPr lang="en-US" sz="1100" dirty="0">
                <a:solidFill>
                  <a:srgbClr val="82B2D6"/>
                </a:solidFill>
                <a:latin typeface="Calibri" pitchFamily="34" charset="0"/>
                <a:ea typeface="Calibri" pitchFamily="34" charset="-122"/>
                <a:cs typeface="Calibri" pitchFamily="34" charset="-120"/>
              </a:rPr>
              <a:t>2026 is the UAE Year of Family. DOMINO relates to the theme only; it is not sponsored or endorsed by any government body. No clinical, psychological or population-level claims are made.</a:t>
            </a:r>
            <a:endParaRPr lang="en-US" sz="1100" dirty="0"/>
          </a:p>
        </p:txBody>
      </p:sp>
      <p:sp>
        <p:nvSpPr>
          <p:cNvPr id="44"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82B2D6"/>
                </a:solidFill>
                <a:latin typeface="Calibri" pitchFamily="34" charset="0"/>
                <a:ea typeface="Calibri" pitchFamily="34" charset="-122"/>
                <a:cs typeface="Calibri" pitchFamily="34" charset="-120"/>
              </a:rPr>
              <a:t>Reference: https://u.ae/en/Year-of-family/Family-year-2026 (UAE Government portal). Benefits are design-level potential, not demonstrated outcomes.</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2B2D6"/>
                </a:solidFill>
                <a:latin typeface="Consolas"/>
                <a:ea typeface="Consolas"/>
                <a:cs typeface="Consola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548640" y="274320"/>
            <a:ext cx="9144000" cy="237744"/>
          </a:xfrm>
          <a:prstGeom prst="rect">
            <a:avLst/>
          </a:prstGeom>
          <a:noFill/>
          <a:ln/>
        </p:spPr>
        <p:txBody>
          <a:bodyPr wrap="square" lIns="0" tIns="0" rIns="0" bIns="0" rtlCol="0" anchor="ctr"/>
          <a:lstStyle/>
          <a:p>
            <a:pPr indent="0" marL="0">
              <a:buNone/>
            </a:pPr>
            <a:r>
              <a:rPr lang="en-US" sz="1100" spc="200" kern="0" dirty="0">
                <a:solidFill>
                  <a:srgbClr val="47789F"/>
                </a:solidFill>
                <a:latin typeface="Consolas" pitchFamily="34" charset="0"/>
                <a:ea typeface="Consolas" pitchFamily="34" charset="-122"/>
                <a:cs typeface="Consolas" pitchFamily="34" charset="-120"/>
              </a:rPr>
              <a:t>ACT V · THE IMPACT</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02B4E"/>
                </a:solidFill>
                <a:latin typeface="Calibri" pitchFamily="34" charset="0"/>
                <a:ea typeface="Calibri" pitchFamily="34" charset="-122"/>
                <a:cs typeface="Calibri" pitchFamily="34" charset="-120"/>
              </a:rPr>
              <a:t>Development status and future potential</a:t>
            </a:r>
            <a:endParaRPr lang="en-US" sz="3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5532120"/>
                <a:gridCol w="553212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IMPLEMENTED AND TESTED</a:t>
                      </a:r>
                      <a:endParaRPr lang="en-US" sz="1500" dirty="0">
                        <a:latin typeface="Calibri" charset="0"/>
                        <a:ea typeface="Calibri" charset="0"/>
                        <a:cs typeface="Calibri" charset="0"/>
                      </a:endParaRPr>
                    </a:p>
                  </a:txBody>
                  <a:tcPr marL="137160" marR="137160" marT="0" marB="0" anchor="ctr">
                    <a:lnL w="0" cap="flat" cmpd="sng" algn="ctr">
                      <a:noFill/>
                    </a:lnL>
                    <a:lnR w="0" cap="flat" cmpd="sng" algn="ctr">
                      <a:noFill/>
                    </a:lnR>
                    <a:lnT w="0" cap="flat" cmpd="sng" algn="ctr">
                      <a:noFill/>
                    </a:lnT>
                    <a:lnB w="0" cap="flat" cmpd="sng" algn="ctr">
                      <a:noFill/>
                    </a:lnB>
                    <a:solidFill>
                      <a:srgbClr val="2B7557"/>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FUTURE POTENTIAL — NOT BUILT</a:t>
                      </a:r>
                      <a:endParaRPr lang="en-US" sz="1500" dirty="0">
                        <a:latin typeface="Calibri" charset="0"/>
                        <a:ea typeface="Calibri" charset="0"/>
                        <a:cs typeface="Calibri" charset="0"/>
                      </a:endParaRPr>
                    </a:p>
                  </a:txBody>
                  <a:tcPr marL="137160" marR="137160" marT="0" marB="0" anchor="ctr">
                    <a:lnL w="0" cap="flat" cmpd="sng" algn="ctr">
                      <a:noFill/>
                    </a:lnL>
                    <a:lnR w="0" cap="flat" cmpd="sng" algn="ctr">
                      <a:noFill/>
                    </a:lnR>
                    <a:lnT w="0" cap="flat" cmpd="sng" algn="ctr">
                      <a:noFill/>
                    </a:lnT>
                    <a:lnB w="0" cap="flat" cmpd="sng" algn="ctr">
                      <a:noFill/>
                    </a:lnB>
                    <a:solidFill>
                      <a:srgbClr val="47789F"/>
                    </a:solidFill>
                  </a:tcPr>
                </a:tc>
              </a:tr>
            </a:tbl>
          </a:graphicData>
        </a:graphic>
      </p:graphicFrame>
      <p:sp>
        <p:nvSpPr>
          <p:cNvPr id="6" name="Text 2"/>
          <p:cNvSpPr txBox="1"/>
          <p:nvPr/>
        </p:nvSpPr>
        <p:spPr>
          <a:xfrm>
            <a:off x="685800" y="2011680"/>
            <a:ext cx="274320" cy="365760"/>
          </a:xfrm>
          <a:prstGeom prst="rect">
            <a:avLst/>
          </a:prstGeom>
          <a:noFill/>
          <a:ln/>
        </p:spPr>
        <p:txBody>
          <a:bodyPr wrap="square" lIns="0" tIns="0" rIns="0" bIns="0" rtlCol="0" anchor="t"/>
          <a:lstStyle/>
          <a:p>
            <a:pPr indent="0" marL="0">
              <a:buNone/>
            </a:pPr>
            <a:r>
              <a:rPr lang="en-US" sz="1500" b="1" dirty="0">
                <a:solidFill>
                  <a:srgbClr val="2B7557"/>
                </a:solidFill>
                <a:latin typeface="Calibri" pitchFamily="34" charset="0"/>
                <a:ea typeface="Calibri" pitchFamily="34" charset="-122"/>
                <a:cs typeface="Calibri" pitchFamily="34" charset="-120"/>
              </a:rPr>
              <a:t>✓</a:t>
            </a:r>
            <a:endParaRPr lang="en-US" sz="1500" dirty="0"/>
          </a:p>
        </p:txBody>
      </p:sp>
      <p:sp>
        <p:nvSpPr>
          <p:cNvPr id="7" name="Text 3"/>
          <p:cNvSpPr txBox="1"/>
          <p:nvPr/>
        </p:nvSpPr>
        <p:spPr>
          <a:xfrm>
            <a:off x="1005840" y="2039112"/>
            <a:ext cx="4937760" cy="41148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Interactive household modeling and validation</a:t>
            </a:r>
            <a:endParaRPr lang="en-US" sz="1300" dirty="0"/>
          </a:p>
        </p:txBody>
      </p:sp>
      <p:sp>
        <p:nvSpPr>
          <p:cNvPr id="8" name="Text 4"/>
          <p:cNvSpPr txBox="1"/>
          <p:nvPr/>
        </p:nvSpPr>
        <p:spPr>
          <a:xfrm>
            <a:off x="685800" y="2468880"/>
            <a:ext cx="274320" cy="365760"/>
          </a:xfrm>
          <a:prstGeom prst="rect">
            <a:avLst/>
          </a:prstGeom>
          <a:noFill/>
          <a:ln/>
        </p:spPr>
        <p:txBody>
          <a:bodyPr wrap="square" lIns="0" tIns="0" rIns="0" bIns="0" rtlCol="0" anchor="t"/>
          <a:lstStyle/>
          <a:p>
            <a:pPr indent="0" marL="0">
              <a:buNone/>
            </a:pPr>
            <a:r>
              <a:rPr lang="en-US" sz="1500" b="1" dirty="0">
                <a:solidFill>
                  <a:srgbClr val="2B7557"/>
                </a:solidFill>
                <a:latin typeface="Calibri" pitchFamily="34" charset="0"/>
                <a:ea typeface="Calibri" pitchFamily="34" charset="-122"/>
                <a:cs typeface="Calibri" pitchFamily="34" charset="-120"/>
              </a:rPr>
              <a:t>✓</a:t>
            </a:r>
            <a:endParaRPr lang="en-US" sz="1500" dirty="0"/>
          </a:p>
        </p:txBody>
      </p:sp>
      <p:sp>
        <p:nvSpPr>
          <p:cNvPr id="9" name="Text 5"/>
          <p:cNvSpPr txBox="1"/>
          <p:nvPr/>
        </p:nvSpPr>
        <p:spPr>
          <a:xfrm>
            <a:off x="1005840" y="2496312"/>
            <a:ext cx="4937760" cy="41148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Disruption analysis with causal paths</a:t>
            </a:r>
            <a:endParaRPr lang="en-US" sz="1300" dirty="0"/>
          </a:p>
        </p:txBody>
      </p:sp>
      <p:sp>
        <p:nvSpPr>
          <p:cNvPr id="10" name="Text 6"/>
          <p:cNvSpPr txBox="1"/>
          <p:nvPr/>
        </p:nvSpPr>
        <p:spPr>
          <a:xfrm>
            <a:off x="685800" y="2926080"/>
            <a:ext cx="274320" cy="365760"/>
          </a:xfrm>
          <a:prstGeom prst="rect">
            <a:avLst/>
          </a:prstGeom>
          <a:noFill/>
          <a:ln/>
        </p:spPr>
        <p:txBody>
          <a:bodyPr wrap="square" lIns="0" tIns="0" rIns="0" bIns="0" rtlCol="0" anchor="t"/>
          <a:lstStyle/>
          <a:p>
            <a:pPr indent="0" marL="0">
              <a:buNone/>
            </a:pPr>
            <a:r>
              <a:rPr lang="en-US" sz="1500" b="1" dirty="0">
                <a:solidFill>
                  <a:srgbClr val="2B7557"/>
                </a:solidFill>
                <a:latin typeface="Calibri" pitchFamily="34" charset="0"/>
                <a:ea typeface="Calibri" pitchFamily="34" charset="-122"/>
                <a:cs typeface="Calibri" pitchFamily="34" charset="-120"/>
              </a:rPr>
              <a:t>✓</a:t>
            </a:r>
            <a:endParaRPr lang="en-US" sz="1500" dirty="0"/>
          </a:p>
        </p:txBody>
      </p:sp>
      <p:sp>
        <p:nvSpPr>
          <p:cNvPr id="11" name="Text 7"/>
          <p:cNvSpPr txBox="1"/>
          <p:nvPr/>
        </p:nvSpPr>
        <p:spPr>
          <a:xfrm>
            <a:off x="1005840" y="2953512"/>
            <a:ext cx="4937760" cy="41148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CP-SAT optimization-based recovery</a:t>
            </a:r>
            <a:endParaRPr lang="en-US" sz="1300" dirty="0"/>
          </a:p>
        </p:txBody>
      </p:sp>
      <p:sp>
        <p:nvSpPr>
          <p:cNvPr id="12" name="Text 8"/>
          <p:cNvSpPr txBox="1"/>
          <p:nvPr/>
        </p:nvSpPr>
        <p:spPr>
          <a:xfrm>
            <a:off x="685800" y="3383280"/>
            <a:ext cx="274320" cy="365760"/>
          </a:xfrm>
          <a:prstGeom prst="rect">
            <a:avLst/>
          </a:prstGeom>
          <a:noFill/>
          <a:ln/>
        </p:spPr>
        <p:txBody>
          <a:bodyPr wrap="square" lIns="0" tIns="0" rIns="0" bIns="0" rtlCol="0" anchor="t"/>
          <a:lstStyle/>
          <a:p>
            <a:pPr indent="0" marL="0">
              <a:buNone/>
            </a:pPr>
            <a:r>
              <a:rPr lang="en-US" sz="1500" b="1" dirty="0">
                <a:solidFill>
                  <a:srgbClr val="2B7557"/>
                </a:solidFill>
                <a:latin typeface="Calibri" pitchFamily="34" charset="0"/>
                <a:ea typeface="Calibri" pitchFamily="34" charset="-122"/>
                <a:cs typeface="Calibri" pitchFamily="34" charset="-120"/>
              </a:rPr>
              <a:t>✓</a:t>
            </a:r>
            <a:endParaRPr lang="en-US" sz="1500" dirty="0"/>
          </a:p>
        </p:txBody>
      </p:sp>
      <p:sp>
        <p:nvSpPr>
          <p:cNvPr id="13" name="Text 9"/>
          <p:cNvSpPr txBox="1"/>
          <p:nvPr/>
        </p:nvSpPr>
        <p:spPr>
          <a:xfrm>
            <a:off x="1005840" y="3410712"/>
            <a:ext cx="4937760" cy="41148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Independent 18-rule validation</a:t>
            </a:r>
            <a:endParaRPr lang="en-US" sz="1300" dirty="0"/>
          </a:p>
        </p:txBody>
      </p:sp>
      <p:sp>
        <p:nvSpPr>
          <p:cNvPr id="14" name="Text 10"/>
          <p:cNvSpPr txBox="1"/>
          <p:nvPr/>
        </p:nvSpPr>
        <p:spPr>
          <a:xfrm>
            <a:off x="685800" y="3840480"/>
            <a:ext cx="274320" cy="365760"/>
          </a:xfrm>
          <a:prstGeom prst="rect">
            <a:avLst/>
          </a:prstGeom>
          <a:noFill/>
          <a:ln/>
        </p:spPr>
        <p:txBody>
          <a:bodyPr wrap="square" lIns="0" tIns="0" rIns="0" bIns="0" rtlCol="0" anchor="t"/>
          <a:lstStyle/>
          <a:p>
            <a:pPr indent="0" marL="0">
              <a:buNone/>
            </a:pPr>
            <a:r>
              <a:rPr lang="en-US" sz="1500" b="1" dirty="0">
                <a:solidFill>
                  <a:srgbClr val="2B7557"/>
                </a:solidFill>
                <a:latin typeface="Calibri" pitchFamily="34" charset="0"/>
                <a:ea typeface="Calibri" pitchFamily="34" charset="-122"/>
                <a:cs typeface="Calibri" pitchFamily="34" charset="-120"/>
              </a:rPr>
              <a:t>✓</a:t>
            </a:r>
            <a:endParaRPr lang="en-US" sz="1500" dirty="0"/>
          </a:p>
        </p:txBody>
      </p:sp>
      <p:sp>
        <p:nvSpPr>
          <p:cNvPr id="15" name="Text 11"/>
          <p:cNvSpPr txBox="1"/>
          <p:nvPr/>
        </p:nvSpPr>
        <p:spPr>
          <a:xfrm>
            <a:off x="1005840" y="3867912"/>
            <a:ext cx="4937760" cy="41148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Counterfactual (what-if) recalculation</a:t>
            </a:r>
            <a:endParaRPr lang="en-US" sz="1300" dirty="0"/>
          </a:p>
        </p:txBody>
      </p:sp>
      <p:sp>
        <p:nvSpPr>
          <p:cNvPr id="16" name="Text 12"/>
          <p:cNvSpPr txBox="1"/>
          <p:nvPr/>
        </p:nvSpPr>
        <p:spPr>
          <a:xfrm>
            <a:off x="685800" y="4297680"/>
            <a:ext cx="274320" cy="365760"/>
          </a:xfrm>
          <a:prstGeom prst="rect">
            <a:avLst/>
          </a:prstGeom>
          <a:noFill/>
          <a:ln/>
        </p:spPr>
        <p:txBody>
          <a:bodyPr wrap="square" lIns="0" tIns="0" rIns="0" bIns="0" rtlCol="0" anchor="t"/>
          <a:lstStyle/>
          <a:p>
            <a:pPr indent="0" marL="0">
              <a:buNone/>
            </a:pPr>
            <a:r>
              <a:rPr lang="en-US" sz="1500" b="1" dirty="0">
                <a:solidFill>
                  <a:srgbClr val="2B7557"/>
                </a:solidFill>
                <a:latin typeface="Calibri" pitchFamily="34" charset="0"/>
                <a:ea typeface="Calibri" pitchFamily="34" charset="-122"/>
                <a:cs typeface="Calibri" pitchFamily="34" charset="-120"/>
              </a:rPr>
              <a:t>✓</a:t>
            </a:r>
            <a:endParaRPr lang="en-US" sz="1500" dirty="0"/>
          </a:p>
        </p:txBody>
      </p:sp>
      <p:sp>
        <p:nvSpPr>
          <p:cNvPr id="17" name="Text 13"/>
          <p:cNvSpPr txBox="1"/>
          <p:nvPr/>
        </p:nvSpPr>
        <p:spPr>
          <a:xfrm>
            <a:off x="1005840" y="4325112"/>
            <a:ext cx="4937760" cy="41148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Evaluation infrastructure: 51 cases · 46 passed in our run</a:t>
            </a:r>
            <a:endParaRPr lang="en-US" sz="1300" dirty="0"/>
          </a:p>
        </p:txBody>
      </p:sp>
      <p:sp>
        <p:nvSpPr>
          <p:cNvPr id="18" name="Text 14"/>
          <p:cNvSpPr txBox="1"/>
          <p:nvPr/>
        </p:nvSpPr>
        <p:spPr>
          <a:xfrm>
            <a:off x="685800" y="4754880"/>
            <a:ext cx="274320" cy="365760"/>
          </a:xfrm>
          <a:prstGeom prst="rect">
            <a:avLst/>
          </a:prstGeom>
          <a:noFill/>
          <a:ln/>
        </p:spPr>
        <p:txBody>
          <a:bodyPr wrap="square" lIns="0" tIns="0" rIns="0" bIns="0" rtlCol="0" anchor="t"/>
          <a:lstStyle/>
          <a:p>
            <a:pPr indent="0" marL="0">
              <a:buNone/>
            </a:pPr>
            <a:r>
              <a:rPr lang="en-US" sz="1500" b="1" dirty="0">
                <a:solidFill>
                  <a:srgbClr val="2B7557"/>
                </a:solidFill>
                <a:latin typeface="Calibri" pitchFamily="34" charset="0"/>
                <a:ea typeface="Calibri" pitchFamily="34" charset="-122"/>
                <a:cs typeface="Calibri" pitchFamily="34" charset="-120"/>
              </a:rPr>
              <a:t>✓</a:t>
            </a:r>
            <a:endParaRPr lang="en-US" sz="1500" dirty="0"/>
          </a:p>
        </p:txBody>
      </p:sp>
      <p:sp>
        <p:nvSpPr>
          <p:cNvPr id="19" name="Text 15"/>
          <p:cNvSpPr txBox="1"/>
          <p:nvPr/>
        </p:nvSpPr>
        <p:spPr>
          <a:xfrm>
            <a:off x="1005840" y="4782312"/>
            <a:ext cx="4937760" cy="411480"/>
          </a:xfrm>
          <a:prstGeom prst="rect">
            <a:avLst/>
          </a:prstGeom>
          <a:noFill/>
          <a:ln/>
        </p:spPr>
        <p:txBody>
          <a:bodyPr wrap="square" lIns="0" tIns="0" rIns="0" bIns="0" rtlCol="0" anchor="t"/>
          <a:lstStyle/>
          <a:p>
            <a:pPr indent="0" marL="0">
              <a:buNone/>
            </a:pPr>
            <a:r>
              <a:rPr lang="en-US" sz="1300" dirty="0">
                <a:solidFill>
                  <a:srgbClr val="1B2533"/>
                </a:solidFill>
                <a:latin typeface="Calibri" pitchFamily="34" charset="0"/>
                <a:ea typeface="Calibri" pitchFamily="34" charset="-122"/>
                <a:cs typeface="Calibri" pitchFamily="34" charset="-120"/>
              </a:rPr>
              <a:t>Natural language: Gemini + built-in parser, human-confirmed</a:t>
            </a:r>
            <a:endParaRPr lang="en-US" sz="1300" dirty="0"/>
          </a:p>
        </p:txBody>
      </p:sp>
      <p:sp>
        <p:nvSpPr>
          <p:cNvPr id="20" name="Text 16"/>
          <p:cNvSpPr txBox="1"/>
          <p:nvPr/>
        </p:nvSpPr>
        <p:spPr>
          <a:xfrm>
            <a:off x="6263640" y="2011680"/>
            <a:ext cx="274320" cy="365760"/>
          </a:xfrm>
          <a:prstGeom prst="rect">
            <a:avLst/>
          </a:prstGeom>
          <a:noFill/>
          <a:ln/>
        </p:spPr>
        <p:txBody>
          <a:bodyPr wrap="square" lIns="0" tIns="0" rIns="0" bIns="0" rtlCol="0" anchor="t"/>
          <a:lstStyle/>
          <a:p>
            <a:pPr indent="0" marL="0">
              <a:buNone/>
            </a:pPr>
            <a:r>
              <a:rPr lang="en-US" sz="1500" dirty="0">
                <a:solidFill>
                  <a:srgbClr val="47789F"/>
                </a:solidFill>
                <a:latin typeface="Calibri" pitchFamily="34" charset="0"/>
                <a:ea typeface="Calibri" pitchFamily="34" charset="-122"/>
                <a:cs typeface="Calibri" pitchFamily="34" charset="-120"/>
              </a:rPr>
              <a:t>○</a:t>
            </a:r>
            <a:endParaRPr lang="en-US" sz="1500" dirty="0"/>
          </a:p>
        </p:txBody>
      </p:sp>
      <p:sp>
        <p:nvSpPr>
          <p:cNvPr id="21" name="Text 17"/>
          <p:cNvSpPr txBox="1"/>
          <p:nvPr/>
        </p:nvSpPr>
        <p:spPr>
          <a:xfrm>
            <a:off x="6583680" y="2039112"/>
            <a:ext cx="4937760" cy="41148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More complex households and constraint types</a:t>
            </a:r>
            <a:endParaRPr lang="en-US" sz="1300" dirty="0"/>
          </a:p>
        </p:txBody>
      </p:sp>
      <p:sp>
        <p:nvSpPr>
          <p:cNvPr id="22" name="Text 18"/>
          <p:cNvSpPr txBox="1"/>
          <p:nvPr/>
        </p:nvSpPr>
        <p:spPr>
          <a:xfrm>
            <a:off x="6263640" y="2468880"/>
            <a:ext cx="274320" cy="365760"/>
          </a:xfrm>
          <a:prstGeom prst="rect">
            <a:avLst/>
          </a:prstGeom>
          <a:noFill/>
          <a:ln/>
        </p:spPr>
        <p:txBody>
          <a:bodyPr wrap="square" lIns="0" tIns="0" rIns="0" bIns="0" rtlCol="0" anchor="t"/>
          <a:lstStyle/>
          <a:p>
            <a:pPr indent="0" marL="0">
              <a:buNone/>
            </a:pPr>
            <a:r>
              <a:rPr lang="en-US" sz="1500" dirty="0">
                <a:solidFill>
                  <a:srgbClr val="47789F"/>
                </a:solidFill>
                <a:latin typeface="Calibri" pitchFamily="34" charset="0"/>
                <a:ea typeface="Calibri" pitchFamily="34" charset="-122"/>
                <a:cs typeface="Calibri" pitchFamily="34" charset="-120"/>
              </a:rPr>
              <a:t>○</a:t>
            </a:r>
            <a:endParaRPr lang="en-US" sz="1500" dirty="0"/>
          </a:p>
        </p:txBody>
      </p:sp>
      <p:sp>
        <p:nvSpPr>
          <p:cNvPr id="23" name="Text 19"/>
          <p:cNvSpPr txBox="1"/>
          <p:nvPr/>
        </p:nvSpPr>
        <p:spPr>
          <a:xfrm>
            <a:off x="6583680" y="2496312"/>
            <a:ext cx="4937760" cy="41148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Real travel-time models, multi-day planning</a:t>
            </a:r>
            <a:endParaRPr lang="en-US" sz="1300" dirty="0"/>
          </a:p>
        </p:txBody>
      </p:sp>
      <p:sp>
        <p:nvSpPr>
          <p:cNvPr id="24" name="Text 20"/>
          <p:cNvSpPr txBox="1"/>
          <p:nvPr/>
        </p:nvSpPr>
        <p:spPr>
          <a:xfrm>
            <a:off x="6263640" y="2926080"/>
            <a:ext cx="274320" cy="365760"/>
          </a:xfrm>
          <a:prstGeom prst="rect">
            <a:avLst/>
          </a:prstGeom>
          <a:noFill/>
          <a:ln/>
        </p:spPr>
        <p:txBody>
          <a:bodyPr wrap="square" lIns="0" tIns="0" rIns="0" bIns="0" rtlCol="0" anchor="t"/>
          <a:lstStyle/>
          <a:p>
            <a:pPr indent="0" marL="0">
              <a:buNone/>
            </a:pPr>
            <a:r>
              <a:rPr lang="en-US" sz="1500" dirty="0">
                <a:solidFill>
                  <a:srgbClr val="47789F"/>
                </a:solidFill>
                <a:latin typeface="Calibri" pitchFamily="34" charset="0"/>
                <a:ea typeface="Calibri" pitchFamily="34" charset="-122"/>
                <a:cs typeface="Calibri" pitchFamily="34" charset="-120"/>
              </a:rPr>
              <a:t>○</a:t>
            </a:r>
            <a:endParaRPr lang="en-US" sz="1500" dirty="0"/>
          </a:p>
        </p:txBody>
      </p:sp>
      <p:sp>
        <p:nvSpPr>
          <p:cNvPr id="25" name="Text 21"/>
          <p:cNvSpPr txBox="1"/>
          <p:nvPr/>
        </p:nvSpPr>
        <p:spPr>
          <a:xfrm>
            <a:off x="6583680" y="2953512"/>
            <a:ext cx="4937760" cy="41148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Broader accessibility work and audits</a:t>
            </a:r>
            <a:endParaRPr lang="en-US" sz="1300" dirty="0"/>
          </a:p>
        </p:txBody>
      </p:sp>
      <p:sp>
        <p:nvSpPr>
          <p:cNvPr id="26" name="Text 22"/>
          <p:cNvSpPr txBox="1"/>
          <p:nvPr/>
        </p:nvSpPr>
        <p:spPr>
          <a:xfrm>
            <a:off x="6263640" y="3383280"/>
            <a:ext cx="274320" cy="365760"/>
          </a:xfrm>
          <a:prstGeom prst="rect">
            <a:avLst/>
          </a:prstGeom>
          <a:noFill/>
          <a:ln/>
        </p:spPr>
        <p:txBody>
          <a:bodyPr wrap="square" lIns="0" tIns="0" rIns="0" bIns="0" rtlCol="0" anchor="t"/>
          <a:lstStyle/>
          <a:p>
            <a:pPr indent="0" marL="0">
              <a:buNone/>
            </a:pPr>
            <a:r>
              <a:rPr lang="en-US" sz="1500" dirty="0">
                <a:solidFill>
                  <a:srgbClr val="47789F"/>
                </a:solidFill>
                <a:latin typeface="Calibri" pitchFamily="34" charset="0"/>
                <a:ea typeface="Calibri" pitchFamily="34" charset="-122"/>
                <a:cs typeface="Calibri" pitchFamily="34" charset="-120"/>
              </a:rPr>
              <a:t>○</a:t>
            </a:r>
            <a:endParaRPr lang="en-US" sz="1500" dirty="0"/>
          </a:p>
        </p:txBody>
      </p:sp>
      <p:sp>
        <p:nvSpPr>
          <p:cNvPr id="27" name="Text 23"/>
          <p:cNvSpPr txBox="1"/>
          <p:nvPr/>
        </p:nvSpPr>
        <p:spPr>
          <a:xfrm>
            <a:off x="6583680" y="3410712"/>
            <a:ext cx="4937760" cy="41148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Expanded bilingual (Arabic / English) support</a:t>
            </a:r>
            <a:endParaRPr lang="en-US" sz="1300" dirty="0"/>
          </a:p>
        </p:txBody>
      </p:sp>
      <p:sp>
        <p:nvSpPr>
          <p:cNvPr id="28" name="Text 24"/>
          <p:cNvSpPr txBox="1"/>
          <p:nvPr/>
        </p:nvSpPr>
        <p:spPr>
          <a:xfrm>
            <a:off x="6263640" y="3840480"/>
            <a:ext cx="274320" cy="365760"/>
          </a:xfrm>
          <a:prstGeom prst="rect">
            <a:avLst/>
          </a:prstGeom>
          <a:noFill/>
          <a:ln/>
        </p:spPr>
        <p:txBody>
          <a:bodyPr wrap="square" lIns="0" tIns="0" rIns="0" bIns="0" rtlCol="0" anchor="t"/>
          <a:lstStyle/>
          <a:p>
            <a:pPr indent="0" marL="0">
              <a:buNone/>
            </a:pPr>
            <a:r>
              <a:rPr lang="en-US" sz="1500" dirty="0">
                <a:solidFill>
                  <a:srgbClr val="47789F"/>
                </a:solidFill>
                <a:latin typeface="Calibri" pitchFamily="34" charset="0"/>
                <a:ea typeface="Calibri" pitchFamily="34" charset="-122"/>
                <a:cs typeface="Calibri" pitchFamily="34" charset="-120"/>
              </a:rPr>
              <a:t>○</a:t>
            </a:r>
            <a:endParaRPr lang="en-US" sz="1500" dirty="0"/>
          </a:p>
        </p:txBody>
      </p:sp>
      <p:sp>
        <p:nvSpPr>
          <p:cNvPr id="29" name="Text 25"/>
          <p:cNvSpPr txBox="1"/>
          <p:nvPr/>
        </p:nvSpPr>
        <p:spPr>
          <a:xfrm>
            <a:off x="6583680" y="3867912"/>
            <a:ext cx="4937760" cy="41148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Real-world usability studies with families</a:t>
            </a:r>
            <a:endParaRPr lang="en-US" sz="1300" dirty="0"/>
          </a:p>
        </p:txBody>
      </p:sp>
      <p:sp>
        <p:nvSpPr>
          <p:cNvPr id="30" name="Text 26"/>
          <p:cNvSpPr txBox="1"/>
          <p:nvPr/>
        </p:nvSpPr>
        <p:spPr>
          <a:xfrm>
            <a:off x="6263640" y="4297680"/>
            <a:ext cx="274320" cy="365760"/>
          </a:xfrm>
          <a:prstGeom prst="rect">
            <a:avLst/>
          </a:prstGeom>
          <a:noFill/>
          <a:ln/>
        </p:spPr>
        <p:txBody>
          <a:bodyPr wrap="square" lIns="0" tIns="0" rIns="0" bIns="0" rtlCol="0" anchor="t"/>
          <a:lstStyle/>
          <a:p>
            <a:pPr indent="0" marL="0">
              <a:buNone/>
            </a:pPr>
            <a:r>
              <a:rPr lang="en-US" sz="1500" dirty="0">
                <a:solidFill>
                  <a:srgbClr val="47789F"/>
                </a:solidFill>
                <a:latin typeface="Calibri" pitchFamily="34" charset="0"/>
                <a:ea typeface="Calibri" pitchFamily="34" charset="-122"/>
                <a:cs typeface="Calibri" pitchFamily="34" charset="-120"/>
              </a:rPr>
              <a:t>○</a:t>
            </a:r>
            <a:endParaRPr lang="en-US" sz="1500" dirty="0"/>
          </a:p>
        </p:txBody>
      </p:sp>
      <p:sp>
        <p:nvSpPr>
          <p:cNvPr id="31" name="Text 27"/>
          <p:cNvSpPr txBox="1"/>
          <p:nvPr/>
        </p:nvSpPr>
        <p:spPr>
          <a:xfrm>
            <a:off x="6583680" y="4325112"/>
            <a:ext cx="4937760" cy="41148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Privacy-preserving data management</a:t>
            </a:r>
            <a:endParaRPr lang="en-US" sz="1300" dirty="0"/>
          </a:p>
        </p:txBody>
      </p:sp>
      <p:sp>
        <p:nvSpPr>
          <p:cNvPr id="32" name="Shape 28"/>
          <p:cNvSpPr/>
          <p:nvPr/>
        </p:nvSpPr>
        <p:spPr>
          <a:xfrm>
            <a:off x="548640" y="5349240"/>
            <a:ext cx="11064240" cy="713232"/>
          </a:xfrm>
          <a:prstGeom prst="roundRect">
            <a:avLst>
              <a:gd name="adj" fmla="val 10256"/>
            </a:avLst>
          </a:prstGeom>
          <a:solidFill>
            <a:srgbClr val="FBF1DC"/>
          </a:solidFill>
          <a:ln w="12700">
            <a:solidFill>
              <a:srgbClr val="B7791F"/>
            </a:solidFill>
            <a:prstDash val="solid"/>
          </a:ln>
        </p:spPr>
      </p:sp>
      <p:sp>
        <p:nvSpPr>
          <p:cNvPr id="33" name="Text 29"/>
          <p:cNvSpPr txBox="1"/>
          <p:nvPr/>
        </p:nvSpPr>
        <p:spPr>
          <a:xfrm>
            <a:off x="731520" y="5413248"/>
            <a:ext cx="10698480" cy="594360"/>
          </a:xfrm>
          <a:prstGeom prst="rect">
            <a:avLst/>
          </a:prstGeom>
          <a:noFill/>
          <a:ln/>
        </p:spPr>
        <p:txBody>
          <a:bodyPr wrap="square" lIns="0" tIns="0" rIns="0" bIns="0" rtlCol="0" anchor="t"/>
          <a:lstStyle/>
          <a:p>
            <a:pPr indent="0" marL="0">
              <a:buNone/>
            </a:pPr>
            <a:r>
              <a:rPr lang="en-US" sz="1200" dirty="0">
                <a:solidFill>
                  <a:srgbClr val="1B2533"/>
                </a:solidFill>
                <a:latin typeface="Calibri" pitchFamily="34" charset="0"/>
                <a:ea typeface="Calibri" pitchFamily="34" charset="-122"/>
                <a:cs typeface="Calibri" pitchFamily="34" charset="-120"/>
              </a:rPr>
              <a:t>Before real-family use: user studies with consent · privacy &amp; data-protection design · security review · accessibility audits · validation of model assumptions · expert review. Today: a research-grade prototype on fictional data.</a:t>
            </a:r>
            <a:endParaRPr lang="en-US" sz="1200" dirty="0"/>
          </a:p>
        </p:txBody>
      </p:sp>
      <p:sp>
        <p:nvSpPr>
          <p:cNvPr id="34" name="Source"/>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Source: TESTING.md and 28 Oct 2026 benchmark run; future items are plans, not features.</a:t>
            </a:r>
            <a:endParaRPr lang="en-US" sz="10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47789F"/>
                </a:solidFill>
                <a:latin typeface="Consolas"/>
                <a:ea typeface="Consolas"/>
                <a:cs typeface="Consola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Shape 0"/>
          <p:cNvSpPr/>
          <p:nvPr/>
        </p:nvSpPr>
        <p:spPr>
          <a:xfrm flipH="1">
            <a:off x="7560259" y="1401318"/>
            <a:ext cx="1217981" cy="84582"/>
          </a:xfrm>
          <a:prstGeom prst="line">
            <a:avLst/>
          </a:prstGeom>
          <a:noFill/>
          <a:ln w="11430">
            <a:solidFill>
              <a:srgbClr val="47789F"/>
            </a:solidFill>
            <a:prstDash val="solid"/>
          </a:ln>
        </p:spPr>
      </p:sp>
      <p:sp>
        <p:nvSpPr>
          <p:cNvPr id="4" name="Shape 1"/>
          <p:cNvSpPr/>
          <p:nvPr/>
        </p:nvSpPr>
        <p:spPr>
          <a:xfrm flipV="1">
            <a:off x="8778240" y="673913"/>
            <a:ext cx="507492" cy="727405"/>
          </a:xfrm>
          <a:prstGeom prst="line">
            <a:avLst/>
          </a:prstGeom>
          <a:noFill/>
          <a:ln w="11430">
            <a:solidFill>
              <a:srgbClr val="47789F"/>
            </a:solidFill>
            <a:prstDash val="solid"/>
          </a:ln>
        </p:spPr>
      </p:sp>
      <p:sp>
        <p:nvSpPr>
          <p:cNvPr id="5" name="Shape 2"/>
          <p:cNvSpPr/>
          <p:nvPr/>
        </p:nvSpPr>
        <p:spPr>
          <a:xfrm flipH="1">
            <a:off x="8524494" y="1401318"/>
            <a:ext cx="253746" cy="1099566"/>
          </a:xfrm>
          <a:prstGeom prst="line">
            <a:avLst/>
          </a:prstGeom>
          <a:noFill/>
          <a:ln w="11430">
            <a:solidFill>
              <a:srgbClr val="47789F"/>
            </a:solidFill>
            <a:prstDash val="solid"/>
          </a:ln>
        </p:spPr>
      </p:sp>
      <p:sp>
        <p:nvSpPr>
          <p:cNvPr id="6" name="Shape 3"/>
          <p:cNvSpPr/>
          <p:nvPr/>
        </p:nvSpPr>
        <p:spPr>
          <a:xfrm flipV="1">
            <a:off x="9827057" y="1282903"/>
            <a:ext cx="558241" cy="795071"/>
          </a:xfrm>
          <a:prstGeom prst="line">
            <a:avLst/>
          </a:prstGeom>
          <a:noFill/>
          <a:ln w="11430">
            <a:solidFill>
              <a:srgbClr val="47789F"/>
            </a:solidFill>
            <a:prstDash val="solid"/>
          </a:ln>
        </p:spPr>
      </p:sp>
      <p:sp>
        <p:nvSpPr>
          <p:cNvPr id="7" name="Shape 4"/>
          <p:cNvSpPr/>
          <p:nvPr/>
        </p:nvSpPr>
        <p:spPr>
          <a:xfrm>
            <a:off x="9827057" y="2077974"/>
            <a:ext cx="608990" cy="1014984"/>
          </a:xfrm>
          <a:prstGeom prst="line">
            <a:avLst/>
          </a:prstGeom>
          <a:noFill/>
          <a:ln w="11430">
            <a:solidFill>
              <a:srgbClr val="47789F"/>
            </a:solidFill>
            <a:prstDash val="solid"/>
          </a:ln>
        </p:spPr>
      </p:sp>
      <p:sp>
        <p:nvSpPr>
          <p:cNvPr id="8" name="Shape 5"/>
          <p:cNvSpPr/>
          <p:nvPr/>
        </p:nvSpPr>
        <p:spPr>
          <a:xfrm flipH="1">
            <a:off x="8439912" y="3312871"/>
            <a:ext cx="811987" cy="625907"/>
          </a:xfrm>
          <a:prstGeom prst="line">
            <a:avLst/>
          </a:prstGeom>
          <a:noFill/>
          <a:ln w="11430">
            <a:solidFill>
              <a:srgbClr val="47789F"/>
            </a:solidFill>
            <a:prstDash val="solid"/>
          </a:ln>
        </p:spPr>
      </p:sp>
      <p:sp>
        <p:nvSpPr>
          <p:cNvPr id="9" name="Shape 6"/>
          <p:cNvSpPr/>
          <p:nvPr/>
        </p:nvSpPr>
        <p:spPr>
          <a:xfrm>
            <a:off x="9251899" y="3312871"/>
            <a:ext cx="456743" cy="676656"/>
          </a:xfrm>
          <a:prstGeom prst="line">
            <a:avLst/>
          </a:prstGeom>
          <a:noFill/>
          <a:ln w="11430">
            <a:solidFill>
              <a:srgbClr val="47789F"/>
            </a:solidFill>
            <a:prstDash val="solid"/>
          </a:ln>
        </p:spPr>
      </p:sp>
      <p:sp>
        <p:nvSpPr>
          <p:cNvPr id="10" name="Shape 7"/>
          <p:cNvSpPr/>
          <p:nvPr/>
        </p:nvSpPr>
        <p:spPr>
          <a:xfrm flipH="1" flipV="1">
            <a:off x="7120433" y="2331720"/>
            <a:ext cx="811987" cy="642823"/>
          </a:xfrm>
          <a:prstGeom prst="line">
            <a:avLst/>
          </a:prstGeom>
          <a:noFill/>
          <a:ln w="11430">
            <a:solidFill>
              <a:srgbClr val="47789F"/>
            </a:solidFill>
            <a:prstDash val="solid"/>
          </a:ln>
        </p:spPr>
      </p:sp>
      <p:sp>
        <p:nvSpPr>
          <p:cNvPr id="11" name="Shape 8"/>
          <p:cNvSpPr/>
          <p:nvPr/>
        </p:nvSpPr>
        <p:spPr>
          <a:xfrm flipV="1">
            <a:off x="7932420" y="2500884"/>
            <a:ext cx="592074" cy="473659"/>
          </a:xfrm>
          <a:prstGeom prst="line">
            <a:avLst/>
          </a:prstGeom>
          <a:noFill/>
          <a:ln w="11430">
            <a:solidFill>
              <a:srgbClr val="47789F"/>
            </a:solidFill>
            <a:prstDash val="solid"/>
          </a:ln>
        </p:spPr>
      </p:sp>
      <p:sp>
        <p:nvSpPr>
          <p:cNvPr id="12" name="Shape 9"/>
          <p:cNvSpPr/>
          <p:nvPr/>
        </p:nvSpPr>
        <p:spPr>
          <a:xfrm flipV="1">
            <a:off x="8524494" y="2077974"/>
            <a:ext cx="1302563" cy="422910"/>
          </a:xfrm>
          <a:prstGeom prst="line">
            <a:avLst/>
          </a:prstGeom>
          <a:noFill/>
          <a:ln w="11430">
            <a:solidFill>
              <a:srgbClr val="47789F"/>
            </a:solidFill>
            <a:prstDash val="solid"/>
          </a:ln>
        </p:spPr>
      </p:sp>
      <p:sp>
        <p:nvSpPr>
          <p:cNvPr id="13" name="Shape 10"/>
          <p:cNvSpPr/>
          <p:nvPr/>
        </p:nvSpPr>
        <p:spPr>
          <a:xfrm flipH="1">
            <a:off x="7120433" y="1485900"/>
            <a:ext cx="439826" cy="845820"/>
          </a:xfrm>
          <a:prstGeom prst="line">
            <a:avLst/>
          </a:prstGeom>
          <a:noFill/>
          <a:ln w="11430">
            <a:solidFill>
              <a:srgbClr val="47789F"/>
            </a:solidFill>
            <a:prstDash val="solid"/>
          </a:ln>
        </p:spPr>
      </p:sp>
      <p:sp>
        <p:nvSpPr>
          <p:cNvPr id="14" name="Shape 11"/>
          <p:cNvSpPr/>
          <p:nvPr/>
        </p:nvSpPr>
        <p:spPr>
          <a:xfrm>
            <a:off x="9285732" y="673913"/>
            <a:ext cx="1099566" cy="608990"/>
          </a:xfrm>
          <a:prstGeom prst="line">
            <a:avLst/>
          </a:prstGeom>
          <a:noFill/>
          <a:ln w="11430">
            <a:solidFill>
              <a:srgbClr val="47789F"/>
            </a:solidFill>
            <a:prstDash val="solid"/>
          </a:ln>
        </p:spPr>
      </p:sp>
      <p:sp>
        <p:nvSpPr>
          <p:cNvPr id="15" name="Shape 12"/>
          <p:cNvSpPr/>
          <p:nvPr/>
        </p:nvSpPr>
        <p:spPr>
          <a:xfrm>
            <a:off x="8439912" y="3938778"/>
            <a:ext cx="1268730" cy="50749"/>
          </a:xfrm>
          <a:prstGeom prst="line">
            <a:avLst/>
          </a:prstGeom>
          <a:noFill/>
          <a:ln w="11430">
            <a:solidFill>
              <a:srgbClr val="47789F"/>
            </a:solidFill>
            <a:prstDash val="solid"/>
          </a:ln>
        </p:spPr>
      </p:sp>
      <p:sp>
        <p:nvSpPr>
          <p:cNvPr id="16" name="Text 13"/>
          <p:cNvSpPr/>
          <p:nvPr/>
        </p:nvSpPr>
        <p:spPr>
          <a:xfrm>
            <a:off x="8540496" y="1163574"/>
            <a:ext cx="475488" cy="475488"/>
          </a:xfrm>
          <a:prstGeom prst="ellipse">
            <a:avLst/>
          </a:prstGeom>
          <a:solidFill>
            <a:srgbClr val="255E99"/>
          </a:solidFill>
          <a:ln w="12700">
            <a:solidFill>
              <a:srgbClr val="EAF3F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7" name="Text 14"/>
          <p:cNvSpPr/>
          <p:nvPr/>
        </p:nvSpPr>
        <p:spPr>
          <a:xfrm>
            <a:off x="9589313" y="1840230"/>
            <a:ext cx="475488" cy="475488"/>
          </a:xfrm>
          <a:prstGeom prst="ellipse">
            <a:avLst/>
          </a:prstGeom>
          <a:solidFill>
            <a:srgbClr val="255E99"/>
          </a:solidFill>
          <a:ln w="12700">
            <a:solidFill>
              <a:srgbClr val="EAF3F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a:t>
            </a:r>
            <a:endParaRPr lang="en-US" sz="1200" dirty="0"/>
          </a:p>
        </p:txBody>
      </p:sp>
      <p:sp>
        <p:nvSpPr>
          <p:cNvPr id="18" name="Text 15"/>
          <p:cNvSpPr/>
          <p:nvPr/>
        </p:nvSpPr>
        <p:spPr>
          <a:xfrm>
            <a:off x="9014155" y="3075127"/>
            <a:ext cx="475488" cy="475488"/>
          </a:xfrm>
          <a:prstGeom prst="ellipse">
            <a:avLst/>
          </a:prstGeom>
          <a:solidFill>
            <a:srgbClr val="255E99"/>
          </a:solidFill>
          <a:ln w="12700">
            <a:solidFill>
              <a:srgbClr val="EAF3F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p>
        </p:txBody>
      </p:sp>
      <p:sp>
        <p:nvSpPr>
          <p:cNvPr id="19" name="Text 16"/>
          <p:cNvSpPr/>
          <p:nvPr/>
        </p:nvSpPr>
        <p:spPr>
          <a:xfrm>
            <a:off x="7749540" y="2791663"/>
            <a:ext cx="365760" cy="365760"/>
          </a:xfrm>
          <a:prstGeom prst="ellipse">
            <a:avLst/>
          </a:prstGeom>
          <a:solidFill>
            <a:srgbClr val="47789F"/>
          </a:solidFill>
          <a:ln w="12700">
            <a:solidFill>
              <a:srgbClr val="EAF3F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a:t>
            </a:r>
            <a:endParaRPr lang="en-US" sz="1200" dirty="0"/>
          </a:p>
        </p:txBody>
      </p:sp>
      <p:sp>
        <p:nvSpPr>
          <p:cNvPr id="20" name="Text 17"/>
          <p:cNvSpPr/>
          <p:nvPr/>
        </p:nvSpPr>
        <p:spPr>
          <a:xfrm>
            <a:off x="7423099" y="1348740"/>
            <a:ext cx="274320" cy="274320"/>
          </a:xfrm>
          <a:prstGeom prst="diamond">
            <a:avLst/>
          </a:prstGeom>
          <a:solidFill>
            <a:srgbClr val="82B2D6"/>
          </a:solidFill>
          <a:ln/>
        </p:spPr>
        <p:txBody>
          <a:bodyPr wrap="square" lIns="0" tIns="0" rIns="0" bIns="0" rtlCol="0" anchor="ctr"/>
          <a:lstStyle/>
          <a:p>
            <a:pPr algn="ctr" indent="0" marL="0">
              <a:buNone/>
            </a:pPr>
            <a:endParaRPr lang="en-US" sz="1200" dirty="0"/>
          </a:p>
        </p:txBody>
      </p:sp>
      <p:sp>
        <p:nvSpPr>
          <p:cNvPr id="21" name="Text 18"/>
          <p:cNvSpPr/>
          <p:nvPr/>
        </p:nvSpPr>
        <p:spPr>
          <a:xfrm>
            <a:off x="10248138" y="1145743"/>
            <a:ext cx="274320" cy="274320"/>
          </a:xfrm>
          <a:prstGeom prst="diamond">
            <a:avLst/>
          </a:prstGeom>
          <a:solidFill>
            <a:srgbClr val="82B2D6"/>
          </a:solidFill>
          <a:ln/>
        </p:spPr>
        <p:txBody>
          <a:bodyPr wrap="square" lIns="0" tIns="0" rIns="0" bIns="0" rtlCol="0" anchor="ctr"/>
          <a:lstStyle/>
          <a:p>
            <a:pPr algn="ctr" indent="0" marL="0">
              <a:buNone/>
            </a:pPr>
            <a:endParaRPr lang="en-US" sz="1200" dirty="0"/>
          </a:p>
        </p:txBody>
      </p:sp>
      <p:sp>
        <p:nvSpPr>
          <p:cNvPr id="22" name="Text 19"/>
          <p:cNvSpPr/>
          <p:nvPr/>
        </p:nvSpPr>
        <p:spPr>
          <a:xfrm>
            <a:off x="9148572" y="536753"/>
            <a:ext cx="274320" cy="274320"/>
          </a:xfrm>
          <a:prstGeom prst="diamond">
            <a:avLst/>
          </a:prstGeom>
          <a:solidFill>
            <a:srgbClr val="82B2D6"/>
          </a:solidFill>
          <a:ln/>
        </p:spPr>
        <p:txBody>
          <a:bodyPr wrap="square" lIns="0" tIns="0" rIns="0" bIns="0" rtlCol="0" anchor="ctr"/>
          <a:lstStyle/>
          <a:p>
            <a:pPr algn="ctr" indent="0" marL="0">
              <a:buNone/>
            </a:pPr>
            <a:endParaRPr lang="en-US" sz="1200" dirty="0"/>
          </a:p>
        </p:txBody>
      </p:sp>
      <p:sp>
        <p:nvSpPr>
          <p:cNvPr id="23" name="Text 20"/>
          <p:cNvSpPr/>
          <p:nvPr/>
        </p:nvSpPr>
        <p:spPr>
          <a:xfrm>
            <a:off x="8302752" y="3801618"/>
            <a:ext cx="274320" cy="274320"/>
          </a:xfrm>
          <a:prstGeom prst="diamond">
            <a:avLst/>
          </a:prstGeom>
          <a:solidFill>
            <a:srgbClr val="82B2D6"/>
          </a:solidFill>
          <a:ln/>
        </p:spPr>
        <p:txBody>
          <a:bodyPr wrap="square" lIns="0" tIns="0" rIns="0" bIns="0" rtlCol="0" anchor="ctr"/>
          <a:lstStyle/>
          <a:p>
            <a:pPr algn="ctr" indent="0" marL="0">
              <a:buNone/>
            </a:pPr>
            <a:endParaRPr lang="en-US" sz="1200" dirty="0"/>
          </a:p>
        </p:txBody>
      </p:sp>
      <p:sp>
        <p:nvSpPr>
          <p:cNvPr id="24" name="Text 21"/>
          <p:cNvSpPr/>
          <p:nvPr/>
        </p:nvSpPr>
        <p:spPr>
          <a:xfrm>
            <a:off x="10298887" y="2955798"/>
            <a:ext cx="274320" cy="274320"/>
          </a:xfrm>
          <a:prstGeom prst="hexagon">
            <a:avLst/>
          </a:prstGeom>
          <a:solidFill>
            <a:srgbClr val="102B4E"/>
          </a:solidFill>
          <a:ln w="12700">
            <a:solidFill>
              <a:srgbClr val="82B2D6"/>
            </a:solidFill>
          </a:ln>
        </p:spPr>
        <p:txBody>
          <a:bodyPr wrap="square" lIns="0" tIns="0" rIns="0" bIns="0" rtlCol="0" anchor="ctr"/>
          <a:lstStyle/>
          <a:p>
            <a:pPr algn="ctr" indent="0" marL="0">
              <a:buNone/>
            </a:pPr>
            <a:endParaRPr lang="en-US" sz="1200" dirty="0"/>
          </a:p>
        </p:txBody>
      </p:sp>
      <p:sp>
        <p:nvSpPr>
          <p:cNvPr id="25" name="Text 22"/>
          <p:cNvSpPr/>
          <p:nvPr/>
        </p:nvSpPr>
        <p:spPr>
          <a:xfrm>
            <a:off x="6983273" y="2194560"/>
            <a:ext cx="274320" cy="274320"/>
          </a:xfrm>
          <a:prstGeom prst="hexagon">
            <a:avLst/>
          </a:prstGeom>
          <a:solidFill>
            <a:srgbClr val="102B4E"/>
          </a:solidFill>
          <a:ln w="12700">
            <a:solidFill>
              <a:srgbClr val="82B2D6"/>
            </a:solidFill>
          </a:ln>
        </p:spPr>
        <p:txBody>
          <a:bodyPr wrap="square" lIns="0" tIns="0" rIns="0" bIns="0" rtlCol="0" anchor="ctr"/>
          <a:lstStyle/>
          <a:p>
            <a:pPr algn="ctr" indent="0" marL="0">
              <a:buNone/>
            </a:pPr>
            <a:endParaRPr lang="en-US" sz="1200" dirty="0"/>
          </a:p>
        </p:txBody>
      </p:sp>
      <p:sp>
        <p:nvSpPr>
          <p:cNvPr id="26" name="Text 23"/>
          <p:cNvSpPr/>
          <p:nvPr/>
        </p:nvSpPr>
        <p:spPr>
          <a:xfrm>
            <a:off x="9571482" y="3852367"/>
            <a:ext cx="274320" cy="274320"/>
          </a:xfrm>
          <a:prstGeom prst="hexagon">
            <a:avLst/>
          </a:prstGeom>
          <a:solidFill>
            <a:srgbClr val="102B4E"/>
          </a:solidFill>
          <a:ln w="12700">
            <a:solidFill>
              <a:srgbClr val="82B2D6"/>
            </a:solidFill>
          </a:ln>
        </p:spPr>
        <p:txBody>
          <a:bodyPr wrap="square" lIns="0" tIns="0" rIns="0" bIns="0" rtlCol="0" anchor="ctr"/>
          <a:lstStyle/>
          <a:p>
            <a:pPr algn="ctr" indent="0" marL="0">
              <a:buNone/>
            </a:pPr>
            <a:endParaRPr lang="en-US" sz="1200" dirty="0"/>
          </a:p>
        </p:txBody>
      </p:sp>
      <p:sp>
        <p:nvSpPr>
          <p:cNvPr id="27" name="Text 24"/>
          <p:cNvSpPr/>
          <p:nvPr/>
        </p:nvSpPr>
        <p:spPr>
          <a:xfrm>
            <a:off x="8433054" y="2409444"/>
            <a:ext cx="182880" cy="182880"/>
          </a:xfrm>
          <a:prstGeom prst="ellipse">
            <a:avLst/>
          </a:prstGeom>
          <a:solidFill>
            <a:srgbClr val="EAF3FA"/>
          </a:solidFill>
          <a:ln/>
        </p:spPr>
        <p:txBody>
          <a:bodyPr wrap="square" lIns="0" tIns="0" rIns="0" bIns="0" rtlCol="0" anchor="ctr"/>
          <a:lstStyle/>
          <a:p>
            <a:pPr algn="ctr" indent="0" marL="0">
              <a:buNone/>
            </a:pPr>
            <a:endParaRPr lang="en-US" sz="1200" dirty="0"/>
          </a:p>
        </p:txBody>
      </p:sp>
      <p:sp>
        <p:nvSpPr>
          <p:cNvPr id="28" name="Text 25"/>
          <p:cNvSpPr txBox="1"/>
          <p:nvPr/>
        </p:nvSpPr>
        <p:spPr>
          <a:xfrm>
            <a:off x="731520" y="1097280"/>
            <a:ext cx="6400800" cy="1097280"/>
          </a:xfrm>
          <a:prstGeom prst="rect">
            <a:avLst/>
          </a:prstGeom>
          <a:noFill/>
          <a:ln/>
        </p:spPr>
        <p:txBody>
          <a:bodyPr wrap="square" lIns="0" tIns="0" rIns="0" bIns="0" rtlCol="0" anchor="t"/>
          <a:lstStyle/>
          <a:p>
            <a:pPr indent="0" marL="0">
              <a:buNone/>
            </a:pPr>
            <a:r>
              <a:rPr lang="en-US" sz="7200" b="1" dirty="0">
                <a:solidFill>
                  <a:srgbClr val="FFFFFF"/>
                </a:solidFill>
                <a:latin typeface="Calibri" pitchFamily="34" charset="0"/>
                <a:ea typeface="Calibri" pitchFamily="34" charset="-122"/>
                <a:cs typeface="Calibri" pitchFamily="34" charset="-120"/>
              </a:rPr>
              <a:t>DOMINO</a:t>
            </a:r>
            <a:endParaRPr lang="en-US" sz="7200" dirty="0"/>
          </a:p>
        </p:txBody>
      </p:sp>
      <p:sp>
        <p:nvSpPr>
          <p:cNvPr id="29" name="Text 26"/>
          <p:cNvSpPr txBox="1"/>
          <p:nvPr/>
        </p:nvSpPr>
        <p:spPr>
          <a:xfrm>
            <a:off x="731520" y="2331720"/>
            <a:ext cx="6217920" cy="731520"/>
          </a:xfrm>
          <a:prstGeom prst="rect">
            <a:avLst/>
          </a:prstGeom>
          <a:noFill/>
          <a:ln/>
        </p:spPr>
        <p:txBody>
          <a:bodyPr wrap="square" lIns="0" tIns="0" rIns="0" bIns="0" rtlCol="0" anchor="t"/>
          <a:lstStyle/>
          <a:p>
            <a:pPr indent="0" marL="0">
              <a:buNone/>
            </a:pPr>
            <a:r>
              <a:rPr lang="en-US" sz="2400" i="1" dirty="0">
                <a:solidFill>
                  <a:srgbClr val="FFFFFF"/>
                </a:solidFill>
                <a:latin typeface="Calibri" pitchFamily="34" charset="0"/>
                <a:ea typeface="Calibri" pitchFamily="34" charset="-122"/>
                <a:cs typeface="Calibri" pitchFamily="34" charset="-120"/>
              </a:rPr>
              <a:t>“When one thing changes, everything connects.”</a:t>
            </a:r>
            <a:endParaRPr lang="en-US" sz="2400" dirty="0"/>
          </a:p>
        </p:txBody>
      </p:sp>
      <p:sp>
        <p:nvSpPr>
          <p:cNvPr id="30" name="Text 27"/>
          <p:cNvSpPr txBox="1"/>
          <p:nvPr/>
        </p:nvSpPr>
        <p:spPr>
          <a:xfrm>
            <a:off x="731520" y="3154680"/>
            <a:ext cx="5852160" cy="822960"/>
          </a:xfrm>
          <a:prstGeom prst="rect">
            <a:avLst/>
          </a:prstGeom>
          <a:noFill/>
          <a:ln/>
        </p:spPr>
        <p:txBody>
          <a:bodyPr wrap="square" lIns="0" tIns="0" rIns="0" bIns="0" rtlCol="0" anchor="t"/>
          <a:lstStyle/>
          <a:p>
            <a:pPr indent="0" marL="0">
              <a:buNone/>
            </a:pPr>
            <a:r>
              <a:rPr lang="en-US" sz="1600" dirty="0">
                <a:solidFill>
                  <a:srgbClr val="82B2D6"/>
                </a:solidFill>
                <a:latin typeface="Calibri" pitchFamily="34" charset="0"/>
                <a:ea typeface="Calibri" pitchFamily="34" charset="-122"/>
                <a:cs typeface="Calibri" pitchFamily="34" charset="-120"/>
              </a:rPr>
              <a:t>DOMINO helps families understand disruption and calculate a verified way forward.</a:t>
            </a:r>
            <a:endParaRPr lang="en-US" sz="1600" dirty="0"/>
          </a:p>
        </p:txBody>
      </p:sp>
      <p:sp>
        <p:nvSpPr>
          <p:cNvPr id="31" name="Text 28"/>
          <p:cNvSpPr txBox="1"/>
          <p:nvPr/>
        </p:nvSpPr>
        <p:spPr>
          <a:xfrm>
            <a:off x="731520" y="4206240"/>
            <a:ext cx="5943600" cy="868680"/>
          </a:xfrm>
          <a:prstGeom prst="rect">
            <a:avLst/>
          </a:prstGeom>
          <a:noFill/>
          <a:ln/>
        </p:spPr>
        <p:txBody>
          <a:bodyPr wrap="square" lIns="0" tIns="0" rIns="0" bIns="0" rtlCol="0" anchor="t"/>
          <a:lstStyle/>
          <a:p>
            <a:pPr indent="0" marL="0">
              <a:buNone/>
            </a:pPr>
            <a:r>
              <a:rPr lang="en-US" sz="1300" dirty="0">
                <a:solidFill>
                  <a:srgbClr val="FFFFFF"/>
                </a:solidFill>
                <a:latin typeface="Consolas" pitchFamily="34" charset="0"/>
                <a:ea typeface="Consolas" pitchFamily="34" charset="-122"/>
                <a:cs typeface="Consolas" pitchFamily="34" charset="-120"/>
              </a:rPr>
              <a:t>May Ahmed Mourad · Grade 12</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Shamsa Faris Almazrouei · Grade 12</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Fatima Mohamed Almazrouei · Grade 11</a:t>
            </a:r>
            <a:endParaRPr lang="en-US" sz="1300" dirty="0"/>
          </a:p>
        </p:txBody>
      </p:sp>
      <p:sp>
        <p:nvSpPr>
          <p:cNvPr id="32" name="Text 29"/>
          <p:cNvSpPr txBox="1"/>
          <p:nvPr/>
        </p:nvSpPr>
        <p:spPr>
          <a:xfrm>
            <a:off x="731520" y="5257800"/>
            <a:ext cx="5852160" cy="548640"/>
          </a:xfrm>
          <a:prstGeom prst="rect">
            <a:avLst/>
          </a:prstGeom>
          <a:noFill/>
          <a:ln/>
        </p:spPr>
        <p:txBody>
          <a:bodyPr wrap="square" lIns="0" tIns="0" rIns="0" bIns="0" rtlCol="0" anchor="t"/>
          <a:lstStyle/>
          <a:p>
            <a:pPr indent="0" marL="0">
              <a:buNone/>
            </a:pPr>
            <a:r>
              <a:rPr lang="en-US" sz="1100" dirty="0">
                <a:solidFill>
                  <a:srgbClr val="82B2D6"/>
                </a:solidFill>
                <a:latin typeface="Calibri" pitchFamily="34" charset="0"/>
                <a:ea typeface="Calibri" pitchFamily="34" charset="-122"/>
                <a:cs typeface="Calibri" pitchFamily="34" charset="-120"/>
              </a:rPr>
              <a:t>ADNOC Schools — Madinat Zayed  ·  Abu Dhabi University 6th Annual COE STEM Programming with AI Competition  ·  AI for Family</a:t>
            </a:r>
            <a:endParaRPr lang="en-US" sz="1100" dirty="0"/>
          </a:p>
        </p:txBody>
      </p:sp>
      <p:sp>
        <p:nvSpPr>
          <p:cNvPr id="33" name="Shape 30"/>
          <p:cNvSpPr/>
          <p:nvPr/>
        </p:nvSpPr>
        <p:spPr>
          <a:xfrm>
            <a:off x="10195560" y="4160520"/>
            <a:ext cx="1417320" cy="1417320"/>
          </a:xfrm>
          <a:prstGeom prst="roundRect">
            <a:avLst>
              <a:gd name="adj" fmla="val 5161"/>
            </a:avLst>
          </a:prstGeom>
          <a:solidFill>
            <a:srgbClr val="FFFFFF"/>
          </a:solidFill>
          <a:ln/>
        </p:spPr>
      </p:sp>
      <p:pic>
        <p:nvPicPr>
          <p:cNvPr id="34" name="Image 0" descr="QR code linking to the live DOMINO prototype">
            <a:hlinkClick r:id="rId2" tooltip="Open the DOMINO prototype"/>
          </p:cNvPr>
          <p:cNvPicPr>
            <a:picLocks noChangeAspect="1"/>
          </p:cNvPicPr>
          <p:nvPr/>
        </p:nvPicPr>
        <p:blipFill>
          <a:blip r:embed="rId1"/>
          <a:stretch>
            <a:fillRect/>
          </a:stretch>
        </p:blipFill>
        <p:spPr>
          <a:xfrm>
            <a:off x="10259568" y="4224528"/>
            <a:ext cx="1289304" cy="1289304"/>
          </a:xfrm>
          <a:prstGeom prst="rect">
            <a:avLst/>
          </a:prstGeom>
        </p:spPr>
      </p:pic>
      <p:sp>
        <p:nvSpPr>
          <p:cNvPr id="35" name="Text 31"/>
          <p:cNvSpPr txBox="1"/>
          <p:nvPr/>
        </p:nvSpPr>
        <p:spPr>
          <a:xfrm>
            <a:off x="7955280" y="5687568"/>
            <a:ext cx="3657600" cy="274320"/>
          </a:xfrm>
          <a:prstGeom prst="rect">
            <a:avLst/>
          </a:prstGeom>
          <a:noFill/>
          <a:ln/>
        </p:spPr>
        <p:txBody>
          <a:bodyPr wrap="square" lIns="0" tIns="0" rIns="0" bIns="0" rtlCol="0" anchor="t"/>
          <a:lstStyle/>
          <a:p>
            <a:pPr algn="r" indent="0" marL="0">
              <a:buNone/>
            </a:pPr>
            <a:r>
              <a:rPr lang="en-US" sz="1400" b="1" u="sng" dirty="0">
                <a:solidFill>
                  <a:srgbClr val="82B2D6"/>
                </a:solidFill>
                <a:latin typeface="Calibri" pitchFamily="34" charset="0"/>
                <a:ea typeface="Calibri" pitchFamily="34" charset="-122"/>
                <a:cs typeface="Calibri" pitchFamily="34" charset="-120"/>
                <a:hlinkClick r:id="rId3" invalidUrl="" action="" tgtFrame="" tooltip="Open the DOMINO prototype" history="1" highlightClick="0" endSnd="0">
                  <a:extLst>
                    <a:ext uri="{A12FA001-AC4F-418D-AE19-62706E023703}">
                      <ahyp:hlinkClr xmlns:ahyp="http://schemas.microsoft.com/office/drawing/2018/hyperlinkcolor" val="tx"/>
                    </a:ext>
                  </a:extLst>
                </a:hlinkClick>
              </a:rPr>
              <a:t>maymourad.github.io/DOMINO</a:t>
            </a:r>
            <a:endParaRPr lang="en-US" sz="1400" dirty="0"/>
          </a:p>
        </p:txBody>
      </p:sp>
      <p:sp>
        <p:nvSpPr>
          <p:cNvPr id="36" name="Text 32"/>
          <p:cNvSpPr txBox="1"/>
          <p:nvPr/>
        </p:nvSpPr>
        <p:spPr>
          <a:xfrm>
            <a:off x="7040880" y="6035040"/>
            <a:ext cx="4572000" cy="274320"/>
          </a:xfrm>
          <a:prstGeom prst="rect">
            <a:avLst/>
          </a:prstGeom>
          <a:noFill/>
          <a:ln/>
        </p:spPr>
        <p:txBody>
          <a:bodyPr wrap="square" lIns="0" tIns="0" rIns="0" bIns="0" rtlCol="0" anchor="t"/>
          <a:lstStyle/>
          <a:p>
            <a:pPr algn="r" indent="0" marL="0">
              <a:buNone/>
            </a:pPr>
            <a:r>
              <a:rPr lang="en-US" sz="1100" dirty="0">
                <a:solidFill>
                  <a:srgbClr val="82B2D6"/>
                </a:solidFill>
                <a:latin typeface="Calibri" pitchFamily="34" charset="0"/>
                <a:ea typeface="Calibri" pitchFamily="34" charset="-122"/>
                <a:cs typeface="Calibri" pitchFamily="34" charset="-120"/>
              </a:rPr>
              <a:t>Scan the QR code or open the link — the live prototype is public</a:t>
            </a:r>
            <a:endParaRPr lang="en-US" sz="1100" dirty="0"/>
          </a:p>
        </p:txBody>
      </p:sp>
      <p:sp>
        <p:nvSpPr>
          <p:cNvPr id="25" name="Slide Number Placeholder 0"/>
          <p:cNvSpPr>
            <a:spLocks noGrp="1"/>
          </p:cNvSpPr>
          <p:nvPr>
            <p:ph type="sldNum" sz="quarter" idx="4294967295"/>
          </p:nvPr>
        </p:nvSpPr>
        <p:spPr>
          <a:xfrm>
            <a:off x="10881360" y="6492240"/>
            <a:ext cx="7772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2B2D6"/>
                </a:solidFill>
                <a:latin typeface="Consolas"/>
                <a:ea typeface="Consolas"/>
                <a:cs typeface="Consolas"/>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DOMINO">
  <a:themeElements>
    <a:clrScheme name="DOMINO">
      <a:dk1>
        <a:srgbClr val="1B2533"/>
      </a:dk1>
      <a:lt1>
        <a:srgbClr val="FFFFFF"/>
      </a:lt1>
      <a:dk2>
        <a:srgbClr val="102B4E"/>
      </a:dk2>
      <a:lt2>
        <a:srgbClr val="EAF3FA"/>
      </a:lt2>
      <a:accent1>
        <a:srgbClr val="255E99"/>
      </a:accent1>
      <a:accent2>
        <a:srgbClr val="47789F"/>
      </a:accent2>
      <a:accent3>
        <a:srgbClr val="82B2D6"/>
      </a:accent3>
      <a:accent4>
        <a:srgbClr val="B7791F"/>
      </a:accent4>
      <a:accent5>
        <a:srgbClr val="2B7557"/>
      </a:accent5>
      <a:accent6>
        <a:srgbClr val="A23A3D"/>
      </a:accent6>
      <a:hlink>
        <a:srgbClr val="255E99"/>
      </a:hlink>
      <a:folHlink>
        <a:srgbClr val="47789F"/>
      </a:folHlink>
    </a:clrScheme>
    <a:fontScheme name="DOMINO">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ADNOC Schools — Madinat Zayed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DOMINO — Family Resilience Intelligence System</dc:title>
  <dc:subject>6th Annual COE STEM Programming with AI Competition — AI for Family</dc:subject>
  <dc:creator>May Ahmed Mourad, Shamsa Faris Almazrouei, Fatima Mohamed Almazrouei</dc:creator>
  <cp:lastModifiedBy>May Ahmed Mourad, Shamsa Faris Almazrouei, Fatima Mohamed Almazrouei</cp:lastModifiedBy>
  <cp:revision>1</cp:revision>
  <dcterms:created xsi:type="dcterms:W3CDTF">2026-10-28T10:25:26Z</dcterms:created>
  <dcterms:modified xsi:type="dcterms:W3CDTF">2026-10-28T10:25:26Z</dcterms:modified>
</cp:coreProperties>
</file>